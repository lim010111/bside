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16x9"/>
  <p:notesSz cx="6858000" cy="9144000"/>
  <p:defaultTextStyle>
    <a:defPPr>
      <a:defRPr lang="ko-KR"/>
    </a:defPPr>
    <a:lvl1pPr marL="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ko-KR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  <Relationship Id="rId17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ko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ko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ko-KR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안녕하십니까, 행사장에서 닿을 수 있는 거리에 있는 사람과 이어지는 상보성 AI 네트워킹 서비스, Bside 발표를 맡은 [이름]입니다.</a:t>
            </a:r>
          </a:p>
          <a:p>
            <a:pPr/>
            <a:endParaRPr lang="ko-KR" dirty="0"/>
          </a:p>
          <a:p>
            <a:pPr/>
            <a:r>
              <a:rPr lang="ko-KR" dirty="0"/>
              <a:t>저희는 오늘 코쓱톤의 주제인 "교류"에 대해 가장 본질적인 질문을 던지고자 합니다.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여러분, 컨퍼런스나 해커톤에 혼자 갔을 때, 네트워킹 시간에 음료 테이블 옆에 어색하게 서서 스마트폰만 들여다본 적 있으십니까?</a:t>
            </a:r>
          </a:p>
          <a:p>
            <a:pPr/>
            <a:endParaRPr lang="ko-KR" dirty="0"/>
          </a:p>
          <a:p>
            <a:pPr/>
            <a:r>
              <a:rPr lang="ko-KR" dirty="0"/>
              <a:t>말을 걸 용기가 없어서가 아닙니다. 상대방이 누구인지, 그리고 내가 왜 저 사람에게 말을 걸어야 하는지 그 "근거"를 모르기 때문입니다.</a:t>
            </a:r>
          </a:p>
          <a:p>
            <a:pPr/>
            <a:endParaRPr lang="ko-KR" dirty="0"/>
          </a:p>
          <a:p>
            <a:pPr/>
            <a:r>
              <a:rPr lang="ko-KR" dirty="0"/>
              <a:t>글로벌 이벤트 조사에 따르면 주최자의 단 15%만이 자사 네트워킹이 효과적이었다고 답했습니다. 기존 전용 네트워킹 앱들은 무거운 다운로드와 긴 프로필 작성 때문에 채택률이 50%도 안 됩니다. 돈을 들여 앱을 깔게 해도 절반 이상이 안 쓴다는 것이 오프라인 네트워킹의 가장 큰 문제입니다.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온라인에는 슬랙이나 디스코드처럼 상태 메시지가 있는데, 왜 우리가 서 있는 이 현실 공간에는 없을까요? Bside는 현실에 상태 인터페이스를 부여합니다.</a:t>
            </a:r>
          </a:p>
          <a:p>
            <a:pPr/>
            <a:endParaRPr lang="ko-KR" dirty="0"/>
          </a:p>
          <a:p>
            <a:pPr/>
            <a:r>
              <a:rPr lang="ko-KR" dirty="0"/>
              <a:t>첫째, QR로 3초 입장입니다. 앱 설치 없이 현장 QR을 찍으면 브라우저에서 3초 만에 바로 열립니다.</a:t>
            </a:r>
          </a:p>
          <a:p>
            <a:pPr/>
            <a:r>
              <a:rPr lang="ko-KR" dirty="0"/>
              <a:t>둘째, 30초 한 줄 상태 등록입니다. 닉네임과 내 고민 한 줄을 올려야 46명의 방이 열리는 "올려야 열린다"는 참여 규칙을 적용했습니다.</a:t>
            </a:r>
          </a:p>
          <a:p>
            <a:pPr/>
            <a:r>
              <a:rPr lang="ko-KR" dirty="0"/>
              <a:t>셋째, AI 상보성 매칭입니다. 겹치는 단어가 0개라도 결핍과 경험이 맞물리는 사람을 AI가 찾아냅니다.</a:t>
            </a:r>
          </a:p>
          <a:p>
            <a:pPr/>
            <a:r>
              <a:rPr lang="ko-KR" dirty="0"/>
              <a:t>넷째, BLE 직접 연결을 통해 "창가 쪽 손 들게요" 세 마디 후 폰을 넣고 현실에서 만납니다.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여기서 가장 중요한 질문입니다. 왜 단순 검색이 아니라 AI여야 할까요?</a:t>
            </a:r>
          </a:p>
          <a:p>
            <a:pPr/>
            <a:endParaRPr lang="ko-KR" dirty="0"/>
          </a:p>
          <a:p>
            <a:pPr/>
            <a:r>
              <a:rPr lang="ko-KR" dirty="0"/>
              <a:t>화면의 표를 봐주십시오. 지원이는 "배포 권한 오류"로 막혀 있고, 태현이는 "배포가 처음이라 막막"합니다. 민서는 "작년에 도커로 CI를 구축"해 봤습니다.</a:t>
            </a:r>
          </a:p>
          <a:p>
            <a:pPr/>
            <a:endParaRPr lang="ko-KR" dirty="0"/>
          </a:p>
          <a:p>
            <a:pPr/>
            <a:r>
              <a:rPr lang="ko-KR" dirty="0"/>
              <a:t>기존의 단어 유사도 매칭은 "배포"라는 단어가 겹친다는 이유로 지원이와 태현이를 묶어줍니다. 결과는 어떻게 될까요? 둘 다 배포를 몰라 만나서 한숨만 쉽니다.</a:t>
            </a:r>
          </a:p>
          <a:p>
            <a:pPr/>
            <a:endParaRPr lang="ko-KR" dirty="0"/>
          </a:p>
          <a:p>
            <a:pPr/>
            <a:r>
              <a:rPr lang="ko-KR" dirty="0"/>
              <a:t>반면 지원이와 민서는 겹치는 단어가 0개입니다. 하지만 LLM은 "오류로 막힌 자"와 "작년에 구축해 본 자" 사이의 비대칭적 해결 관계를 추론해 냅니다.</a:t>
            </a:r>
          </a:p>
          <a:p>
            <a:pPr/>
            <a:endParaRPr lang="ko-KR" dirty="0"/>
          </a:p>
          <a:p>
            <a:pPr/>
            <a:r>
              <a:rPr lang="ko-KR" dirty="0"/>
              <a:t>우리가 찾는 것은 닮은 사람이 아니라, 서로를 채워주는 사람입니다. 키워드 매칭으로는 불가능한 이 상보적 관계를 찾는 것, 그것이 바로 Bside에 AI가 반드시 필요한 이유입니다.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실제 라이브로 동작하는 80초 시연 화면을 함께 보시겠습니다.</a:t>
            </a:r>
          </a:p>
          <a:p>
            <a:pPr/>
            <a:endParaRPr lang="ko-KR" dirty="0"/>
          </a:p>
          <a:p>
            <a:pPr/>
            <a:r>
              <a:rPr lang="ko-KR" dirty="0"/>
              <a:t>참가자가 QR을 찍고 들어오면, 방의 인원수는 보이지만 남의 한 줄은 블러 처리되어 있습니다. 내가 내 상태를 올려야 방이 열립니다.</a:t>
            </a:r>
          </a:p>
          <a:p>
            <a:pPr/>
            <a:r>
              <a:rPr lang="ko-KR" dirty="0"/>
              <a:t>올리는 순간 46명의 군중 방이 펼쳐집니다. 46명을 다 읽을 수 없기 때문에 AI의 가치가 생깁니다.</a:t>
            </a:r>
          </a:p>
          <a:p>
            <a:pPr/>
            <a:r>
              <a:rPr lang="ko-KR" dirty="0"/>
              <a:t>방에 들어오고 단 1.5초 만에 하단에서 접점 카드가 올라옵니다. "겹치는 단어 0개"라는 상보성 근거와 함께 추천 첫마디가 제시됩니다.</a:t>
            </a:r>
          </a:p>
          <a:p>
            <a:pPr/>
            <a:r>
              <a:rPr lang="ko-KR" dirty="0"/>
              <a:t>말 걸기를 누르면 서버를 거치지 않고 기기 간 직접 연결되어 위치를 확인하고 현실에서 악수를 나눕니다.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Bside의 기술적 차별점은 프라이버시 중심의 아키텍처입니다.</a:t>
            </a:r>
          </a:p>
          <a:p>
            <a:pPr/>
            <a:endParaRPr lang="ko-KR" dirty="0"/>
          </a:p>
          <a:p>
            <a:pPr/>
            <a:r>
              <a:rPr lang="ko-KR" dirty="0"/>
              <a:t>첫째, 왜 GPS가 아니라 BLE(블루투스)인가?</a:t>
            </a:r>
          </a:p>
          <a:p>
            <a:pPr/>
            <a:r>
              <a:rPr lang="ko-KR" dirty="0"/>
              <a:t>GPS를 쓰면 참가자의 실시간 좌표가 서버로 올라갑니다. 반면 BLE는 내 폰의 3~5미터 전파 범위 계산이 기기 내부에서 끝납니다. 저희 서버에는 올라갈 좌표 자체가 없습니다. 근접 판정 ID 해석도 기기 안에서 끝내 서버가 동석 여부를 알 수 없습니다.</a:t>
            </a:r>
          </a:p>
          <a:p>
            <a:pPr/>
            <a:endParaRPr lang="ko-KR" dirty="0"/>
          </a:p>
          <a:p>
            <a:pPr/>
            <a:r>
              <a:rPr lang="ko-KR" dirty="0"/>
              <a:t>둘째, No-DB 인메모리 구조입니다.</a:t>
            </a:r>
          </a:p>
          <a:p>
            <a:pPr/>
            <a:r>
              <a:rPr lang="ko-KR" dirty="0"/>
              <a:t>서버에 영구 DB가 없습니다. 모든 상태는 메모리에만 존재하며, 60초 하트비트가 끊기면 5분 뒤 자동 소멸합니다. 행사가 끝나면 모든 방과 데이터는 즉시 0으로 소멸합니다. "저장하지 않는 것이 정책이 아니라 아키텍처 구조"입니다.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비즈니스 모델을 말씀드리겠습니다. 사용자는 무료 참가자이지만, 돈은 행사 주최자가 냅니다.</a:t>
            </a:r>
          </a:p>
          <a:p>
            <a:pPr/>
            <a:endParaRPr lang="ko-KR" dirty="0"/>
          </a:p>
          <a:p>
            <a:pPr/>
            <a:r>
              <a:rPr lang="ko-KR" dirty="0"/>
              <a:t>주최자가 돈을 내는 이유는 참가자 만족도와 네트워킹 성과를 상부와 스폰서에 숫자로 보고해야 하기 때문입니다.</a:t>
            </a:r>
          </a:p>
          <a:p>
            <a:pPr/>
            <a:r>
              <a:rPr lang="ko-KR" dirty="0"/>
              <a:t>Bside는 주최자에게 실시간 운영진 대시보드를 제공합니다. 입장률, 상태 작성률, 접점 발견 수, 실제 대화 성사 수를 실시간으로 집계하고, 행사 종료 즉시 1장 PDF 네트워킹 성과 리포트를 자동 발급합니다.</a:t>
            </a:r>
          </a:p>
          <a:p>
            <a:pPr/>
            <a:endParaRPr lang="ko-KR" dirty="0"/>
          </a:p>
          <a:p>
            <a:pPr/>
            <a:r>
              <a:rPr lang="ko-KR" dirty="0"/>
              <a:t>참가자 리텐션은 저희의 핵심 지표가 아닙니다. 멘티미터가 참가자 리텐션 없이도 주최자 과금으로 흑자를 내듯, 저희는 "주최자 재도입률"을 목표로 행사당 30~50만 원의 티어제 유료 과금을 집행합니다.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Bside는 목적과 밀도가 이미 존재하는 공간에 집중합니다.</a:t>
            </a:r>
          </a:p>
          <a:p>
            <a:pPr/>
            <a:r>
              <a:rPr lang="ko-KR" dirty="0"/>
              <a:t>길거리나 카페처럼 밀도가 없는 곳은 실패한 근거리 소셜의 무덤입니다.</a:t>
            </a:r>
          </a:p>
          <a:p>
            <a:pPr/>
            <a:endParaRPr lang="ko-KR" dirty="0"/>
          </a:p>
          <a:p>
            <a:pPr/>
            <a:r>
              <a:rPr lang="ko-KR" dirty="0"/>
              <a:t>저희는 FEConf, AWS 서밋 같은 IT 컨퍼런스, 코쓱톤 같은 해커톤 팀 빌딩, 그리고 신입사원 퇴사 사유 1위인 조직 적응 실패를 해결하는 기업 신입 온보딩 프로그램으로 확장합니다. 밀도가 있는 공간이라면 상태 코드 세트 하나만 바꿔서 즉시 도입할 수 있습니다.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로드맵입니다.</a:t>
            </a:r>
          </a:p>
          <a:p>
            <a:pPr/>
            <a:r>
              <a:rPr lang="ko-KR" dirty="0"/>
              <a:t>현재 완료된 v0.1은 설치 없는 웹 PWA와 LLM 상보성 매칭, 운영진 대시보드입니다.</a:t>
            </a:r>
          </a:p>
          <a:p>
            <a:pPr/>
            <a:r>
              <a:rPr lang="ko-KR" dirty="0"/>
              <a:t>2주 내 출시할 v0.2는 음료대, 창가 등 현장 구역 선택과 1장 PDF 성과 리포트 자동 발급입니다.</a:t>
            </a:r>
          </a:p>
          <a:p>
            <a:pPr/>
            <a:r>
              <a:rPr lang="ko-KR" dirty="0"/>
              <a:t>그리고 v0.3에서는 현재 웹 코드를 100% 재사용하여 안드로이드 Capacitor로 감싸고, BLE 광고 및 스캔을 통한 완벽한 네이티브 근접 판정을 완성할 것입니다.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ko-KR" dirty="0"/>
              <a:t>온라인에는 상태 메시지가 있었지만, 현실에는 없었습니다.</a:t>
            </a:r>
          </a:p>
          <a:p>
            <a:pPr/>
            <a:r>
              <a:rPr lang="ko-KR" dirty="0"/>
              <a:t>Bside는 닿을 수 있는 거리에 있는 두 사람의 결핍과 경험을 AI로 이어냅니다.</a:t>
            </a:r>
          </a:p>
          <a:p>
            <a:pPr/>
            <a:endParaRPr lang="ko-KR" dirty="0"/>
          </a:p>
          <a:p>
            <a:pPr/>
            <a:r>
              <a:rPr lang="ko-KR" dirty="0"/>
              <a:t>채팅은 만나기 위한 도구일 뿐이며, 우리의 진짜 결과물은 현실에서의 만남입니다.</a:t>
            </a:r>
          </a:p>
          <a:p>
            <a:pPr/>
            <a:endParaRPr lang="ko-KR" dirty="0"/>
          </a:p>
          <a:p>
            <a:pPr/>
            <a:r>
              <a:rPr lang="ko-KR" dirty="0"/>
              <a:t>Connect with who is beside you — Bside였습니다. 경청해 주셔서 감사합니다!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side_deck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ko-KR" smtClean="0"/>
              <a:t>1/27/13</a:t>
            </a:fld>
            <a:endParaRPr lang="ko-K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ko-KR" smtClean="0"/>
              <a:t>‹#›</a:t>
            </a:fld>
            <a:endParaRPr lang="ko-K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bside_deck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ko-KR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ko-KR" smtClean="0"/>
              <a:t>1/27/13</a:t>
            </a:fld>
            <a:endParaRPr lang="ko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ko-KR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ko-KR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ko-KR" smtClean="0"/>
              <a:t>‹#›</a:t>
            </a:fld>
            <a:endParaRPr 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2700" kern="1200" lang="ko-KR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200" kern="1200" lang="ko-KR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100" kern="1200" lang="ko-KR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 lang="ko-KR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000" kern="1200" lang="ko-KR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900" kern="1200" lang="ko-KR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457200" rtl="0" eaLnBrk="1" latinLnBrk="0" hangingPunct="1">
        <a:defRPr sz="1200" kern="1200" lang="ko-KR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100" kern="1200" lang="ko-KR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50" kern="1200" lang="ko-KR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000" kern="1200" lang="ko-KR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900" kern="1200" lang="ko-KR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ko-KR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slide-background"/>
          <p:cNvGrpSpPr/>
          <p:nvPr/>
        </p:nvGrpSpPr>
        <p:grpSpPr>
          <a:xfrm>
            <a:off x="-1333500" y="-1333500"/>
            <a:ext cx="15335250" cy="9715500"/>
            <a:chOff x="-1333500" y="-1333500"/>
            <a:chExt cx="15335250" cy="9715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" name="Ellipse 3"/>
            <p:cNvSpPr/>
            <p:nvPr/>
          </p:nvSpPr>
          <p:spPr>
            <a:xfrm>
              <a:off x="7905750" y="-1333500"/>
              <a:ext cx="6096000" cy="6096000"/>
            </a:xfrm>
            <a:prstGeom prst="ellipse">
              <a:avLst/>
            </a:prstGeom>
            <a:solidFill>
              <a:srgbClr val="1E293B">
                <a:alpha val="40000"/>
              </a:srgbClr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-1333500" y="3429000"/>
              <a:ext cx="4953000" cy="4953000"/>
            </a:xfrm>
            <a:prstGeom prst="ellipse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4381500" y="-1333500"/>
              <a:ext cx="3429000" cy="3429000"/>
            </a:xfrm>
            <a:prstGeom prst="ellipse">
              <a:avLst/>
            </a:prstGeom>
            <a:solidFill>
              <a:srgbClr val="131B2E">
                <a:alpha val="30000"/>
              </a:srgbClr>
            </a:solidFill>
            <a:ln>
              <a:noFill/>
            </a:ln>
          </p:spPr>
        </p:sp>
      </p:grpSp>
      <p:grpSp>
        <p:nvGrpSpPr>
          <p:cNvPr id="10" name="header-badge"/>
          <p:cNvGrpSpPr/>
          <p:nvPr/>
        </p:nvGrpSpPr>
        <p:grpSpPr>
          <a:xfrm>
            <a:off x="762000" y="666750"/>
            <a:ext cx="3619500" cy="304800"/>
            <a:chOff x="762000" y="666750"/>
            <a:chExt cx="3619500" cy="304800"/>
          </a:xfrm>
        </p:grpSpPr>
        <p:sp>
          <p:nvSpPr>
            <p:cNvPr id="7" name="Rectangle 7"/>
            <p:cNvSpPr/>
            <p:nvPr/>
          </p:nvSpPr>
          <p:spPr>
            <a:xfrm>
              <a:off x="762000" y="666750"/>
              <a:ext cx="3619500" cy="3048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14288">
              <a:solidFill>
                <a:schemeClr val="accent1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885825" y="771525"/>
              <a:ext cx="95250" cy="952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80897" y="761524"/>
              <a:ext cx="30481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75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AI-POWERED PROXIMITY NETWORKING</a:t>
              </a:r>
            </a:p>
          </p:txBody>
        </p:sp>
      </p:grpSp>
      <p:grpSp>
        <p:nvGrpSpPr>
          <p:cNvPr id="15" name="hero-title-section"/>
          <p:cNvGrpSpPr/>
          <p:nvPr/>
        </p:nvGrpSpPr>
        <p:grpSpPr>
          <a:xfrm>
            <a:off x="748284" y="1190625"/>
            <a:ext cx="7322404" cy="1573340"/>
            <a:chOff x="748284" y="1190625"/>
            <a:chExt cx="7322404" cy="1573340"/>
          </a:xfrm>
        </p:grpSpPr>
        <p:sp>
          <p:nvSpPr>
            <p:cNvPr id="11" name="Rectangle 11"/>
            <p:cNvSpPr/>
            <p:nvPr/>
          </p:nvSpPr>
          <p:spPr>
            <a:xfrm>
              <a:off x="762000" y="1190625"/>
              <a:ext cx="76200" cy="5715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1075" y="1201102"/>
              <a:ext cx="1498784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4050" b="1" spc="-75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Bside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8284" y="1946910"/>
              <a:ext cx="5538889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Connect with who's beside you.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3618" y="2441258"/>
              <a:ext cx="73170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행사장에서 닿을 수 있는 거리에 있는 사람과 이어지는 상보성 AI 네트워킹</a:t>
              </a:r>
            </a:p>
          </p:txBody>
        </p:sp>
      </p:grpSp>
      <p:grpSp>
        <p:nvGrpSpPr>
          <p:cNvPr id="40" name="feature-cards"/>
          <p:cNvGrpSpPr/>
          <p:nvPr/>
        </p:nvGrpSpPr>
        <p:grpSpPr>
          <a:xfrm>
            <a:off x="762000" y="3095625"/>
            <a:ext cx="10668000" cy="2190750"/>
            <a:chOff x="762000" y="3095625"/>
            <a:chExt cx="10668000" cy="2190750"/>
          </a:xfrm>
        </p:grpSpPr>
        <p:sp>
          <p:nvSpPr>
            <p:cNvPr id="16" name="Rectangle 16"/>
            <p:cNvSpPr/>
            <p:nvPr/>
          </p:nvSpPr>
          <p:spPr>
            <a:xfrm>
              <a:off x="762000" y="3095625"/>
              <a:ext cx="3333750" cy="2190750"/>
            </a:xfrm>
            <a:prstGeom prst="roundRect">
              <a:avLst>
                <a:gd name="adj" fmla="val 6087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762000" y="3095625"/>
              <a:ext cx="3333750" cy="381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1000125" y="3333750"/>
              <a:ext cx="457200" cy="247650"/>
            </a:xfrm>
            <a:prstGeom prst="roundRect">
              <a:avLst>
                <a:gd name="adj" fmla="val 23077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150394" y="3399949"/>
              <a:ext cx="1566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91743" y="3727132"/>
              <a:ext cx="20206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QR 3초 초경량 진입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94029" y="4109085"/>
              <a:ext cx="2378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accent6"/>
                </a:buClr>
                <a:buSzTx/>
                <a:buFontTx/>
                <a:buChar char="•"/>
              </a:pPr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앱 설치 &amp; 스토어 다운로드 제로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94029" y="4394835"/>
              <a:ext cx="24152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accent6"/>
                </a:buClr>
                <a:buSzTx/>
                <a:buFontTx/>
                <a:buChar char="•"/>
              </a:pPr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현장 웹 QR 스캔 즉시 세션 참가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95172" y="4704874"/>
              <a:ext cx="11752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진입 장벽 완벽 제거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429125" y="3095625"/>
              <a:ext cx="3333750" cy="2190750"/>
            </a:xfrm>
            <a:prstGeom prst="roundRect">
              <a:avLst>
                <a:gd name="adj" fmla="val 6087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4429125" y="3095625"/>
              <a:ext cx="33337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667250" y="3333750"/>
              <a:ext cx="457200" cy="247650"/>
            </a:xfrm>
            <a:prstGeom prst="roundRect">
              <a:avLst>
                <a:gd name="adj" fmla="val 23077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817519" y="3399949"/>
              <a:ext cx="1566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658868" y="3727132"/>
              <a:ext cx="19171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비대칭 상보성 매칭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61154" y="4109085"/>
              <a:ext cx="20732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accent6"/>
                </a:buClr>
                <a:buSzTx/>
                <a:buFontTx/>
                <a:buChar char="•"/>
              </a:pPr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단순 취미·키워드 일치 탈피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661154" y="4394835"/>
              <a:ext cx="24503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accent6"/>
                </a:buClr>
                <a:buSzTx/>
                <a:buFontTx/>
                <a:buChar char="•"/>
              </a:pPr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[고민] ↔ [해결 역량] 상보적 결합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662297" y="4704874"/>
              <a:ext cx="13072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실질적 대화 가치 창출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96250" y="3095625"/>
              <a:ext cx="3333750" cy="2190750"/>
            </a:xfrm>
            <a:prstGeom prst="roundRect">
              <a:avLst>
                <a:gd name="adj" fmla="val 6087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8096250" y="3095625"/>
              <a:ext cx="3333750" cy="381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8334375" y="3333750"/>
              <a:ext cx="457200" cy="247650"/>
            </a:xfrm>
            <a:prstGeom prst="roundRect">
              <a:avLst>
                <a:gd name="adj" fmla="val 23077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484644" y="3399949"/>
              <a:ext cx="1566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25993" y="3727132"/>
              <a:ext cx="18934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BLE 5m 근접 감지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28279" y="4109085"/>
              <a:ext cx="21721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accent6"/>
                </a:buClr>
                <a:buSzTx/>
                <a:buFontTx/>
                <a:buChar char="•"/>
              </a:pPr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5m 이내 마주칠 때만 핑 진동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28279" y="4394835"/>
              <a:ext cx="23338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accent6"/>
                </a:buClr>
                <a:buSzTx/>
                <a:buFontTx/>
                <a:buChar char="•"/>
              </a:pPr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1.5초 접점 대화 시트 자동 생성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29422" y="4704874"/>
              <a:ext cx="11752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현장 즉시 만남 성사</a:t>
              </a:r>
            </a:p>
          </p:txBody>
        </p:sp>
      </p:grpSp>
      <p:grpSp>
        <p:nvGrpSpPr>
          <p:cNvPr id="44" name="footer-section"/>
          <p:cNvGrpSpPr/>
          <p:nvPr/>
        </p:nvGrpSpPr>
        <p:grpSpPr>
          <a:xfrm>
            <a:off x="757047" y="5667375"/>
            <a:ext cx="10677906" cy="466439"/>
            <a:chOff x="757047" y="5667375"/>
            <a:chExt cx="10677906" cy="466439"/>
          </a:xfrm>
        </p:grpSpPr>
        <p:sp>
          <p:nvSpPr>
            <p:cNvPr id="41" name="Line 41"/>
            <p:cNvSpPr/>
            <p:nvPr/>
          </p:nvSpPr>
          <p:spPr>
            <a:xfrm>
              <a:off x="762000" y="56673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1F2937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7047" y="5943124"/>
              <a:ext cx="29757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코쓱톤 2026 연합 해커톤 · 대주제: 교류 · 팀 Bside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079744" y="5943124"/>
              <a:ext cx="23552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국민대학교 · 숭실대학교 · 순천향대학교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-group"/>
          <p:cNvGrpSpPr/>
          <p:nvPr/>
        </p:nvGrpSpPr>
        <p:grpSpPr>
          <a:xfrm>
            <a:off x="749808" y="428625"/>
            <a:ext cx="7437832" cy="962406"/>
            <a:chOff x="749808" y="428625"/>
            <a:chExt cx="7437832" cy="962406"/>
          </a:xfrm>
        </p:grpSpPr>
        <p:sp>
          <p:nvSpPr>
            <p:cNvPr id="2" name="Rectangle 2"/>
            <p:cNvSpPr/>
            <p:nvPr/>
          </p:nvSpPr>
          <p:spPr>
            <a:xfrm>
              <a:off x="762000" y="428625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11430">
              <a:solidFill>
                <a:srgbClr val="F87171"/>
              </a:solidFill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10463" y="485299"/>
              <a:ext cx="104607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spc="75" dirty="0">
                  <a:solidFill>
                    <a:srgbClr val="F87171"/>
                  </a:solidFill>
                  <a:latin typeface="+mn-lt"/>
                  <a:ea typeface="+mn-ea"/>
                  <a:cs typeface="+mn-cs"/>
                </a:rPr>
                <a:t>01. PROBLEM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9808" y="741045"/>
              <a:ext cx="743783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네트워킹 시간 30분, 왜 아무도 말을 걸지 못할까요?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55904" y="1156335"/>
              <a:ext cx="70472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용기가 없어서가 아닙니다. 누구에게, 어떤 이유로 말을 걸어야 하는지 그 '근거'가 없기 때문입니다.</a:t>
              </a:r>
            </a:p>
          </p:txBody>
        </p:sp>
      </p:grpSp>
      <p:grpSp>
        <p:nvGrpSpPr>
          <p:cNvPr id="53" name="comparison-cards"/>
          <p:cNvGrpSpPr/>
          <p:nvPr/>
        </p:nvGrpSpPr>
        <p:grpSpPr>
          <a:xfrm>
            <a:off x="762000" y="1571625"/>
            <a:ext cx="10668000" cy="4000500"/>
            <a:chOff x="762000" y="1571625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1571625"/>
              <a:ext cx="5143500" cy="4000500"/>
            </a:xfrm>
            <a:prstGeom prst="roundRect">
              <a:avLst>
                <a:gd name="adj" fmla="val 3333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571625"/>
              <a:ext cx="5143500" cy="47625"/>
            </a:xfrm>
            <a:prstGeom prst="roundRect">
              <a:avLst>
                <a:gd name="adj" fmla="val 50000"/>
              </a:avLst>
            </a:prstGeom>
            <a:solidFill>
              <a:srgbClr val="F87171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1857375"/>
              <a:ext cx="1524000" cy="323850"/>
            </a:xfrm>
            <a:prstGeom prst="roundRect">
              <a:avLst>
                <a:gd name="adj" fmla="val 2352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83767" y="1930718"/>
              <a:ext cx="1387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350" b="1" dirty="0">
                  <a:solidFill>
                    <a:srgbClr val="F87171"/>
                  </a:solidFill>
                  <a:latin typeface="+mn-lt"/>
                  <a:ea typeface="+mn-ea"/>
                  <a:cs typeface="+mn-cs"/>
                </a:rPr>
                <a:t>심리적 장벽 90%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39368" y="2298382"/>
              <a:ext cx="220098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혼자 온 참가자의 현실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1066800" y="2743200"/>
              <a:ext cx="190500" cy="190500"/>
            </a:xfrm>
            <a:prstGeom prst="ellipse">
              <a:avLst/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120408" y="2771299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rgbClr val="F87171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75029" y="2756535"/>
              <a:ext cx="15558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끼리끼리 뭉치는 장벽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76172" y="2990374"/>
              <a:ext cx="32055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이미 아는 사람들끼리 원형으로 대화, 외부인 진입 불가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1066800" y="3362325"/>
              <a:ext cx="190500" cy="190500"/>
            </a:xfrm>
            <a:prstGeom prst="ellipse">
              <a:avLst/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20408" y="3390424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rgbClr val="F8717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75029" y="3375660"/>
              <a:ext cx="21302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음료 테이블 옆 스마트폰 응시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76172" y="3609499"/>
              <a:ext cx="32641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어색함을 피하기 위해 불필요하게 핸드폰 화면만 스크롤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66800" y="3981450"/>
              <a:ext cx="190500" cy="190500"/>
            </a:xfrm>
            <a:prstGeom prst="ellipse">
              <a:avLst/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120408" y="4009549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rgbClr val="F87171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75029" y="3994785"/>
              <a:ext cx="26597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상대의 관심사/고민에 대한 정보 부재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376172" y="4228624"/>
              <a:ext cx="29050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말을 걸고 싶어도 무슨 대화로 시작해야 할지 모름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1066800" y="4600575"/>
              <a:ext cx="190500" cy="190500"/>
            </a:xfrm>
            <a:prstGeom prst="ellipse">
              <a:avLst/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20408" y="4628674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rgbClr val="F8717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75029" y="4613910"/>
              <a:ext cx="18071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형식적 명함 교환 후 침묵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76172" y="4847749"/>
              <a:ext cx="28683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실질적 후속 액션 없이 끝나는 비효율적 네트워킹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00125" y="5191125"/>
              <a:ext cx="4667250" cy="266700"/>
            </a:xfrm>
            <a:prstGeom prst="roundRect">
              <a:avLst>
                <a:gd name="adj" fmla="val 2142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138047" y="5266849"/>
              <a:ext cx="31175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rgbClr val="F87171"/>
                  </a:solidFill>
                  <a:latin typeface="+mn-lt"/>
                  <a:ea typeface="+mn-ea"/>
                  <a:cs typeface="+mn-cs"/>
                </a:rPr>
                <a:t>현실 결과: 참가자 만족도 급락 및 네트워킹 시간 낭비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1571625"/>
              <a:ext cx="5143500" cy="4000500"/>
            </a:xfrm>
            <a:prstGeom prst="roundRect">
              <a:avLst>
                <a:gd name="adj" fmla="val 3333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86500" y="1571625"/>
              <a:ext cx="5143500" cy="47625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572250" y="1857375"/>
              <a:ext cx="1524000" cy="323850"/>
            </a:xfrm>
            <a:prstGeom prst="roundRect">
              <a:avLst>
                <a:gd name="adj" fmla="val 2352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08267" y="1930718"/>
              <a:ext cx="1387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주최자 만족 15%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63868" y="2298382"/>
              <a:ext cx="39235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기존 네트워킹 솔루션(Brella 등)의 한계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591300" y="2743200"/>
              <a:ext cx="190500" cy="190500"/>
            </a:xfrm>
            <a:prstGeom prst="ellipse">
              <a:avLst/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644908" y="2771299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899529" y="2756535"/>
              <a:ext cx="17173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앱스토어 다운로드 강요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900672" y="2990374"/>
              <a:ext cx="29863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현장에서 수십 MB 앱을 깔아야 하는 극심한 피로도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591300" y="3362325"/>
              <a:ext cx="190500" cy="190500"/>
            </a:xfrm>
            <a:prstGeom prst="ellipse">
              <a:avLst/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44908" y="3390424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899529" y="3375660"/>
              <a:ext cx="22559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방대한 프로필 작성 (20개 항목)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900672" y="3609499"/>
              <a:ext cx="31104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학력, 경력, 소개글 쓰다가 참가자의 42%가 중간 이탈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591300" y="3981450"/>
              <a:ext cx="190500" cy="190500"/>
            </a:xfrm>
            <a:prstGeom prst="ellipse">
              <a:avLst/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644908" y="4009549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899529" y="3994785"/>
              <a:ext cx="20853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사전 예약형 캘린더의 비효율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900672" y="4228624"/>
              <a:ext cx="35646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현장의 즉흥적 마주침을 전혀 지원하지 못하는 경직된 스케줄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591300" y="4600575"/>
              <a:ext cx="190500" cy="190500"/>
            </a:xfrm>
            <a:prstGeom prst="ellipse">
              <a:avLst/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644908" y="4628674"/>
              <a:ext cx="832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899529" y="4613910"/>
              <a:ext cx="15558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저조한 실제 인터랙션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900672" y="4847749"/>
              <a:ext cx="31106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대표 앱조차 앱 채택률 58%, 미팅 수락률 39%에 불과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524625" y="5191125"/>
              <a:ext cx="4667250" cy="266700"/>
            </a:xfrm>
            <a:prstGeom prst="roundRect">
              <a:avLst>
                <a:gd name="adj" fmla="val 2142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662547" y="5266849"/>
              <a:ext cx="347002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조사 결과: 주최자 85%가 "현재 네트워킹 솔루션에 불만족"</a:t>
              </a:r>
            </a:p>
          </p:txBody>
        </p:sp>
      </p:grpSp>
      <p:grpSp>
        <p:nvGrpSpPr>
          <p:cNvPr id="57" name="bottom-takeaway"/>
          <p:cNvGrpSpPr/>
          <p:nvPr/>
        </p:nvGrpSpPr>
        <p:grpSpPr>
          <a:xfrm>
            <a:off x="762000" y="5762625"/>
            <a:ext cx="10668000" cy="552450"/>
            <a:chOff x="762000" y="5762625"/>
            <a:chExt cx="10668000" cy="552450"/>
          </a:xfrm>
        </p:grpSpPr>
        <p:sp>
          <p:nvSpPr>
            <p:cNvPr id="54" name="Rectangle 54"/>
            <p:cNvSpPr/>
            <p:nvPr/>
          </p:nvSpPr>
          <p:spPr>
            <a:xfrm>
              <a:off x="762000" y="5762625"/>
              <a:ext cx="10668000" cy="552450"/>
            </a:xfrm>
            <a:prstGeom prst="roundRect">
              <a:avLst>
                <a:gd name="adj" fmla="val 17241"/>
              </a:avLst>
            </a:prstGeom>
            <a:solidFill>
              <a:srgbClr val="131B2E"/>
            </a:solidFill>
            <a:ln w="9525">
              <a:solidFill>
                <a:schemeClr val="accent1"/>
              </a:solidFill>
            </a:ln>
          </p:spPr>
        </p:sp>
        <p:sp>
          <p:nvSpPr>
            <p:cNvPr id="55" name="Ellipse 55"/>
            <p:cNvSpPr/>
            <p:nvPr/>
          </p:nvSpPr>
          <p:spPr>
            <a:xfrm>
              <a:off x="981075" y="5972175"/>
              <a:ext cx="133350" cy="1333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232154" y="5956935"/>
              <a:ext cx="77752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결론: 참가자에게 돈을 내고 앱을 깔게 해도 절반 이상이 쓰지 않습니다. 진입 장벽을 완전히 허물어야 합니다.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-group"/>
          <p:cNvGrpSpPr/>
          <p:nvPr/>
        </p:nvGrpSpPr>
        <p:grpSpPr>
          <a:xfrm>
            <a:off x="749808" y="428625"/>
            <a:ext cx="8742702" cy="962406"/>
            <a:chOff x="749808" y="428625"/>
            <a:chExt cx="8742702" cy="962406"/>
          </a:xfrm>
        </p:grpSpPr>
        <p:sp>
          <p:nvSpPr>
            <p:cNvPr id="2" name="Rectangle 2"/>
            <p:cNvSpPr/>
            <p:nvPr/>
          </p:nvSpPr>
          <p:spPr>
            <a:xfrm>
              <a:off x="762000" y="428625"/>
              <a:ext cx="1238250" cy="2476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11430">
              <a:solidFill>
                <a:schemeClr val="accent1"/>
              </a:solidFill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41157" y="485299"/>
              <a:ext cx="10799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spc="75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02. SOLUTION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9808" y="741045"/>
              <a:ext cx="874270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Bside: 앱 설치 없이 30초, 스쳐 지나가는 순간 시작되는 대화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55904" y="1156335"/>
              <a:ext cx="6895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네트워킹의 모든 진입 장벽을 없애고, 대화의 시작 근거와 오프라인 타이밍을 기술로 제공합니다.</a:t>
              </a:r>
            </a:p>
          </p:txBody>
        </p:sp>
      </p:grpSp>
      <p:grpSp>
        <p:nvGrpSpPr>
          <p:cNvPr id="16" name="timeline-axis"/>
          <p:cNvGrpSpPr/>
          <p:nvPr/>
        </p:nvGrpSpPr>
        <p:grpSpPr>
          <a:xfrm>
            <a:off x="1847850" y="1562100"/>
            <a:ext cx="8496300" cy="304800"/>
            <a:chOff x="1847850" y="1562100"/>
            <a:chExt cx="8496300" cy="304800"/>
          </a:xfrm>
        </p:grpSpPr>
        <p:sp>
          <p:nvSpPr>
            <p:cNvPr id="7" name="Line 7"/>
            <p:cNvSpPr/>
            <p:nvPr/>
          </p:nvSpPr>
          <p:spPr>
            <a:xfrm>
              <a:off x="2000250" y="1714500"/>
              <a:ext cx="8191500" cy="9525"/>
            </a:xfrm>
            <a:custGeom>
              <a:avLst/>
              <a:gdLst/>
              <a:ahLst/>
              <a:cxnLst/>
              <a:rect l="l" t="t" r="r" b="b"/>
              <a:pathLst>
                <a:path w="8191500" h="9525">
                  <a:moveTo>
                    <a:pt x="0" y="0"/>
                  </a:moveTo>
                  <a:lnTo>
                    <a:pt x="8191500" y="0"/>
                  </a:lnTo>
                </a:path>
              </a:pathLst>
            </a:custGeom>
            <a:noFill/>
            <a:ln w="28575">
              <a:solidFill>
                <a:srgbClr val="1F2937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847850" y="1562100"/>
              <a:ext cx="304800" cy="304800"/>
            </a:xfrm>
            <a:prstGeom prst="ellipse">
              <a:avLst/>
            </a:prstGeom>
            <a:solidFill>
              <a:schemeClr val="accent5"/>
            </a:solidFill>
            <a:ln w="28575">
              <a:solidFill>
                <a:schemeClr val="accent1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921919" y="1656874"/>
              <a:ext cx="1566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4572000" y="1562100"/>
              <a:ext cx="304800" cy="304800"/>
            </a:xfrm>
            <a:prstGeom prst="ellipse">
              <a:avLst/>
            </a:prstGeom>
            <a:solidFill>
              <a:schemeClr val="accent5"/>
            </a:solidFill>
            <a:ln w="28575">
              <a:solidFill>
                <a:schemeClr val="accent2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646069" y="1656874"/>
              <a:ext cx="1566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305675" y="1562100"/>
              <a:ext cx="304800" cy="304800"/>
            </a:xfrm>
            <a:prstGeom prst="ellipse">
              <a:avLst/>
            </a:prstGeom>
            <a:solidFill>
              <a:schemeClr val="accent5"/>
            </a:solidFill>
            <a:ln w="28575">
              <a:solidFill>
                <a:schemeClr val="accent3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379744" y="1656874"/>
              <a:ext cx="1566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10039350" y="1562100"/>
              <a:ext cx="304800" cy="304800"/>
            </a:xfrm>
            <a:prstGeom prst="ellipse">
              <a:avLst/>
            </a:prstGeom>
            <a:solidFill>
              <a:schemeClr val="accent5"/>
            </a:solidFill>
            <a:ln w="28575">
              <a:solidFill>
                <a:schemeClr val="accent1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113419" y="1656874"/>
              <a:ext cx="1566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61" name="step-cards"/>
          <p:cNvGrpSpPr/>
          <p:nvPr/>
        </p:nvGrpSpPr>
        <p:grpSpPr>
          <a:xfrm>
            <a:off x="762000" y="2095500"/>
            <a:ext cx="10668000" cy="3429000"/>
            <a:chOff x="762000" y="2095500"/>
            <a:chExt cx="10668000" cy="3429000"/>
          </a:xfrm>
        </p:grpSpPr>
        <p:sp>
          <p:nvSpPr>
            <p:cNvPr id="17" name="Rectangle 17"/>
            <p:cNvSpPr/>
            <p:nvPr/>
          </p:nvSpPr>
          <p:spPr>
            <a:xfrm>
              <a:off x="762000" y="2095500"/>
              <a:ext cx="2476500" cy="3429000"/>
            </a:xfrm>
            <a:prstGeom prst="roundRect">
              <a:avLst>
                <a:gd name="adj" fmla="val 5385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095500"/>
              <a:ext cx="2476500" cy="381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952500" y="2286000"/>
              <a:ext cx="762000" cy="228600"/>
            </a:xfrm>
            <a:prstGeom prst="roundRect">
              <a:avLst>
                <a:gd name="adj" fmla="val 25000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49617" y="2333149"/>
              <a:ext cx="5677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STEP 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4118" y="2631758"/>
              <a:ext cx="16098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초경량 QR 진입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7547" y="2990374"/>
              <a:ext cx="10287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소요 시간: 단 3초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952500" y="3286125"/>
              <a:ext cx="2095500" cy="9525"/>
            </a:xfrm>
            <a:custGeom>
              <a:avLst/>
              <a:gdLst/>
              <a:ahLst/>
              <a:cxnLst/>
              <a:rect l="l" t="t" r="r" b="b"/>
              <a:pathLst>
                <a:path w="2095500" h="9525">
                  <a:moveTo>
                    <a:pt x="0" y="0"/>
                  </a:moveTo>
                  <a:lnTo>
                    <a:pt x="2095500" y="0"/>
                  </a:lnTo>
                </a:path>
              </a:pathLst>
            </a:custGeom>
            <a:noFill/>
            <a:ln w="9525">
              <a:solidFill>
                <a:srgbClr val="1F2937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46785" y="3450431"/>
              <a:ext cx="21384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앱 설치 없는 모바일 웹 (PWA)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785" y="3736181"/>
              <a:ext cx="18849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이름/소속만으로 즉시 참가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6785" y="4021931"/>
              <a:ext cx="19400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행사 ID 기반 인메모리 세션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7547" y="4323874"/>
              <a:ext cx="13659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가입 이탈률 0%에 도전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2095500"/>
              <a:ext cx="2476500" cy="3429000"/>
            </a:xfrm>
            <a:prstGeom prst="roundRect">
              <a:avLst>
                <a:gd name="adj" fmla="val 5385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486150" y="2095500"/>
              <a:ext cx="247650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3676650" y="2286000"/>
              <a:ext cx="762000" cy="228600"/>
            </a:xfrm>
            <a:prstGeom prst="roundRect">
              <a:avLst>
                <a:gd name="adj" fmla="val 25000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773767" y="2333149"/>
              <a:ext cx="5677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STEP 02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668268" y="2631758"/>
              <a:ext cx="1781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30초 한 줄 프로필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671697" y="2990374"/>
              <a:ext cx="11386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작성 피로도 제로화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3676650" y="3286125"/>
              <a:ext cx="2095500" cy="9525"/>
            </a:xfrm>
            <a:custGeom>
              <a:avLst/>
              <a:gdLst/>
              <a:ahLst/>
              <a:cxnLst/>
              <a:rect l="l" t="t" r="r" b="b"/>
              <a:pathLst>
                <a:path w="2095500" h="9525">
                  <a:moveTo>
                    <a:pt x="0" y="0"/>
                  </a:moveTo>
                  <a:lnTo>
                    <a:pt x="2095500" y="0"/>
                  </a:lnTo>
                </a:path>
              </a:pathLst>
            </a:custGeom>
            <a:noFill/>
            <a:ln w="9525">
              <a:solidFill>
                <a:srgbClr val="1F2937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670935" y="3450431"/>
              <a:ext cx="19249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[고민] "웹소켓 실시간 서버"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670935" y="3736181"/>
              <a:ext cx="22820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[역량] "FastAPI/Go 소켓 최적화"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670935" y="4021931"/>
              <a:ext cx="18180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커피챗 선호도 1클릭 선택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671697" y="4323874"/>
              <a:ext cx="15710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형식적 이력서 작성 불필요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19825" y="2095500"/>
              <a:ext cx="2476500" cy="3429000"/>
            </a:xfrm>
            <a:prstGeom prst="roundRect">
              <a:avLst>
                <a:gd name="adj" fmla="val 5385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19825" y="2095500"/>
              <a:ext cx="2476500" cy="381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10325" y="2286000"/>
              <a:ext cx="762000" cy="228600"/>
            </a:xfrm>
            <a:prstGeom prst="roundRect">
              <a:avLst>
                <a:gd name="adj" fmla="val 25000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07442" y="2333149"/>
              <a:ext cx="5677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STEP 03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01943" y="2631758"/>
              <a:ext cx="19171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비대칭 상보성 매칭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05372" y="2990374"/>
              <a:ext cx="10183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핵심 AI 알고리즘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6410325" y="3286125"/>
              <a:ext cx="2095500" cy="9525"/>
            </a:xfrm>
            <a:custGeom>
              <a:avLst/>
              <a:gdLst/>
              <a:ahLst/>
              <a:cxnLst/>
              <a:rect l="l" t="t" r="r" b="b"/>
              <a:pathLst>
                <a:path w="2095500" h="9525">
                  <a:moveTo>
                    <a:pt x="0" y="0"/>
                  </a:moveTo>
                  <a:lnTo>
                    <a:pt x="2095500" y="0"/>
                  </a:lnTo>
                </a:path>
              </a:pathLst>
            </a:custGeom>
            <a:noFill/>
            <a:ln w="9525">
              <a:solidFill>
                <a:srgbClr val="1F2937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04610" y="3450431"/>
              <a:ext cx="2077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유사 키워드 매칭의 한계 극복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04610" y="3736181"/>
              <a:ext cx="20494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Need ↔ Give 상호 보완 결합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04610" y="4021931"/>
              <a:ext cx="2010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공통 단어 0개라도 최적 연결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05372" y="4323874"/>
              <a:ext cx="17396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대화의 실질적 근거 자동 생성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953500" y="2095500"/>
              <a:ext cx="2476500" cy="3429000"/>
            </a:xfrm>
            <a:prstGeom prst="roundRect">
              <a:avLst>
                <a:gd name="adj" fmla="val 5385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8953500" y="2095500"/>
              <a:ext cx="2476500" cy="381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9144000" y="2286000"/>
              <a:ext cx="762000" cy="228600"/>
            </a:xfrm>
            <a:prstGeom prst="roundRect">
              <a:avLst>
                <a:gd name="adj" fmla="val 25000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241117" y="2333149"/>
              <a:ext cx="5677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STEP 04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135618" y="2631758"/>
              <a:ext cx="18934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BLE 5m 근접 감지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139047" y="2990374"/>
              <a:ext cx="11386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오프라인 현장 연결</a:t>
              </a:r>
            </a:p>
          </p:txBody>
        </p:sp>
        <p:sp>
          <p:nvSpPr>
            <p:cNvPr id="56" name="Line 56"/>
            <p:cNvSpPr/>
            <p:nvPr/>
          </p:nvSpPr>
          <p:spPr>
            <a:xfrm>
              <a:off x="9144000" y="3286125"/>
              <a:ext cx="2095500" cy="9525"/>
            </a:xfrm>
            <a:custGeom>
              <a:avLst/>
              <a:gdLst/>
              <a:ahLst/>
              <a:cxnLst/>
              <a:rect l="l" t="t" r="r" b="b"/>
              <a:pathLst>
                <a:path w="2095500" h="9525">
                  <a:moveTo>
                    <a:pt x="0" y="0"/>
                  </a:moveTo>
                  <a:lnTo>
                    <a:pt x="2095500" y="0"/>
                  </a:lnTo>
                </a:path>
              </a:pathLst>
            </a:custGeom>
            <a:noFill/>
            <a:ln w="9525">
              <a:solidFill>
                <a:srgbClr val="1F2937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138285" y="3450431"/>
              <a:ext cx="18765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5m 반경 내 마주칠 때만 핑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138285" y="3736181"/>
              <a:ext cx="21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1.5초 접점 대화 시트 자동 팝업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138285" y="4021931"/>
              <a:ext cx="22283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대화 유도 첫마디 스크립트 제공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139047" y="4323874"/>
              <a:ext cx="16079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현장 대화 성공률 65% 달성</a:t>
              </a:r>
            </a:p>
          </p:txBody>
        </p:sp>
      </p:grpSp>
      <p:grpSp>
        <p:nvGrpSpPr>
          <p:cNvPr id="65" name="bottom-takeaway"/>
          <p:cNvGrpSpPr/>
          <p:nvPr/>
        </p:nvGrpSpPr>
        <p:grpSpPr>
          <a:xfrm>
            <a:off x="762000" y="5762625"/>
            <a:ext cx="10668000" cy="552450"/>
            <a:chOff x="762000" y="5762625"/>
            <a:chExt cx="10668000" cy="552450"/>
          </a:xfrm>
        </p:grpSpPr>
        <p:sp>
          <p:nvSpPr>
            <p:cNvPr id="62" name="Rectangle 62"/>
            <p:cNvSpPr/>
            <p:nvPr/>
          </p:nvSpPr>
          <p:spPr>
            <a:xfrm>
              <a:off x="762000" y="5762625"/>
              <a:ext cx="10668000" cy="552450"/>
            </a:xfrm>
            <a:prstGeom prst="roundRect">
              <a:avLst>
                <a:gd name="adj" fmla="val 17241"/>
              </a:avLst>
            </a:prstGeom>
            <a:solidFill>
              <a:srgbClr val="131B2E"/>
            </a:solidFill>
            <a:ln w="9525">
              <a:solidFill>
                <a:schemeClr val="accent1"/>
              </a:solidFill>
            </a:ln>
          </p:spPr>
        </p:sp>
        <p:sp>
          <p:nvSpPr>
            <p:cNvPr id="63" name="Ellipse 63"/>
            <p:cNvSpPr/>
            <p:nvPr/>
          </p:nvSpPr>
          <p:spPr>
            <a:xfrm>
              <a:off x="981075" y="5972175"/>
              <a:ext cx="133350" cy="1333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1232154" y="5956935"/>
              <a:ext cx="67166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핵심 성과: 설치 0초 · 프로필 30초 · 대화 시작 1.5초 — 네트워킹의 모든 마찰을 제거했습니다.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-group"/>
          <p:cNvGrpSpPr/>
          <p:nvPr/>
        </p:nvGrpSpPr>
        <p:grpSpPr>
          <a:xfrm>
            <a:off x="749808" y="428625"/>
            <a:ext cx="9053789" cy="962406"/>
            <a:chOff x="749808" y="428625"/>
            <a:chExt cx="9053789" cy="962406"/>
          </a:xfrm>
        </p:grpSpPr>
        <p:sp>
          <p:nvSpPr>
            <p:cNvPr id="2" name="Rectangle 2"/>
            <p:cNvSpPr/>
            <p:nvPr/>
          </p:nvSpPr>
          <p:spPr>
            <a:xfrm>
              <a:off x="762000" y="428625"/>
              <a:ext cx="1714500" cy="2476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11430">
              <a:solidFill>
                <a:schemeClr val="accent3"/>
              </a:solidFill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4640" y="485299"/>
              <a:ext cx="17092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spc="75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03. CORE ALGORITHM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9808" y="741045"/>
              <a:ext cx="905378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왜 상보성인가? 0개 공통 단어가 100% 최적의 매칭을 만듭니다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55904" y="1156335"/>
              <a:ext cx="76947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관심사가 같은 사람끼리는 할 말이 없지만, 내 고민을 해결해줄 수 있는 사람과는 20분간 대화가 이어집니다.</a:t>
              </a:r>
            </a:p>
          </p:txBody>
        </p:sp>
      </p:grpSp>
      <p:grpSp>
        <p:nvGrpSpPr>
          <p:cNvPr id="37" name="asymmetric-matrix"/>
          <p:cNvGrpSpPr/>
          <p:nvPr/>
        </p:nvGrpSpPr>
        <p:grpSpPr>
          <a:xfrm>
            <a:off x="762000" y="1571625"/>
            <a:ext cx="10668000" cy="4000500"/>
            <a:chOff x="762000" y="1571625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1571625"/>
              <a:ext cx="4953000" cy="4000500"/>
            </a:xfrm>
            <a:prstGeom prst="roundRect">
              <a:avLst>
                <a:gd name="adj" fmla="val 3333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571625"/>
              <a:ext cx="4953000" cy="47625"/>
            </a:xfrm>
            <a:prstGeom prst="roundRect">
              <a:avLst>
                <a:gd name="adj" fmla="val 50000"/>
              </a:avLst>
            </a:prstGeom>
            <a:solidFill>
              <a:srgbClr val="F87171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1857375"/>
              <a:ext cx="1428750" cy="266700"/>
            </a:xfrm>
            <a:prstGeom prst="roundRect">
              <a:avLst>
                <a:gd name="adj" fmla="val 2142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85672" y="1933099"/>
              <a:ext cx="12192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rgbClr val="F87171"/>
                  </a:solidFill>
                  <a:latin typeface="+mn-lt"/>
                  <a:ea typeface="+mn-ea"/>
                  <a:cs typeface="+mn-cs"/>
                </a:rPr>
                <a:t>기존 방식: 대칭 매칭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39368" y="2250758"/>
              <a:ext cx="2423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단순 키워드 일치의 실패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047750" y="2619375"/>
              <a:ext cx="4381500" cy="904875"/>
            </a:xfrm>
            <a:prstGeom prst="roundRect">
              <a:avLst>
                <a:gd name="adj" fmla="val 8421"/>
              </a:avLst>
            </a:prstGeom>
            <a:solidFill>
              <a:srgbClr val="1E293B"/>
            </a:solidFill>
            <a:ln w="9525">
              <a:solidFill>
                <a:srgbClr val="2D374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32154" y="2775585"/>
              <a:ext cx="2916845" cy="5204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ko-K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참가자 A (지원) : "FastAPI 백엔드 개발자"</a:t>
              </a:r>
              <a:br/>
              <a:r>
                <a:rPr lang="ko-K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참가자 B (태현) : "FastAPI 백엔드 개발자"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33297" y="3323749"/>
              <a:ext cx="168129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rgbClr val="F87171"/>
                  </a:solidFill>
                  <a:latin typeface="+mn-lt"/>
                  <a:ea typeface="+mn-ea"/>
                  <a:cs typeface="+mn-cs"/>
                </a:rPr>
                <a:t>→ 키워드 일치도 100% 매칭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41654" y="3728085"/>
              <a:ext cx="17074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rgbClr val="F87171"/>
                  </a:solidFill>
                  <a:latin typeface="+mn-lt"/>
                  <a:ea typeface="+mn-ea"/>
                  <a:cs typeface="+mn-cs"/>
                </a:rPr>
                <a:t>현장 대화 결과: 실패 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42035" y="4021931"/>
              <a:ext cx="28409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"어... 저도 백엔드 하는데 어떤 거 쓰세요?"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42035" y="4307681"/>
              <a:ext cx="36023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"아 네... FastAPI 써요." → (어색한 침묵 30초 후 이탈)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47750" y="4714875"/>
              <a:ext cx="4381500" cy="666750"/>
            </a:xfrm>
            <a:prstGeom prst="roundRect">
              <a:avLst>
                <a:gd name="adj" fmla="val 11429"/>
              </a:avLst>
            </a:prstGeom>
            <a:solidFill>
              <a:srgbClr val="18141D"/>
            </a:solidFill>
            <a:ln w="9525">
              <a:solidFill>
                <a:srgbClr val="37202B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232535" y="4879181"/>
              <a:ext cx="25799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rgbClr val="F87171"/>
                  </a:solidFill>
                  <a:latin typeface="+mn-lt"/>
                  <a:ea typeface="+mn-ea"/>
                  <a:cs typeface="+mn-cs"/>
                </a:rPr>
                <a:t>실패 원인: 동질성(Homophily)의 함정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233297" y="5114449"/>
              <a:ext cx="36379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같은 관심사여도 서로에게 줄 수 있는 구체적 교류 가치가 없음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829300" y="3305175"/>
              <a:ext cx="533400" cy="533400"/>
            </a:xfrm>
            <a:prstGeom prst="ellipse">
              <a:avLst/>
            </a:prstGeom>
            <a:solidFill>
              <a:srgbClr val="1E293B"/>
            </a:solidFill>
            <a:ln w="19050">
              <a:solidFill>
                <a:schemeClr val="accent3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961062" y="3492818"/>
              <a:ext cx="269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477000" y="1571625"/>
              <a:ext cx="4953000" cy="4000500"/>
            </a:xfrm>
            <a:prstGeom prst="roundRect">
              <a:avLst>
                <a:gd name="adj" fmla="val 3333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77000" y="1571625"/>
              <a:ext cx="4953000" cy="47625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762750" y="1857375"/>
              <a:ext cx="1428750" cy="266700"/>
            </a:xfrm>
            <a:prstGeom prst="roundRect">
              <a:avLst>
                <a:gd name="adj" fmla="val 2142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900672" y="1933099"/>
              <a:ext cx="14510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Bside 혁신: 상보성 매칭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54368" y="2250758"/>
              <a:ext cx="23659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Need-Give 비대칭 결합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762750" y="2619375"/>
              <a:ext cx="4381500" cy="904875"/>
            </a:xfrm>
            <a:prstGeom prst="roundRect">
              <a:avLst>
                <a:gd name="adj" fmla="val 8421"/>
              </a:avLst>
            </a:prstGeom>
            <a:solidFill>
              <a:srgbClr val="1E293B"/>
            </a:solidFill>
            <a:ln w="9525">
              <a:solidFill>
                <a:srgbClr val="2D374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947154" y="2775585"/>
              <a:ext cx="4008912" cy="5204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ko-K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참가자 A (지원) : [고민] "실시간 소켓 세션 튜닝"</a:t>
              </a:r>
              <a:br/>
              <a:r>
                <a:rPr lang="ko-K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참가자 C (민서) : [역량] "Go/FastAPI 소켓 튜닝 경험 다수"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48297" y="3323749"/>
              <a:ext cx="29888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 공통 키워드 0개이지만 완벽한 Need-Give 일치!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756654" y="3728085"/>
              <a:ext cx="30807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현장 대화 결과: 성공 ✅ (상보성 지수 96%)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57035" y="4021931"/>
              <a:ext cx="3377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"민서 님! 웹소켓 튜닝 경험 있으시죠? 저희 지금..."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757035" y="4307681"/>
              <a:ext cx="43066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"아 그거 이벤트 루프 블로킹 때문일 거예요! 제가 알려드릴게요."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762750" y="4714875"/>
              <a:ext cx="4381500" cy="666750"/>
            </a:xfrm>
            <a:prstGeom prst="roundRect">
              <a:avLst>
                <a:gd name="adj" fmla="val 11429"/>
              </a:avLst>
            </a:prstGeom>
            <a:solidFill>
              <a:srgbClr val="13241F"/>
            </a:solidFill>
            <a:ln w="9525">
              <a:solidFill>
                <a:srgbClr val="1F4D3C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947535" y="4879181"/>
              <a:ext cx="32247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성공 원인: 상보적 보완 가치(Complementarity)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48297" y="5114449"/>
              <a:ext cx="365277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대화의 첫 마디가 명확한 고민 해결로 연결되어 20분 이상 몰입</a:t>
              </a:r>
            </a:p>
          </p:txBody>
        </p:sp>
      </p:grpSp>
      <p:grpSp>
        <p:nvGrpSpPr>
          <p:cNvPr id="45" name="bottom-algorithm-chips"/>
          <p:cNvGrpSpPr/>
          <p:nvPr/>
        </p:nvGrpSpPr>
        <p:grpSpPr>
          <a:xfrm>
            <a:off x="762000" y="5762625"/>
            <a:ext cx="10668000" cy="552450"/>
            <a:chOff x="762000" y="5762625"/>
            <a:chExt cx="10668000" cy="552450"/>
          </a:xfrm>
        </p:grpSpPr>
        <p:sp>
          <p:nvSpPr>
            <p:cNvPr id="38" name="Rectangle 38"/>
            <p:cNvSpPr/>
            <p:nvPr/>
          </p:nvSpPr>
          <p:spPr>
            <a:xfrm>
              <a:off x="762000" y="5762625"/>
              <a:ext cx="10668000" cy="552450"/>
            </a:xfrm>
            <a:prstGeom prst="roundRect">
              <a:avLst>
                <a:gd name="adj" fmla="val 17241"/>
              </a:avLst>
            </a:prstGeom>
            <a:solidFill>
              <a:srgbClr val="131B2E"/>
            </a:solidFill>
            <a:ln w="9525">
              <a:solidFill>
                <a:schemeClr val="accent3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41654" y="5956935"/>
              <a:ext cx="10801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알고리즘 엔진: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185035" y="5965031"/>
              <a:ext cx="20747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Need-Give 비대칭 벡터 임베딩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756785" y="5965031"/>
              <a:ext cx="61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·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947285" y="5965031"/>
              <a:ext cx="27212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코사인 유사도 + 도메인 가중치 매트릭스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185785" y="5965031"/>
              <a:ext cx="61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·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76285" y="5965031"/>
              <a:ext cx="22386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FastAPI 인메모리 연산 (&lt; 50ms)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-group"/>
          <p:cNvGrpSpPr/>
          <p:nvPr/>
        </p:nvGrpSpPr>
        <p:grpSpPr>
          <a:xfrm>
            <a:off x="749808" y="428625"/>
            <a:ext cx="7258324" cy="962406"/>
            <a:chOff x="749808" y="428625"/>
            <a:chExt cx="7258324" cy="962406"/>
          </a:xfrm>
        </p:grpSpPr>
        <p:sp>
          <p:nvSpPr>
            <p:cNvPr id="2" name="Rectangle 2"/>
            <p:cNvSpPr/>
            <p:nvPr/>
          </p:nvSpPr>
          <p:spPr>
            <a:xfrm>
              <a:off x="762000" y="428625"/>
              <a:ext cx="1524000" cy="2476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11430">
              <a:solidFill>
                <a:schemeClr val="accent2"/>
              </a:solidFill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92299" y="485299"/>
              <a:ext cx="14634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spc="7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04. SERVICE FLOW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9808" y="741045"/>
              <a:ext cx="72583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현장에서 경험하는 1.5초의 마법: 실제 서비스 흐름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55904" y="1156335"/>
              <a:ext cx="69030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QR 스캔부터 상보적 파트너와의 오프라인 조우까지, 모바일 브라우저에서 매끄럽게 연결됩니다.</a:t>
              </a:r>
            </a:p>
          </p:txBody>
        </p:sp>
      </p:grpSp>
      <p:grpSp>
        <p:nvGrpSpPr>
          <p:cNvPr id="73" name="flow-cards"/>
          <p:cNvGrpSpPr/>
          <p:nvPr/>
        </p:nvGrpSpPr>
        <p:grpSpPr>
          <a:xfrm>
            <a:off x="762000" y="1619250"/>
            <a:ext cx="10668000" cy="3905250"/>
            <a:chOff x="762000" y="1619250"/>
            <a:chExt cx="106680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2476500" cy="3905250"/>
            </a:xfrm>
            <a:prstGeom prst="roundRect">
              <a:avLst>
                <a:gd name="adj" fmla="val 5385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619250"/>
              <a:ext cx="2476500" cy="381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47547" y="1847374"/>
              <a:ext cx="12077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STEP 1 · 입장 (3초)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44880" y="2076450"/>
              <a:ext cx="15409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초경량 게이트 폼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52500" y="2428875"/>
              <a:ext cx="2095500" cy="2000250"/>
            </a:xfrm>
            <a:prstGeom prst="roundRect">
              <a:avLst>
                <a:gd name="adj" fmla="val 381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1095375" y="2619375"/>
              <a:ext cx="1809750" cy="247650"/>
            </a:xfrm>
            <a:prstGeom prst="roundRect">
              <a:avLst>
                <a:gd name="adj" fmla="val 15385"/>
              </a:avLst>
            </a:prstGeom>
            <a:solidFill>
              <a:srgbClr val="0F172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185672" y="2685574"/>
              <a:ext cx="12631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이름: 이지원 (백엔드)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95375" y="3000375"/>
              <a:ext cx="1809750" cy="381000"/>
            </a:xfrm>
            <a:prstGeom prst="roundRect">
              <a:avLst>
                <a:gd name="adj" fmla="val 10000"/>
              </a:avLst>
            </a:prstGeom>
            <a:solidFill>
              <a:srgbClr val="0F172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185672" y="3066574"/>
              <a:ext cx="12119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고민: 소켓 세션 튜닝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095375" y="3524250"/>
              <a:ext cx="1809750" cy="247650"/>
            </a:xfrm>
            <a:prstGeom prst="roundRect">
              <a:avLst>
                <a:gd name="adj" fmla="val 15385"/>
              </a:avLst>
            </a:prstGeom>
            <a:solidFill>
              <a:srgbClr val="0F172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85672" y="3590449"/>
              <a:ext cx="13226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역량: FastAPI, Python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95375" y="3952875"/>
              <a:ext cx="1809750" cy="323850"/>
            </a:xfrm>
            <a:prstGeom prst="roundRect">
              <a:avLst>
                <a:gd name="adj" fmla="val 1764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441887" y="4057174"/>
              <a:ext cx="11167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rgbClr val="090D16"/>
                  </a:solidFill>
                  <a:latin typeface="+mn-lt"/>
                  <a:ea typeface="+mn-ea"/>
                  <a:cs typeface="+mn-cs"/>
                </a:rPr>
                <a:t>3초 만에 입장 완료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7547" y="4609624"/>
              <a:ext cx="16077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로그인/가입 없이 즉시 참여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7547" y="4847749"/>
              <a:ext cx="16267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PWA 캐시로 오프라인 구동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7547" y="5085874"/>
              <a:ext cx="13074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작성 완료율 91% 기록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486150" y="1619250"/>
              <a:ext cx="2476500" cy="3905250"/>
            </a:xfrm>
            <a:prstGeom prst="roundRect">
              <a:avLst>
                <a:gd name="adj" fmla="val 5385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3486150" y="1619250"/>
              <a:ext cx="247650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671697" y="1847374"/>
              <a:ext cx="139825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STEP 2 · 탐색 (실시간)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669030" y="2076450"/>
              <a:ext cx="15409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현장 실시간 로비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3676650" y="2428875"/>
              <a:ext cx="2095500" cy="2000250"/>
            </a:xfrm>
            <a:prstGeom prst="roundRect">
              <a:avLst>
                <a:gd name="adj" fmla="val 381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3819525" y="2571750"/>
              <a:ext cx="1809750" cy="266700"/>
            </a:xfrm>
            <a:prstGeom prst="roundRect">
              <a:avLst>
                <a:gd name="adj" fmla="val 14286"/>
              </a:avLst>
            </a:prstGeom>
            <a:solidFill>
              <a:srgbClr val="0F172A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3914775" y="2667000"/>
              <a:ext cx="76200" cy="76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071747" y="2647474"/>
              <a:ext cx="13220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현재 참여자 46명 접속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819525" y="2933700"/>
              <a:ext cx="1809750" cy="428625"/>
            </a:xfrm>
            <a:prstGeom prst="roundRect">
              <a:avLst>
                <a:gd name="adj" fmla="val 8889"/>
              </a:avLst>
            </a:prstGeom>
            <a:solidFill>
              <a:srgbClr val="13241F"/>
            </a:solidFill>
            <a:ln w="9525">
              <a:solidFill>
                <a:srgbClr val="1F4D3C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947922" y="3009424"/>
              <a:ext cx="11543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강민서 (Go/인프라)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947922" y="3161824"/>
              <a:ext cx="14393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상보성 96% 매칭 파트너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819525" y="3429000"/>
              <a:ext cx="1809750" cy="428625"/>
            </a:xfrm>
            <a:prstGeom prst="roundRect">
              <a:avLst>
                <a:gd name="adj" fmla="val 8889"/>
              </a:avLst>
            </a:prstGeom>
            <a:solidFill>
              <a:srgbClr val="0F172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947922" y="3504724"/>
              <a:ext cx="11065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박준영 (프론트/UI)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947922" y="3657124"/>
              <a:ext cx="14393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상보성 84% 매칭 파트너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671697" y="4609624"/>
              <a:ext cx="14391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실시간 상보성 순위 정렬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671697" y="4847749"/>
              <a:ext cx="17762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내 고민 해결자 상단 자동 배치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671697" y="5085874"/>
              <a:ext cx="11901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현장 접점 37건 생성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19825" y="1619250"/>
              <a:ext cx="2476500" cy="3905250"/>
            </a:xfrm>
            <a:prstGeom prst="roundRect">
              <a:avLst>
                <a:gd name="adj" fmla="val 5385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19825" y="1619250"/>
              <a:ext cx="2476500" cy="381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05372" y="1847374"/>
              <a:ext cx="13178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STEP 3 · 감지 (1.5초)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02705" y="2076450"/>
              <a:ext cx="18777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1.5초 접점 대화 시트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410325" y="2428875"/>
              <a:ext cx="2095500" cy="2000250"/>
            </a:xfrm>
            <a:prstGeom prst="roundRect">
              <a:avLst>
                <a:gd name="adj" fmla="val 3810"/>
              </a:avLst>
            </a:prstGeom>
            <a:solidFill>
              <a:srgbClr val="1E293B"/>
            </a:solidFill>
            <a:ln w="11430">
              <a:solidFill>
                <a:schemeClr val="accent3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553200" y="2571750"/>
              <a:ext cx="1809750" cy="228600"/>
            </a:xfrm>
            <a:prstGeom prst="roundRect">
              <a:avLst>
                <a:gd name="adj" fmla="val 16667"/>
              </a:avLst>
            </a:prstGeom>
            <a:solidFill>
              <a:srgbClr val="241B35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97468" y="2618899"/>
              <a:ext cx="13212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⚡ 5m 이내 조우 감지!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548247" y="2923699"/>
              <a:ext cx="14024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민서 님과 마주쳤습니다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553200" y="3143250"/>
              <a:ext cx="1809750" cy="523875"/>
            </a:xfrm>
            <a:prstGeom prst="roundRect">
              <a:avLst>
                <a:gd name="adj" fmla="val 7273"/>
              </a:avLst>
            </a:prstGeom>
            <a:solidFill>
              <a:srgbClr val="0F172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643497" y="3228499"/>
              <a:ext cx="13943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💡 추천 대화 시작 멘트: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43497" y="3438049"/>
              <a:ext cx="1510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"소켓 이벤트 루프 고민..."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553200" y="3857625"/>
              <a:ext cx="1809750" cy="323850"/>
            </a:xfrm>
            <a:prstGeom prst="roundRect">
              <a:avLst>
                <a:gd name="adj" fmla="val 17647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826505" y="3961924"/>
              <a:ext cx="12631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인사 건네기 (핑 전송)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405372" y="4609624"/>
              <a:ext cx="14391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첫마디 어색함 완벽 제거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405372" y="4847749"/>
              <a:ext cx="17029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상대방의 관심사와 즉시 연결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405372" y="5085874"/>
              <a:ext cx="11169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대화 성사율 64.8%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8953500" y="1619250"/>
              <a:ext cx="2476500" cy="3905250"/>
            </a:xfrm>
            <a:prstGeom prst="roundRect">
              <a:avLst>
                <a:gd name="adj" fmla="val 5385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8953500" y="1619250"/>
              <a:ext cx="2476500" cy="381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139047" y="1847374"/>
              <a:ext cx="12730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STEP 4 · 연결 (P2P)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136380" y="2076450"/>
              <a:ext cx="15669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BLE 로컬 레이더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9144000" y="2428875"/>
              <a:ext cx="2095500" cy="2000250"/>
            </a:xfrm>
            <a:prstGeom prst="roundRect">
              <a:avLst>
                <a:gd name="adj" fmla="val 381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61" name="Ellipse 61"/>
            <p:cNvSpPr/>
            <p:nvPr/>
          </p:nvSpPr>
          <p:spPr>
            <a:xfrm>
              <a:off x="9620250" y="2667000"/>
              <a:ext cx="1143000" cy="1143000"/>
            </a:xfrm>
            <a:prstGeom prst="ellipse">
              <a:avLst/>
            </a:prstGeom>
            <a:noFill/>
            <a:ln w="14288">
              <a:solidFill>
                <a:srgbClr val="1F4D3C"/>
              </a:solidFill>
            </a:ln>
          </p:spPr>
        </p:sp>
        <p:sp>
          <p:nvSpPr>
            <p:cNvPr id="62" name="Ellipse 62"/>
            <p:cNvSpPr/>
            <p:nvPr/>
          </p:nvSpPr>
          <p:spPr>
            <a:xfrm>
              <a:off x="9810750" y="2857500"/>
              <a:ext cx="762000" cy="762000"/>
            </a:xfrm>
            <a:prstGeom prst="ellipse">
              <a:avLst/>
            </a:prstGeom>
            <a:noFill/>
            <a:ln w="14288">
              <a:solidFill>
                <a:srgbClr val="1F4D3C"/>
              </a:solidFill>
            </a:ln>
          </p:spPr>
        </p:sp>
        <p:sp>
          <p:nvSpPr>
            <p:cNvPr id="63" name="Ellipse 63"/>
            <p:cNvSpPr/>
            <p:nvPr/>
          </p:nvSpPr>
          <p:spPr>
            <a:xfrm>
              <a:off x="10001250" y="3048000"/>
              <a:ext cx="381000" cy="381000"/>
            </a:xfrm>
            <a:prstGeom prst="ellipse">
              <a:avLst/>
            </a:prstGeom>
            <a:noFill/>
            <a:ln w="14288">
              <a:solidFill>
                <a:schemeClr val="accent1"/>
              </a:solidFill>
            </a:ln>
          </p:spPr>
        </p:sp>
        <p:sp>
          <p:nvSpPr>
            <p:cNvPr id="64" name="Ellipse 64"/>
            <p:cNvSpPr/>
            <p:nvPr/>
          </p:nvSpPr>
          <p:spPr>
            <a:xfrm>
              <a:off x="10144125" y="3190875"/>
              <a:ext cx="95250" cy="952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5" name="Ellipse 65"/>
            <p:cNvSpPr/>
            <p:nvPr/>
          </p:nvSpPr>
          <p:spPr>
            <a:xfrm>
              <a:off x="10344150" y="3057525"/>
              <a:ext cx="76200" cy="76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10453497" y="3018949"/>
              <a:ext cx="6989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민서 (3.2m)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9915525" y="3438525"/>
              <a:ext cx="76200" cy="762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9615297" y="3514249"/>
              <a:ext cx="691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준영 (4.8m)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508768" y="4133374"/>
              <a:ext cx="13659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5m 반경 레이더 활성화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139047" y="4609624"/>
              <a:ext cx="16401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Web Bluetooth / BLE 비콘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139047" y="4847749"/>
              <a:ext cx="16664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배터리 소모 2% 미만 최적화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139047" y="5085874"/>
              <a:ext cx="1539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위치 추적 없는 로컬 RSSI</a:t>
              </a:r>
            </a:p>
          </p:txBody>
        </p:sp>
      </p:grpSp>
      <p:grpSp>
        <p:nvGrpSpPr>
          <p:cNvPr id="77" name="bottom-summary-bar"/>
          <p:cNvGrpSpPr/>
          <p:nvPr/>
        </p:nvGrpSpPr>
        <p:grpSpPr>
          <a:xfrm>
            <a:off x="762000" y="5762625"/>
            <a:ext cx="10668000" cy="552450"/>
            <a:chOff x="762000" y="5762625"/>
            <a:chExt cx="10668000" cy="552450"/>
          </a:xfrm>
        </p:grpSpPr>
        <p:sp>
          <p:nvSpPr>
            <p:cNvPr id="74" name="Rectangle 74"/>
            <p:cNvSpPr/>
            <p:nvPr/>
          </p:nvSpPr>
          <p:spPr>
            <a:xfrm>
              <a:off x="762000" y="5762625"/>
              <a:ext cx="10668000" cy="552450"/>
            </a:xfrm>
            <a:prstGeom prst="roundRect">
              <a:avLst>
                <a:gd name="adj" fmla="val 17241"/>
              </a:avLst>
            </a:prstGeom>
            <a:solidFill>
              <a:srgbClr val="131B2E"/>
            </a:solidFill>
            <a:ln w="9525">
              <a:solidFill>
                <a:schemeClr val="accent2"/>
              </a:solidFill>
            </a:ln>
          </p:spPr>
        </p:sp>
        <p:sp>
          <p:nvSpPr>
            <p:cNvPr id="75" name="Ellipse 75"/>
            <p:cNvSpPr/>
            <p:nvPr/>
          </p:nvSpPr>
          <p:spPr>
            <a:xfrm>
              <a:off x="981075" y="5972175"/>
              <a:ext cx="133350" cy="1333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1232154" y="5956935"/>
              <a:ext cx="64805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UX 핵심: 앱 다운로드 없음 · 개인정보 수집 없음 · 5m 내 마주칠 때만 1.5초 대화 힌트 제공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-group"/>
          <p:cNvGrpSpPr/>
          <p:nvPr/>
        </p:nvGrpSpPr>
        <p:grpSpPr>
          <a:xfrm>
            <a:off x="749808" y="428625"/>
            <a:ext cx="8498827" cy="962406"/>
            <a:chOff x="749808" y="428625"/>
            <a:chExt cx="8498827" cy="962406"/>
          </a:xfrm>
        </p:grpSpPr>
        <p:sp>
          <p:nvSpPr>
            <p:cNvPr id="2" name="Rectangle 2"/>
            <p:cNvSpPr/>
            <p:nvPr/>
          </p:nvSpPr>
          <p:spPr>
            <a:xfrm>
              <a:off x="762000" y="428625"/>
              <a:ext cx="2286000" cy="2476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11430">
              <a:solidFill>
                <a:schemeClr val="accent1"/>
              </a:solidFill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909447" y="485299"/>
              <a:ext cx="26447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75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05. ENGINEERING ARCHITECTURE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9808" y="741045"/>
              <a:ext cx="849882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프라이버시 우선, 가벼운 로컬 BLE &amp; In-Memory 아키텍처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55904" y="1156335"/>
              <a:ext cx="6345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GPS 위치 추적과 영구 DB 저장을 완전히 배제한 제로 리텐션(Zero-Retention) 기술 설계</a:t>
              </a:r>
            </a:p>
          </p:txBody>
        </p:sp>
      </p:grpSp>
      <p:grpSp>
        <p:nvGrpSpPr>
          <p:cNvPr id="41" name="architecture-panels"/>
          <p:cNvGrpSpPr/>
          <p:nvPr/>
        </p:nvGrpSpPr>
        <p:grpSpPr>
          <a:xfrm>
            <a:off x="762000" y="1571625"/>
            <a:ext cx="10668000" cy="4000500"/>
            <a:chOff x="762000" y="1571625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1571625"/>
              <a:ext cx="5143500" cy="4000500"/>
            </a:xfrm>
            <a:prstGeom prst="roundRect">
              <a:avLst>
                <a:gd name="adj" fmla="val 3333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571625"/>
              <a:ext cx="5143500" cy="47625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1857375"/>
              <a:ext cx="1714500" cy="266700"/>
            </a:xfrm>
            <a:prstGeom prst="roundRect">
              <a:avLst>
                <a:gd name="adj" fmla="val 2142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85672" y="1933099"/>
              <a:ext cx="13187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CLIENT-SIDE EDGE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39368" y="2250758"/>
              <a:ext cx="29374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Web Bluetooth &amp; PWA 엔진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047750" y="2619375"/>
              <a:ext cx="4572000" cy="57150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2D374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32154" y="2727960"/>
              <a:ext cx="23763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Web Bluetooth / BLE 비콘 감지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33297" y="2961799"/>
              <a:ext cx="32853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브라우저 네이티브 API로 5m 반경 RSSI 신호 강도 추정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047750" y="3286125"/>
              <a:ext cx="4572000" cy="57150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2D374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232154" y="3394710"/>
              <a:ext cx="30851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배터리 최적화 듀티 사이클링 (Duty Cycle)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33297" y="3628549"/>
              <a:ext cx="35210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30초 주기 간헐적 스캔으로 1시간 배터리 소모 2% 미만 억제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47750" y="3952875"/>
              <a:ext cx="4572000" cy="57150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2D374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232154" y="4061460"/>
              <a:ext cx="25309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PWA 오프라인 캐시 &amp; 반응성 보장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233297" y="4295299"/>
              <a:ext cx="29712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행사장 Wi-Fi 음영 지역에서도 즉시 UI 렌더링 유지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47750" y="4667250"/>
              <a:ext cx="4572000" cy="714375"/>
            </a:xfrm>
            <a:prstGeom prst="roundRect">
              <a:avLst>
                <a:gd name="adj" fmla="val 10667"/>
              </a:avLst>
            </a:prstGeom>
            <a:solidFill>
              <a:srgbClr val="13202E"/>
            </a:solidFill>
            <a:ln w="9525">
              <a:solidFill>
                <a:srgbClr val="1F3D5C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232535" y="4783931"/>
              <a:ext cx="2171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프라이버시 보장 1: GPS 미수집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33297" y="5019199"/>
              <a:ext cx="41070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위치 좌표를 서버에 일체 전송하지 않고 오직 기기 간 근접 여부만 판정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1571625"/>
              <a:ext cx="5143500" cy="4000500"/>
            </a:xfrm>
            <a:prstGeom prst="roundRect">
              <a:avLst>
                <a:gd name="adj" fmla="val 3333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571625"/>
              <a:ext cx="5143500" cy="47625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572250" y="1857375"/>
              <a:ext cx="1714500" cy="266700"/>
            </a:xfrm>
            <a:prstGeom prst="roundRect">
              <a:avLst>
                <a:gd name="adj" fmla="val 2142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710172" y="1933099"/>
              <a:ext cx="15587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BACKEND IN-MEMORY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63868" y="2250758"/>
              <a:ext cx="284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FastAPI &amp; 제로 리텐션 엔진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572250" y="2619375"/>
              <a:ext cx="4572000" cy="57150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2D374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56654" y="2727960"/>
              <a:ext cx="30729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In-Memory 세션 관리 (No Persistent DB)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757797" y="2961799"/>
              <a:ext cx="33874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디스크에 어떤 개인 데이터도 쓰지 않는 휘발성 RAM 처리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572250" y="3286125"/>
              <a:ext cx="4572000" cy="57150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2D374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56654" y="3394710"/>
              <a:ext cx="20135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행사 종료 시 즉시 영구 파기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57797" y="3628549"/>
              <a:ext cx="3748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세션 만료 또는 주최자 종료 시 인메모리 데이터 100% 자동 소멸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572250" y="3952875"/>
              <a:ext cx="4572000" cy="57150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2D3748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56654" y="4061460"/>
              <a:ext cx="2042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개인식별정보(PII) 제로 정책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57797" y="4295299"/>
              <a:ext cx="35060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이메일, 비밀번호, 전화번호 없이 임의 닉네임과 고민만 활용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572250" y="4667250"/>
              <a:ext cx="4572000" cy="714375"/>
            </a:xfrm>
            <a:prstGeom prst="roundRect">
              <a:avLst>
                <a:gd name="adj" fmla="val 10667"/>
              </a:avLst>
            </a:prstGeom>
            <a:solidFill>
              <a:srgbClr val="13241F"/>
            </a:solidFill>
            <a:ln w="9525">
              <a:solidFill>
                <a:srgbClr val="1F4D3C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57035" y="4783931"/>
              <a:ext cx="2382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프라이버시 보장 2: 유출 리스크 0%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57797" y="5019199"/>
              <a:ext cx="36630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DB가 존재하지 않으므로 해킹이나 외부 유출 위험을 원천 차단</a:t>
              </a:r>
            </a:p>
          </p:txBody>
        </p:sp>
      </p:grpSp>
      <p:grpSp>
        <p:nvGrpSpPr>
          <p:cNvPr id="48" name="bottom-metric-badges"/>
          <p:cNvGrpSpPr/>
          <p:nvPr/>
        </p:nvGrpSpPr>
        <p:grpSpPr>
          <a:xfrm>
            <a:off x="762000" y="5762625"/>
            <a:ext cx="10668000" cy="552450"/>
            <a:chOff x="762000" y="5762625"/>
            <a:chExt cx="10668000" cy="552450"/>
          </a:xfrm>
        </p:grpSpPr>
        <p:sp>
          <p:nvSpPr>
            <p:cNvPr id="42" name="Rectangle 42"/>
            <p:cNvSpPr/>
            <p:nvPr/>
          </p:nvSpPr>
          <p:spPr>
            <a:xfrm>
              <a:off x="762000" y="5762625"/>
              <a:ext cx="10668000" cy="552450"/>
            </a:xfrm>
            <a:prstGeom prst="roundRect">
              <a:avLst>
                <a:gd name="adj" fmla="val 17241"/>
              </a:avLst>
            </a:prstGeom>
            <a:solidFill>
              <a:srgbClr val="131B2E"/>
            </a:solidFill>
            <a:ln w="9525">
              <a:solidFill>
                <a:schemeClr val="accent1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136904" y="5956935"/>
              <a:ext cx="16055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배터리 소모 &lt; 2% / 1h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613404" y="5956935"/>
              <a:ext cx="541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|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994404" y="5956935"/>
              <a:ext cx="28963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개인정보 유출 리스크 0% (No-DB 설계)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804404" y="5956935"/>
              <a:ext cx="541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|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85404" y="5956935"/>
              <a:ext cx="21531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상보성 연산 지연시간 &lt; 50ms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-group"/>
          <p:cNvGrpSpPr/>
          <p:nvPr/>
        </p:nvGrpSpPr>
        <p:grpSpPr>
          <a:xfrm>
            <a:off x="749808" y="428625"/>
            <a:ext cx="6425433" cy="962406"/>
            <a:chOff x="749808" y="428625"/>
            <a:chExt cx="6425433" cy="962406"/>
          </a:xfrm>
        </p:grpSpPr>
        <p:sp>
          <p:nvSpPr>
            <p:cNvPr id="2" name="Rectangle 2"/>
            <p:cNvSpPr/>
            <p:nvPr/>
          </p:nvSpPr>
          <p:spPr>
            <a:xfrm>
              <a:off x="762000" y="428625"/>
              <a:ext cx="2286000" cy="2476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11430">
              <a:solidFill>
                <a:schemeClr val="accent1"/>
              </a:solidFill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909447" y="485299"/>
              <a:ext cx="269405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75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06. TRACTION &amp; BUSINESS MODEL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9808" y="741045"/>
              <a:ext cx="642543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현장 검증 결과와 B2B 이벤트 비즈니스 모델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55904" y="1156335"/>
              <a:ext cx="63890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실제 코쓱톤 참가자 46명 세션에서 입증된 놀라운 인터랙션 지표와 주최자 B2B 수익 구조</a:t>
              </a:r>
            </a:p>
          </p:txBody>
        </p:sp>
      </p:grpSp>
      <p:grpSp>
        <p:nvGrpSpPr>
          <p:cNvPr id="27" name="kpi-cards"/>
          <p:cNvGrpSpPr/>
          <p:nvPr/>
        </p:nvGrpSpPr>
        <p:grpSpPr>
          <a:xfrm>
            <a:off x="762000" y="1571625"/>
            <a:ext cx="10668000" cy="1428750"/>
            <a:chOff x="762000" y="1571625"/>
            <a:chExt cx="10668000" cy="1428750"/>
          </a:xfrm>
        </p:grpSpPr>
        <p:sp>
          <p:nvSpPr>
            <p:cNvPr id="7" name="Rectangle 7"/>
            <p:cNvSpPr/>
            <p:nvPr/>
          </p:nvSpPr>
          <p:spPr>
            <a:xfrm>
              <a:off x="762000" y="1571625"/>
              <a:ext cx="2476500" cy="1428750"/>
            </a:xfrm>
            <a:prstGeom prst="roundRect">
              <a:avLst>
                <a:gd name="adj" fmla="val 9333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571625"/>
              <a:ext cx="2476500" cy="381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95172" y="1799749"/>
              <a:ext cx="9540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QR 세션 입장율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1837" y="2087880"/>
              <a:ext cx="1006615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71%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95172" y="2704624"/>
              <a:ext cx="18464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기존 앱(58%) 대비 +13%p 상회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1571625"/>
              <a:ext cx="2476500" cy="1428750"/>
            </a:xfrm>
            <a:prstGeom prst="roundRect">
              <a:avLst>
                <a:gd name="adj" fmla="val 9333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486150" y="1571625"/>
              <a:ext cx="247650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719322" y="1799749"/>
              <a:ext cx="11386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프로필 작성 완료율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5987" y="2087880"/>
              <a:ext cx="1006615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36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91%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719322" y="2704624"/>
              <a:ext cx="19230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30초 한 줄 입력으로 이탈 최소화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219825" y="1571625"/>
              <a:ext cx="2476500" cy="1428750"/>
            </a:xfrm>
            <a:prstGeom prst="roundRect">
              <a:avLst>
                <a:gd name="adj" fmla="val 9333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19825" y="1571625"/>
              <a:ext cx="2476500" cy="381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52997" y="1799749"/>
              <a:ext cx="11752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상보성 접점 추천 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39662" y="2087880"/>
              <a:ext cx="106031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36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37건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52997" y="2704624"/>
              <a:ext cx="18519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Need-Give 상호 보완 결합 성사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953500" y="1571625"/>
              <a:ext cx="2476500" cy="1428750"/>
            </a:xfrm>
            <a:prstGeom prst="roundRect">
              <a:avLst>
                <a:gd name="adj" fmla="val 9333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8953500" y="1571625"/>
              <a:ext cx="2476500" cy="381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186672" y="1799749"/>
              <a:ext cx="11752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실제 대화 전환 성사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173337" y="2087880"/>
              <a:ext cx="106031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24건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186672" y="2704624"/>
              <a:ext cx="17179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추천 대비 전환율 64.8% 달성</a:t>
              </a:r>
            </a:p>
          </p:txBody>
        </p:sp>
      </p:grpSp>
      <p:grpSp>
        <p:nvGrpSpPr>
          <p:cNvPr id="46" name="business-panels"/>
          <p:cNvGrpSpPr/>
          <p:nvPr/>
        </p:nvGrpSpPr>
        <p:grpSpPr>
          <a:xfrm>
            <a:off x="762000" y="3238500"/>
            <a:ext cx="10668000" cy="2333625"/>
            <a:chOff x="762000" y="3238500"/>
            <a:chExt cx="10668000" cy="2333625"/>
          </a:xfrm>
        </p:grpSpPr>
        <p:sp>
          <p:nvSpPr>
            <p:cNvPr id="28" name="Rectangle 28"/>
            <p:cNvSpPr/>
            <p:nvPr/>
          </p:nvSpPr>
          <p:spPr>
            <a:xfrm>
              <a:off x="762000" y="3238500"/>
              <a:ext cx="5143500" cy="2333625"/>
            </a:xfrm>
            <a:prstGeom prst="roundRect">
              <a:avLst>
                <a:gd name="adj" fmla="val 5714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762000" y="3238500"/>
              <a:ext cx="5143500" cy="381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1000125" y="3476625"/>
              <a:ext cx="1619250" cy="247650"/>
            </a:xfrm>
            <a:prstGeom prst="roundRect">
              <a:avLst>
                <a:gd name="adj" fmla="val 23077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138047" y="3533299"/>
              <a:ext cx="15821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B2B MONETIZATION 01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92505" y="3838575"/>
              <a:ext cx="32597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행사 주최자 라이선스 (Event SaaS)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94410" y="4212431"/>
              <a:ext cx="36072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건당 $199 (100명 미만 밋업) ~ $499 (대형 컨퍼런스)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94410" y="4498181"/>
              <a:ext cx="2421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주최자 전용 실시간 관제 콘솔 제공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94410" y="4783931"/>
              <a:ext cx="3367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참가자 입장률, 네트워킹 활성도 실시간 모니터링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95172" y="5133499"/>
              <a:ext cx="31438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글로벌 이벤트 테크 SaaS 대비 70% 저렴한 도입 비용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238500"/>
              <a:ext cx="5143500" cy="2333625"/>
            </a:xfrm>
            <a:prstGeom prst="roundRect">
              <a:avLst>
                <a:gd name="adj" fmla="val 5714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86500" y="3238500"/>
              <a:ext cx="514350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524625" y="3476625"/>
              <a:ext cx="1619250" cy="247650"/>
            </a:xfrm>
            <a:prstGeom prst="roundRect">
              <a:avLst>
                <a:gd name="adj" fmla="val 23077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62547" y="3533299"/>
              <a:ext cx="15821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B2B MONETIZATION 02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17005" y="3838575"/>
              <a:ext cx="31665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AI 네트워킹 성과 분석 PDF 보고서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518910" y="4212431"/>
              <a:ext cx="3602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행사 종료 후 스폰서/주최자용 성과 리포트 자동 생성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18910" y="4498181"/>
              <a:ext cx="37026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직군별 상보성 교류 히트맵 &amp; 부스 체류 인터랙션 분석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18910" y="4783931"/>
              <a:ext cx="3409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스폰서 기업 대상 맞춤형 후속 리포팅 패키지 판매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519672" y="5133499"/>
              <a:ext cx="25538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행사 ROI를 숫자로 입증하는 유일한 솔루션</a:t>
              </a:r>
            </a:p>
          </p:txBody>
        </p:sp>
      </p:grpSp>
      <p:grpSp>
        <p:nvGrpSpPr>
          <p:cNvPr id="50" name="bottom-takeaway"/>
          <p:cNvGrpSpPr/>
          <p:nvPr/>
        </p:nvGrpSpPr>
        <p:grpSpPr>
          <a:xfrm>
            <a:off x="762000" y="5762625"/>
            <a:ext cx="10668000" cy="552450"/>
            <a:chOff x="762000" y="5762625"/>
            <a:chExt cx="10668000" cy="552450"/>
          </a:xfrm>
        </p:grpSpPr>
        <p:sp>
          <p:nvSpPr>
            <p:cNvPr id="47" name="Rectangle 47"/>
            <p:cNvSpPr/>
            <p:nvPr/>
          </p:nvSpPr>
          <p:spPr>
            <a:xfrm>
              <a:off x="762000" y="5762625"/>
              <a:ext cx="10668000" cy="552450"/>
            </a:xfrm>
            <a:prstGeom prst="roundRect">
              <a:avLst>
                <a:gd name="adj" fmla="val 17241"/>
              </a:avLst>
            </a:prstGeom>
            <a:solidFill>
              <a:srgbClr val="131B2E"/>
            </a:solidFill>
            <a:ln w="9525">
              <a:solidFill>
                <a:schemeClr val="accent1"/>
              </a:solidFill>
            </a:ln>
          </p:spPr>
        </p:sp>
        <p:sp>
          <p:nvSpPr>
            <p:cNvPr id="48" name="Ellipse 48"/>
            <p:cNvSpPr/>
            <p:nvPr/>
          </p:nvSpPr>
          <p:spPr>
            <a:xfrm>
              <a:off x="981075" y="5972175"/>
              <a:ext cx="133350" cy="1333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232154" y="5956935"/>
              <a:ext cx="71708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수익성: 행사 1건당 $199~499 과금 구조로, 100개 행사 유치 시 연간 5천만 원 이상 안정적 매출 확보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-group"/>
          <p:cNvGrpSpPr/>
          <p:nvPr/>
        </p:nvGrpSpPr>
        <p:grpSpPr>
          <a:xfrm>
            <a:off x="749808" y="428625"/>
            <a:ext cx="6881281" cy="962406"/>
            <a:chOff x="749808" y="428625"/>
            <a:chExt cx="6881281" cy="962406"/>
          </a:xfrm>
        </p:grpSpPr>
        <p:sp>
          <p:nvSpPr>
            <p:cNvPr id="2" name="Rectangle 2"/>
            <p:cNvSpPr/>
            <p:nvPr/>
          </p:nvSpPr>
          <p:spPr>
            <a:xfrm>
              <a:off x="762000" y="428625"/>
              <a:ext cx="1905000" cy="2476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11430">
              <a:solidFill>
                <a:schemeClr val="accent2"/>
              </a:solidFill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63926" y="485299"/>
              <a:ext cx="19011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spc="75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07. MARKET EXPANSION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9808" y="741045"/>
              <a:ext cx="68812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해커톤에서 글로벌 컨퍼런스까지, 4대 시장 확장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55904" y="1156335"/>
              <a:ext cx="60395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오프라인에서 사람이 모이는 모든 공간에 Bside의 근거리 상보성 엔진이 적용됩니다.</a:t>
              </a:r>
            </a:p>
          </p:txBody>
        </p:sp>
      </p:grpSp>
      <p:grpSp>
        <p:nvGrpSpPr>
          <p:cNvPr id="39" name="vertical-tiles"/>
          <p:cNvGrpSpPr/>
          <p:nvPr/>
        </p:nvGrpSpPr>
        <p:grpSpPr>
          <a:xfrm>
            <a:off x="762000" y="1571625"/>
            <a:ext cx="10668000" cy="4000500"/>
            <a:chOff x="762000" y="1571625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1571625"/>
              <a:ext cx="5143500" cy="1905000"/>
            </a:xfrm>
            <a:prstGeom prst="roundRect">
              <a:avLst>
                <a:gd name="adj" fmla="val 7000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571625"/>
              <a:ext cx="5143500" cy="381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000125" y="1762125"/>
              <a:ext cx="1524000" cy="247650"/>
            </a:xfrm>
            <a:prstGeom prst="roundRect">
              <a:avLst>
                <a:gd name="adj" fmla="val 23077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38047" y="1818799"/>
              <a:ext cx="15888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VERTICAL 01 · 검증 완료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92505" y="2124075"/>
              <a:ext cx="23955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IT 컨퍼런스 &amp; 연합 해커톤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94410" y="2497931"/>
              <a:ext cx="33424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즉석 팀 빌딩: 백엔드 ↔ 프론트 ↔ 디자이너 결합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94410" y="2783681"/>
              <a:ext cx="3501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멘토-멘티 매칭: 기술 질문 보유자와 현직 멘토 연결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95172" y="3133249"/>
              <a:ext cx="275125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코쓱톤 46명 참가자 현장에서 효용성 즉시 검증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1571625"/>
              <a:ext cx="5143500" cy="1905000"/>
            </a:xfrm>
            <a:prstGeom prst="roundRect">
              <a:avLst>
                <a:gd name="adj" fmla="val 7000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286500" y="1571625"/>
              <a:ext cx="514350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524625" y="1762125"/>
              <a:ext cx="1524000" cy="247650"/>
            </a:xfrm>
            <a:prstGeom prst="roundRect">
              <a:avLst>
                <a:gd name="adj" fmla="val 23077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662547" y="1818799"/>
              <a:ext cx="15888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VERTICAL 02 · 채용 연계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17005" y="2124075"/>
              <a:ext cx="24047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기업 채용 박람회 &amp; 잡페어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518910" y="2497931"/>
              <a:ext cx="35683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구직자(이력/고민) ↔ 채용 담당자(인재상) 상보 매칭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18910" y="2783681"/>
              <a:ext cx="36356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부스 앞 줄서기 대신, 5m 내 타깃 구직자 조우 시 알림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19672" y="3133249"/>
              <a:ext cx="266326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단순 홍보물 배포를 1:1 심층 커피챗으로 전환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67125"/>
              <a:ext cx="5143500" cy="1905000"/>
            </a:xfrm>
            <a:prstGeom prst="roundRect">
              <a:avLst>
                <a:gd name="adj" fmla="val 7000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2000" y="3667125"/>
              <a:ext cx="5143500" cy="381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1000125" y="3857625"/>
              <a:ext cx="1524000" cy="247650"/>
            </a:xfrm>
            <a:prstGeom prst="roundRect">
              <a:avLst>
                <a:gd name="adj" fmla="val 23077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138047" y="3914299"/>
              <a:ext cx="181610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VERTICAL 03 · 엔터프라이즈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92505" y="4219575"/>
              <a:ext cx="28647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기업 사내 온보딩 &amp; 전사 워크숍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4410" y="4593431"/>
              <a:ext cx="31637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신규 입사자 온보딩: 부서 간 사일로(Silo) 타파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94410" y="4879181"/>
              <a:ext cx="32586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업무 질문자 ↔ 사내 도메인 전문가 비대칭 매핑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5172" y="5228749"/>
              <a:ext cx="20403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사내 네트워킹 안착 시간 60% 단축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67125"/>
              <a:ext cx="5143500" cy="1905000"/>
            </a:xfrm>
            <a:prstGeom prst="roundRect">
              <a:avLst>
                <a:gd name="adj" fmla="val 7000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86500" y="3667125"/>
              <a:ext cx="5143500" cy="381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524625" y="3857625"/>
              <a:ext cx="1524000" cy="247650"/>
            </a:xfrm>
            <a:prstGeom prst="roundRect">
              <a:avLst>
                <a:gd name="adj" fmla="val 23077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662547" y="3914299"/>
              <a:ext cx="15522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VERTICAL 04 · 아카데믹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17005" y="4219575"/>
              <a:ext cx="2146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대학 캠퍼스 &amp; 학술대회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18910" y="4593431"/>
              <a:ext cx="3359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학부생(관심 분야) ↔ 대학원 연구실 랩 투어 연결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18910" y="4879181"/>
              <a:ext cx="32241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89312" indent="-89312">
                <a:buClr>
                  <a:schemeClr val="dk1"/>
                </a:buClr>
                <a:buSzTx/>
                <a:buFontTx/>
                <a:buChar char="•"/>
              </a:pPr>
              <a:r>
                <a:rPr lang="ko-KR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다학제 융합 연구 파트너(AI ↔ 바이오 등) 매칭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19672" y="5228749"/>
              <a:ext cx="26045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대규모 학회 참가자의 실질적 공동 연구 촉진</a:t>
              </a:r>
            </a:p>
          </p:txBody>
        </p:sp>
      </p:grpSp>
      <p:grpSp>
        <p:nvGrpSpPr>
          <p:cNvPr id="43" name="bottom-market-banner"/>
          <p:cNvGrpSpPr/>
          <p:nvPr/>
        </p:nvGrpSpPr>
        <p:grpSpPr>
          <a:xfrm>
            <a:off x="762000" y="5762625"/>
            <a:ext cx="10668000" cy="552450"/>
            <a:chOff x="762000" y="5762625"/>
            <a:chExt cx="10668000" cy="552450"/>
          </a:xfrm>
        </p:grpSpPr>
        <p:sp>
          <p:nvSpPr>
            <p:cNvPr id="40" name="Rectangle 40"/>
            <p:cNvSpPr/>
            <p:nvPr/>
          </p:nvSpPr>
          <p:spPr>
            <a:xfrm>
              <a:off x="762000" y="5762625"/>
              <a:ext cx="10668000" cy="552450"/>
            </a:xfrm>
            <a:prstGeom prst="roundRect">
              <a:avLst>
                <a:gd name="adj" fmla="val 17241"/>
              </a:avLst>
            </a:prstGeom>
            <a:solidFill>
              <a:srgbClr val="131B2E"/>
            </a:solidFill>
            <a:ln w="9525">
              <a:solidFill>
                <a:schemeClr val="accent2"/>
              </a:solidFill>
            </a:ln>
          </p:spPr>
        </p:sp>
        <p:sp>
          <p:nvSpPr>
            <p:cNvPr id="41" name="Ellipse 41"/>
            <p:cNvSpPr/>
            <p:nvPr/>
          </p:nvSpPr>
          <p:spPr>
            <a:xfrm>
              <a:off x="981075" y="5972175"/>
              <a:ext cx="133350" cy="1333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232154" y="5956935"/>
              <a:ext cx="66576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시장 기회: 글로벌 B2B 이벤트 테크 시장 CAGR 23.4% 급성장 — 2028년 12조 원 규모 진입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-group"/>
          <p:cNvGrpSpPr/>
          <p:nvPr/>
        </p:nvGrpSpPr>
        <p:grpSpPr>
          <a:xfrm>
            <a:off x="749808" y="428625"/>
            <a:ext cx="8116094" cy="962406"/>
            <a:chOff x="749808" y="428625"/>
            <a:chExt cx="8116094" cy="962406"/>
          </a:xfrm>
        </p:grpSpPr>
        <p:sp>
          <p:nvSpPr>
            <p:cNvPr id="2" name="Rectangle 2"/>
            <p:cNvSpPr/>
            <p:nvPr/>
          </p:nvSpPr>
          <p:spPr>
            <a:xfrm>
              <a:off x="762000" y="428625"/>
              <a:ext cx="1428750" cy="2476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11430">
              <a:solidFill>
                <a:schemeClr val="accent1"/>
              </a:solidFill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941727" y="485299"/>
              <a:ext cx="10692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spc="75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08. ROADMAP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9808" y="741045"/>
              <a:ext cx="811609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실행 로드맵: PoC에서 글로벌 B2B 이벤트 테크 SaaS로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55904" y="1156335"/>
              <a:ext cx="64829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단단한 기술 검증을 시작으로 비즈니스 수익 모델과 글로벌 플랫폼으로 단계별 확장합니다.</a:t>
              </a:r>
            </a:p>
          </p:txBody>
        </p:sp>
      </p:grpSp>
      <p:grpSp>
        <p:nvGrpSpPr>
          <p:cNvPr id="55" name="roadmap-cards"/>
          <p:cNvGrpSpPr/>
          <p:nvPr/>
        </p:nvGrpSpPr>
        <p:grpSpPr>
          <a:xfrm>
            <a:off x="762000" y="1666875"/>
            <a:ext cx="10668000" cy="3857625"/>
            <a:chOff x="762000" y="1666875"/>
            <a:chExt cx="10668000" cy="3857625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3333750" cy="3857625"/>
            </a:xfrm>
            <a:prstGeom prst="roundRect">
              <a:avLst>
                <a:gd name="adj" fmla="val 4000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666875"/>
              <a:ext cx="3333750" cy="47625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000125" y="1905000"/>
              <a:ext cx="1428750" cy="247650"/>
            </a:xfrm>
            <a:prstGeom prst="roundRect">
              <a:avLst>
                <a:gd name="adj" fmla="val 23077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38047" y="1961674"/>
              <a:ext cx="17292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PHASE 1 · CURRENT (Q3)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91743" y="2250758"/>
              <a:ext cx="22105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v0.1 해커톤 PoC 실증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000125" y="2619375"/>
              <a:ext cx="2857500" cy="523875"/>
            </a:xfrm>
            <a:prstGeom prst="roundRect">
              <a:avLst>
                <a:gd name="adj" fmla="val 1090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137285" y="2717006"/>
              <a:ext cx="2255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모바일 웹 PWA 기반 초경량 진입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8047" y="2923699"/>
              <a:ext cx="16650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QR 스캔 3초 세션 참가 구현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000125" y="3238500"/>
              <a:ext cx="2857500" cy="523875"/>
            </a:xfrm>
            <a:prstGeom prst="roundRect">
              <a:avLst>
                <a:gd name="adj" fmla="val 1090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37285" y="3336131"/>
              <a:ext cx="1850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비대칭 상보성 AI 매칭 엔진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38047" y="3542824"/>
              <a:ext cx="18153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Need-Give 벡터 결합 매트릭스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00125" y="3857625"/>
              <a:ext cx="2857500" cy="523875"/>
            </a:xfrm>
            <a:prstGeom prst="roundRect">
              <a:avLst>
                <a:gd name="adj" fmla="val 1090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137285" y="3955256"/>
              <a:ext cx="14940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코쓱톤 현장 실증 완료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38047" y="4161949"/>
              <a:ext cx="17544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참가자 46명 대상 데이터 검증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00125" y="5000625"/>
              <a:ext cx="2857500" cy="304800"/>
            </a:xfrm>
            <a:prstGeom prst="roundRect">
              <a:avLst>
                <a:gd name="adj" fmla="val 18750"/>
              </a:avLst>
            </a:prstGeom>
            <a:solidFill>
              <a:srgbClr val="13241F"/>
            </a:solidFill>
            <a:ln w="9525">
              <a:solidFill>
                <a:srgbClr val="1F4D3C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431180" y="5095399"/>
              <a:ext cx="19953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달성 완료: 핵심 기술 가설 입증 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429125" y="1666875"/>
              <a:ext cx="3333750" cy="3857625"/>
            </a:xfrm>
            <a:prstGeom prst="roundRect">
              <a:avLst>
                <a:gd name="adj" fmla="val 4000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429125" y="1666875"/>
              <a:ext cx="3333750" cy="47625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667250" y="1905000"/>
              <a:ext cx="1428750" cy="247650"/>
            </a:xfrm>
            <a:prstGeom prst="roundRect">
              <a:avLst>
                <a:gd name="adj" fmla="val 23077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805172" y="1961674"/>
              <a:ext cx="12651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PHASE 2 · 2026 Q4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658868" y="2250758"/>
              <a:ext cx="22269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v0.2 B2B 주최자 콘솔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667250" y="2619375"/>
              <a:ext cx="2857500" cy="523875"/>
            </a:xfrm>
            <a:prstGeom prst="roundRect">
              <a:avLst>
                <a:gd name="adj" fmla="val 1090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804410" y="2717006"/>
              <a:ext cx="19463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주최자 실시간 관제 대시보드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805172" y="2923699"/>
              <a:ext cx="17762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참여율, 교류 밀도 실시간 차트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667250" y="3238500"/>
              <a:ext cx="2857500" cy="523875"/>
            </a:xfrm>
            <a:prstGeom prst="roundRect">
              <a:avLst>
                <a:gd name="adj" fmla="val 1090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804410" y="3336131"/>
              <a:ext cx="18678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AI 네트워킹 성과 분석 PDF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805172" y="3542824"/>
              <a:ext cx="20034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스폰서 및 주최자용 보고서 자동화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667250" y="3857625"/>
              <a:ext cx="2857500" cy="523875"/>
            </a:xfrm>
            <a:prstGeom prst="roundRect">
              <a:avLst>
                <a:gd name="adj" fmla="val 1090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804410" y="3955256"/>
              <a:ext cx="16867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멀티 세션 &amp; 룸 분할 지원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805172" y="4161949"/>
              <a:ext cx="18715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트랙별 독립 공간 네트워킹 운영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667250" y="5000625"/>
              <a:ext cx="2857500" cy="304800"/>
            </a:xfrm>
            <a:prstGeom prst="roundRect">
              <a:avLst>
                <a:gd name="adj" fmla="val 18750"/>
              </a:avLst>
            </a:prstGeom>
            <a:solidFill>
              <a:srgbClr val="13202E"/>
            </a:solidFill>
            <a:ln w="9525">
              <a:solidFill>
                <a:srgbClr val="1F3D5C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035723" y="5095399"/>
              <a:ext cx="21205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목표: B2B 유료 라이선스 10개 수주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096250" y="1666875"/>
              <a:ext cx="3333750" cy="3857625"/>
            </a:xfrm>
            <a:prstGeom prst="roundRect">
              <a:avLst>
                <a:gd name="adj" fmla="val 4000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8096250" y="1666875"/>
              <a:ext cx="3333750" cy="47625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8334375" y="1905000"/>
              <a:ext cx="1428750" cy="247650"/>
            </a:xfrm>
            <a:prstGeom prst="roundRect">
              <a:avLst>
                <a:gd name="adj" fmla="val 23077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472297" y="1961674"/>
              <a:ext cx="12573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PHASE 3 · 2027 H1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25993" y="2250758"/>
              <a:ext cx="23495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v0.3 네이티브 &amp; 글로벌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334375" y="2619375"/>
              <a:ext cx="2857500" cy="523875"/>
            </a:xfrm>
            <a:prstGeom prst="roundRect">
              <a:avLst>
                <a:gd name="adj" fmla="val 1090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71535" y="2717006"/>
              <a:ext cx="17731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네이티브 백그라운드 BLE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472297" y="2923699"/>
              <a:ext cx="20914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화면 꺼짐 상태에서도 5m 조우 알림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8334375" y="3238500"/>
              <a:ext cx="2857500" cy="523875"/>
            </a:xfrm>
            <a:prstGeom prst="roundRect">
              <a:avLst>
                <a:gd name="adj" fmla="val 1090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471535" y="3336131"/>
              <a:ext cx="1507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글로벌 다국어 AI 지원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472297" y="3542824"/>
              <a:ext cx="20401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영어/일본어 실시간 자동 번역 매칭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334375" y="3857625"/>
              <a:ext cx="2857500" cy="523875"/>
            </a:xfrm>
            <a:prstGeom prst="roundRect">
              <a:avLst>
                <a:gd name="adj" fmla="val 10909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471535" y="3955256"/>
              <a:ext cx="19044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1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대규모 컨퍼런스 클러스터링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472297" y="4161949"/>
              <a:ext cx="17877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1,000+ 명 동시 접속 분산 처리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334375" y="5000625"/>
              <a:ext cx="2857500" cy="304800"/>
            </a:xfrm>
            <a:prstGeom prst="roundRect">
              <a:avLst>
                <a:gd name="adj" fmla="val 18750"/>
              </a:avLst>
            </a:prstGeom>
            <a:solidFill>
              <a:srgbClr val="241B35"/>
            </a:solidFill>
            <a:ln w="9525">
              <a:solidFill>
                <a:srgbClr val="482F6D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739414" y="5095399"/>
              <a:ext cx="20474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ko-KR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목표: 글로벌 오프라인 이벤트 진출</a:t>
              </a:r>
            </a:p>
          </p:txBody>
        </p:sp>
      </p:grpSp>
      <p:grpSp>
        <p:nvGrpSpPr>
          <p:cNvPr id="59" name="bottom-execution-philosophy"/>
          <p:cNvGrpSpPr/>
          <p:nvPr/>
        </p:nvGrpSpPr>
        <p:grpSpPr>
          <a:xfrm>
            <a:off x="762000" y="5762625"/>
            <a:ext cx="10668000" cy="552450"/>
            <a:chOff x="762000" y="5762625"/>
            <a:chExt cx="10668000" cy="552450"/>
          </a:xfrm>
        </p:grpSpPr>
        <p:sp>
          <p:nvSpPr>
            <p:cNvPr id="56" name="Rectangle 56"/>
            <p:cNvSpPr/>
            <p:nvPr/>
          </p:nvSpPr>
          <p:spPr>
            <a:xfrm>
              <a:off x="762000" y="5762625"/>
              <a:ext cx="10668000" cy="552450"/>
            </a:xfrm>
            <a:prstGeom prst="roundRect">
              <a:avLst>
                <a:gd name="adj" fmla="val 17241"/>
              </a:avLst>
            </a:prstGeom>
            <a:solidFill>
              <a:srgbClr val="131B2E"/>
            </a:solidFill>
            <a:ln w="9525">
              <a:solidFill>
                <a:schemeClr val="accent1"/>
              </a:solidFill>
            </a:ln>
          </p:spPr>
        </p:sp>
        <p:sp>
          <p:nvSpPr>
            <p:cNvPr id="57" name="Ellipse 57"/>
            <p:cNvSpPr/>
            <p:nvPr/>
          </p:nvSpPr>
          <p:spPr>
            <a:xfrm>
              <a:off x="981075" y="5972175"/>
              <a:ext cx="133350" cy="1333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1232154" y="5956935"/>
              <a:ext cx="78470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실행 원칙: 현장에서 작게 검증하고 빠르게 고도화하여, 모든 오프라인 행사의 필수 네트워킹 인프라가 됩니다.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slide-background"/>
          <p:cNvGrpSpPr/>
          <p:nvPr/>
        </p:nvGrpSpPr>
        <p:grpSpPr>
          <a:xfrm>
            <a:off x="0" y="-762000"/>
            <a:ext cx="12382500" cy="7905750"/>
            <a:chOff x="0" y="-762000"/>
            <a:chExt cx="12382500" cy="79057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" name="Ellipse 3"/>
            <p:cNvSpPr/>
            <p:nvPr/>
          </p:nvSpPr>
          <p:spPr>
            <a:xfrm>
              <a:off x="3238500" y="-762000"/>
              <a:ext cx="5715000" cy="5715000"/>
            </a:xfrm>
            <a:prstGeom prst="ellipse">
              <a:avLst/>
            </a:prstGeom>
            <a:solidFill>
              <a:srgbClr val="131B2E">
                <a:alpha val="50000"/>
              </a:srgbClr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8572500" y="3333750"/>
              <a:ext cx="3810000" cy="3810000"/>
            </a:xfrm>
            <a:prstGeom prst="ellipse">
              <a:avLst/>
            </a:prstGeom>
            <a:solidFill>
              <a:srgbClr val="1E293B">
                <a:alpha val="30000"/>
              </a:srgbClr>
            </a:solidFill>
            <a:ln>
              <a:noFill/>
            </a:ln>
          </p:spPr>
        </p:sp>
      </p:grpSp>
      <p:grpSp>
        <p:nvGrpSpPr>
          <p:cNvPr id="9" name="header-badge"/>
          <p:cNvGrpSpPr/>
          <p:nvPr/>
        </p:nvGrpSpPr>
        <p:grpSpPr>
          <a:xfrm>
            <a:off x="762000" y="523875"/>
            <a:ext cx="2476500" cy="285750"/>
            <a:chOff x="762000" y="523875"/>
            <a:chExt cx="2476500" cy="285750"/>
          </a:xfrm>
        </p:grpSpPr>
        <p:sp>
          <p:nvSpPr>
            <p:cNvPr id="6" name="Rectangle 6"/>
            <p:cNvSpPr/>
            <p:nvPr/>
          </p:nvSpPr>
          <p:spPr>
            <a:xfrm>
              <a:off x="762000" y="523875"/>
              <a:ext cx="2476500" cy="2857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14288">
              <a:solidFill>
                <a:schemeClr val="accent1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885825" y="619125"/>
              <a:ext cx="95250" cy="952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80897" y="609124"/>
              <a:ext cx="20721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75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VISION &amp; CALL TO ACTION</a:t>
              </a:r>
            </a:p>
          </p:txBody>
        </p:sp>
      </p:grpSp>
      <p:grpSp>
        <p:nvGrpSpPr>
          <p:cNvPr id="14" name="hero-statement"/>
          <p:cNvGrpSpPr/>
          <p:nvPr/>
        </p:nvGrpSpPr>
        <p:grpSpPr>
          <a:xfrm>
            <a:off x="753618" y="1047750"/>
            <a:ext cx="8480814" cy="1430465"/>
            <a:chOff x="753618" y="1047750"/>
            <a:chExt cx="8480814" cy="1430465"/>
          </a:xfrm>
        </p:grpSpPr>
        <p:sp>
          <p:nvSpPr>
            <p:cNvPr id="10" name="Rectangle 10"/>
            <p:cNvSpPr/>
            <p:nvPr/>
          </p:nvSpPr>
          <p:spPr>
            <a:xfrm>
              <a:off x="762000" y="1047750"/>
              <a:ext cx="76200" cy="809625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86409" y="1184910"/>
              <a:ext cx="6722151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7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"사람과 사람 사이, 가장 어려운 첫 마디를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86409" y="1613535"/>
              <a:ext cx="2946019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27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기술로 건넵니다."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3618" y="2155508"/>
              <a:ext cx="84808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가장 가까운 거리에서, 가장 필요한 상보성을 잇는 오프라인 네트워킹 플랫폼 — Bside</a:t>
              </a:r>
            </a:p>
          </p:txBody>
        </p:sp>
      </p:grpSp>
      <p:grpSp>
        <p:nvGrpSpPr>
          <p:cNvPr id="38" name="action-blocks"/>
          <p:cNvGrpSpPr/>
          <p:nvPr/>
        </p:nvGrpSpPr>
        <p:grpSpPr>
          <a:xfrm>
            <a:off x="762000" y="2762250"/>
            <a:ext cx="10668000" cy="2667000"/>
            <a:chOff x="762000" y="2762250"/>
            <a:chExt cx="10668000" cy="2667000"/>
          </a:xfrm>
        </p:grpSpPr>
        <p:sp>
          <p:nvSpPr>
            <p:cNvPr id="15" name="Rectangle 15"/>
            <p:cNvSpPr/>
            <p:nvPr/>
          </p:nvSpPr>
          <p:spPr>
            <a:xfrm>
              <a:off x="762000" y="2762250"/>
              <a:ext cx="5143500" cy="2667000"/>
            </a:xfrm>
            <a:prstGeom prst="roundRect">
              <a:avLst>
                <a:gd name="adj" fmla="val 5000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2762250"/>
              <a:ext cx="5143500" cy="381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047750" y="3000375"/>
              <a:ext cx="1238250" cy="247650"/>
            </a:xfrm>
            <a:prstGeom prst="roundRect">
              <a:avLst>
                <a:gd name="adj" fmla="val 23077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185672" y="3057049"/>
              <a:ext cx="7766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LIVE DEMO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39368" y="3393758"/>
              <a:ext cx="33116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지금 바로 현장에서 체험해보세요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1047750" y="3810000"/>
              <a:ext cx="952500" cy="952500"/>
            </a:xfrm>
            <a:prstGeom prst="roundRect">
              <a:avLst>
                <a:gd name="adj" fmla="val 8000"/>
              </a:avLst>
            </a:prstGeom>
            <a:solidFill>
              <a:srgbClr val="1E293B"/>
            </a:solidFill>
            <a:ln w="9525">
              <a:solidFill>
                <a:schemeClr val="accent1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1162050" y="3924300"/>
              <a:ext cx="285750" cy="285750"/>
            </a:xfrm>
            <a:prstGeom prst="roundRect">
              <a:avLst>
                <a:gd name="adj" fmla="val 133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1600200" y="3924300"/>
              <a:ext cx="285750" cy="285750"/>
            </a:xfrm>
            <a:prstGeom prst="roundRect">
              <a:avLst>
                <a:gd name="adj" fmla="val 133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1162050" y="4362450"/>
              <a:ext cx="285750" cy="285750"/>
            </a:xfrm>
            <a:prstGeom prst="roundRect">
              <a:avLst>
                <a:gd name="adj" fmla="val 133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647825" y="4410075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184654" y="3966210"/>
              <a:ext cx="19940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QR 스캔으로 3초 만에 참가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185797" y="4228624"/>
              <a:ext cx="28683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스토어 다운로드 없이 모바일 브라우저 즉시 접속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185797" y="4466749"/>
              <a:ext cx="27951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내 고민을 해결해줄 5m 내 참가자를 찾아보세요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42797" y="5085874"/>
              <a:ext cx="24138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🔗 github.com/lim010111/kosscchthon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2762250"/>
              <a:ext cx="5143500" cy="2667000"/>
            </a:xfrm>
            <a:prstGeom prst="roundRect">
              <a:avLst>
                <a:gd name="adj" fmla="val 5000"/>
              </a:avLst>
            </a:prstGeom>
            <a:solidFill>
              <a:schemeClr val="accent5"/>
            </a:solidFill>
            <a:ln w="14288">
              <a:solidFill>
                <a:srgbClr val="1F2937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86500" y="2762250"/>
              <a:ext cx="5143500" cy="381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572250" y="3000375"/>
              <a:ext cx="1238250" cy="247650"/>
            </a:xfrm>
            <a:prstGeom prst="roundRect">
              <a:avLst>
                <a:gd name="adj" fmla="val 23077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10172" y="3057049"/>
              <a:ext cx="8308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QUESTIONS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563868" y="3393758"/>
              <a:ext cx="16223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Q &amp; A 질의응답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66154" y="3918585"/>
              <a:ext cx="24533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경청해 주셔서 대단히 감사합니다.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66535" y="4212431"/>
              <a:ext cx="3038383" cy="458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ko-KR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알고리즘, BLE 거리 감지, B2B 비즈니스 모델 등</a:t>
              </a:r>
              <a:br/>
              <a:r>
                <a:rPr lang="ko-KR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어떤 질문이든 상세히 답변드리겠습니다.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6572250" y="4857750"/>
              <a:ext cx="4476750" cy="9525"/>
            </a:xfrm>
            <a:custGeom>
              <a:avLst/>
              <a:gdLst/>
              <a:ahLst/>
              <a:cxnLst/>
              <a:rect l="l" t="t" r="r" b="b"/>
              <a:pathLst>
                <a:path w="4476750" h="9525">
                  <a:moveTo>
                    <a:pt x="0" y="0"/>
                  </a:moveTo>
                  <a:lnTo>
                    <a:pt x="4476750" y="0"/>
                  </a:lnTo>
                </a:path>
              </a:pathLst>
            </a:custGeom>
            <a:noFill/>
            <a:ln w="9525">
              <a:solidFill>
                <a:srgbClr val="1F2937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67297" y="5085874"/>
              <a:ext cx="29989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ko-KR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팀 Bside | 국민대학교 · 숭실대학교 · 순천향대학교</a:t>
              </a:r>
            </a:p>
          </p:txBody>
        </p:sp>
      </p:grpSp>
      <p:grpSp>
        <p:nvGrpSpPr>
          <p:cNvPr id="42" name="footer-section"/>
          <p:cNvGrpSpPr/>
          <p:nvPr/>
        </p:nvGrpSpPr>
        <p:grpSpPr>
          <a:xfrm>
            <a:off x="757047" y="5715000"/>
            <a:ext cx="10677906" cy="466439"/>
            <a:chOff x="757047" y="5715000"/>
            <a:chExt cx="10677906" cy="466439"/>
          </a:xfrm>
        </p:grpSpPr>
        <p:sp>
          <p:nvSpPr>
            <p:cNvPr id="39" name="Line 39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1F2937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7047" y="5990749"/>
              <a:ext cx="25801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Bside — Connect with who's beside you.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723780" y="5990749"/>
              <a:ext cx="71117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Thank you.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bside_deck">
  <a:themeElements>
    <a:clrScheme name="bside_deck">
      <a:dk1>
        <a:srgbClr val="E2E8F0"/>
      </a:dk1>
      <a:lt1>
        <a:srgbClr val="090D16"/>
      </a:lt1>
      <a:dk2>
        <a:srgbClr val="1F497D"/>
      </a:dk2>
      <a:lt2>
        <a:srgbClr val="090D16"/>
      </a:lt2>
      <a:accent1>
        <a:srgbClr val="34D399"/>
      </a:accent1>
      <a:accent2>
        <a:srgbClr val="38BDF8"/>
      </a:accent2>
      <a:accent3>
        <a:srgbClr val="818CF8"/>
      </a:accent3>
      <a:accent4>
        <a:srgbClr val="34D399"/>
      </a:accent4>
      <a:accent5>
        <a:srgbClr val="111827"/>
      </a:accent5>
      <a:accent6>
        <a:srgbClr val="94A3B8"/>
      </a:accent6>
      <a:hlink>
        <a:srgbClr val="38BDF8"/>
      </a:hlink>
      <a:folHlink>
        <a:srgbClr val="818CF8"/>
      </a:folHlink>
    </a:clrScheme>
    <a:fontScheme name="bside_deck">
      <a:majorFont>
        <a:latin typeface="Arial"/>
        <a:ea typeface="Malgun Gothic"/>
        <a:cs typeface="Arial"/>
        <a:font script="Jpan" typeface="Malgun Gothic"/>
        <a:font script="Hang" typeface="Malgun Gothic"/>
        <a:font script="Hans" typeface="Malgun Gothic"/>
        <a:font script="Hant" typeface="Malgun Gothic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algun Gothic"/>
        <a:cs typeface="Arial"/>
        <a:font script="Jpan" typeface="Malgun Gothic"/>
        <a:font script="Hang" typeface="Malgun Gothic"/>
        <a:font script="Hans" typeface="Malgun Gothic"/>
        <a:font script="Hant" typeface="Malgun Gothic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side_de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bside_deck">
  <a:themeElements>
    <a:clrScheme name="bside_deck">
      <a:dk1>
        <a:srgbClr val="E2E8F0"/>
      </a:dk1>
      <a:lt1>
        <a:srgbClr val="090D16"/>
      </a:lt1>
      <a:dk2>
        <a:srgbClr val="1F497D"/>
      </a:dk2>
      <a:lt2>
        <a:srgbClr val="090D16"/>
      </a:lt2>
      <a:accent1>
        <a:srgbClr val="34D399"/>
      </a:accent1>
      <a:accent2>
        <a:srgbClr val="38BDF8"/>
      </a:accent2>
      <a:accent3>
        <a:srgbClr val="818CF8"/>
      </a:accent3>
      <a:accent4>
        <a:srgbClr val="34D399"/>
      </a:accent4>
      <a:accent5>
        <a:srgbClr val="111827"/>
      </a:accent5>
      <a:accent6>
        <a:srgbClr val="94A3B8"/>
      </a:accent6>
      <a:hlink>
        <a:srgbClr val="38BDF8"/>
      </a:hlink>
      <a:folHlink>
        <a:srgbClr val="818CF8"/>
      </a:folHlink>
    </a:clrScheme>
    <a:fontScheme name="bside_deck">
      <a:majorFont>
        <a:latin typeface="Arial"/>
        <a:ea typeface="Malgun Gothic"/>
        <a:cs typeface="Arial"/>
        <a:font script="Jpan" typeface="Malgun Gothic"/>
        <a:font script="Hang" typeface="Malgun Gothic"/>
        <a:font script="Hans" typeface="Malgun Gothic"/>
        <a:font script="Hant" typeface="Malgun Gothic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algun Gothic"/>
        <a:cs typeface="Arial"/>
        <a:font script="Jpan" typeface="Malgun Gothic"/>
        <a:font script="Hang" typeface="Malgun Gothic"/>
        <a:font script="Hans" typeface="Malgun Gothic"/>
        <a:font script="Hant" typeface="Malgun Gothic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side_de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ko-KR</dc:language>
  <cp:lastModifiedBy/>
  <cp:revision>1</cp:revision>
  <dcterms:created xsi:type="dcterms:W3CDTF">2026-09-19T12:28:48Z</dcterms:created>
  <dcterms:modified xsi:type="dcterms:W3CDTF">2026-09-19T12:28:48Z</dcterms:modified>
  <cp:category/>
  <cp:contentStatus/>
</cp:coreProperties>
</file>