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16x9"/>
  <p:notesSz cx="6858000" cy="9144000"/>
  <p:defaultTextStyle>
    <a:defPPr>
      <a:defRPr lang="ko-KR"/>
    </a:defPPr>
    <a:lvl1pPr marL="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  <Relationship Id="rId1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ko-KR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[00:00 ~ 00:30] Slide 01: 표지 — Hook &amp; Vision</a:t>
            </a:r>
          </a:p>
          <a:p>
            <a:pPr/>
            <a:r>
              <a:rPr lang="ko-KR" dirty="0"/>
              <a:t>"여러분, 오늘 해커톤 현장에 오셨을 때 어떠셨나요? 이렇게 많은 분들이 한 공간에 모여 있지만, 막상 먼저 다가가 말을 건네기는 정말 어렵지 않으셨습니까?</a:t>
            </a:r>
          </a:p>
          <a:p>
            <a:pPr/>
            <a:r>
              <a:rPr lang="ko-KR" dirty="0"/>
              <a:t>안녕하십니까, 행사장에서 혼자 스마트폰만 보던 경험을 기술로 바꾸는 팀, Bside입니다."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[00:30 ~ 01:10] Slide 02: 문제 정의 — The Dilemma</a:t>
            </a:r>
          </a:p>
          <a:p>
            <a:pPr/>
            <a:r>
              <a:rPr lang="ko-KR" dirty="0"/>
              <a:t>"네트워킹 시간이 주어져도 대부분 어색함을 피하려 스마트폰만 보게 됩니다. 다들 친해지고 싶지만, '누구에게, 어떤 첫마디를 건네야 할지' 그 구체적인 명분을 모르기 때문입니다.</a:t>
            </a:r>
          </a:p>
          <a:p>
            <a:pPr/>
            <a:r>
              <a:rPr lang="ko-KR" dirty="0"/>
              <a:t>그렇다고 기존 네트워킹 앱을 쓰자니, 현장에서 무거운 앱을 다운로드받고 긴 프로필을 적느라 다들 지쳐 이탈합니다. 게다가 어렵게 연결되어도 단순 직군이나 관심사만 같아서는 실질적인 대화로 이어지지 못합니다."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[01:10 ~ 01:50] Slide 03: 솔루션 — Frictionless 4-Steps</a:t>
            </a:r>
          </a:p>
          <a:p>
            <a:pPr/>
            <a:r>
              <a:rPr lang="ko-KR" dirty="0"/>
              <a:t>"Bside는 네트워킹의 모든 마찰을 없앴습니다.</a:t>
            </a:r>
          </a:p>
          <a:p>
            <a:pPr/>
            <a:r>
              <a:rPr lang="ko-KR" dirty="0"/>
              <a:t>첫째, 앱 다운로드가 전혀 없습니다. 테이블의 QR을 카메라로 비추면 3초 만에 웹으로 즉시 입장합니다.</a:t>
            </a:r>
          </a:p>
          <a:p>
            <a:pPr/>
            <a:r>
              <a:rPr lang="ko-KR" dirty="0"/>
              <a:t>둘째, 30초 한 줄 등록입니다. 내가 오늘 나눌 수 있는 지식(Give)과 지금 해결하고 싶은 고민(Need) 딱 한 줄만 적습니다.</a:t>
            </a:r>
          </a:p>
          <a:p>
            <a:pPr/>
            <a:r>
              <a:rPr lang="ko-KR" dirty="0"/>
              <a:t>셋째, 비대칭 상보성 매칭입니다. 나의 고민을 해결해줄 수 있는 상대를 AI가 실시간으로 분석합니다.</a:t>
            </a:r>
          </a:p>
          <a:p>
            <a:pPr/>
            <a:r>
              <a:rPr lang="ko-KR" dirty="0"/>
              <a:t>넷째, 5m 조우 감지입니다. 행사장을 걷다가 그 상대와 5m 안으로 가까워지는 순간, 첫마디 가이드와 함께 대화 시트가 팝업됩니다."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[01:50 ~ 02:35] Slide 04: 핵심 차별점 — Asymmetric Matching</a:t>
            </a:r>
          </a:p>
          <a:p>
            <a:pPr/>
            <a:r>
              <a:rPr lang="ko-KR" dirty="0"/>
              <a:t>"여기서 저희 Bside만의 핵심 알고리즘이 작동합니다. 왜 기존의 '관심사 기반 매칭'은 실패했을까요?</a:t>
            </a:r>
          </a:p>
          <a:p>
            <a:pPr/>
            <a:r>
              <a:rPr lang="ko-KR" dirty="0"/>
              <a:t>화면 좌측처럼 동일한 React 프론트 개발자 둘이 만나면, 서로 같은 인프라 배포 고민을 안고 있어 대화가 겉돌기 십상입니다.</a:t>
            </a:r>
          </a:p>
          <a:p>
            <a:pPr/>
            <a:r>
              <a:rPr lang="ko-KR" dirty="0"/>
              <a:t>반면 우측의 Bside 비대칭 상보성 매칭을 보십시오. 프론트 개발자의 배포 고민(Need)과 인프라 엔지니어의 Docker 지식(Give)이 교차 결합됩니다. '상대의 고민을 내가 즉시 해결해줄 수 있다'는 명분이 생기기 때문에, 어색함 없이 바로 깊이 있는 기술 대화가 시작됩니다."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[02:35 ~ 03:20] Slide 05: 실제 서비스 흐름 — Working MVP Demo</a:t>
            </a:r>
          </a:p>
          <a:p>
            <a:pPr/>
            <a:r>
              <a:rPr lang="ko-KR" dirty="0"/>
              <a:t>"이 기능들은 기획서 속 상상이 아닙니다. 지금 스마트폰 브라우저에서 바로 동작하는 Working MVP입니다.</a:t>
            </a:r>
          </a:p>
          <a:p>
            <a:pPr/>
            <a:r>
              <a:rPr lang="ko-KR" dirty="0"/>
              <a:t>화면의 실제 UI를 보시겠습니다. 참가자가 닉네임과 한 줄 Need/Give를 입력하면, 실시간 로비에 나와 상보성 점수가 높은 순으로 파트너가 정렬됩니다. 그리고 현장을 이동하다가 5m 내에 파트너가 접근하면, Web Bluetooth 레이더가 이를 감지하여 '추천 첫마디 가이드'가 담긴 접점 시트를 띄웁니다.</a:t>
            </a:r>
          </a:p>
          <a:p>
            <a:pPr/>
            <a:r>
              <a:rPr lang="ko-KR" dirty="0"/>
              <a:t>처음 만나는 사이라도 망설임 없이 '소켓 이벤트 루프 고민하고 계시죠?'라며 자연스럽게 인사를 건넬 수 있습니다."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[03:20 ~ 04:00] Slide 06: 기술 아키텍처 — Engineering &amp; Privacy</a:t>
            </a:r>
          </a:p>
          <a:p>
            <a:pPr/>
            <a:r>
              <a:rPr lang="ko-KR" dirty="0"/>
              <a:t>"엔지니어링 측면에서 저희가 집중한 가치는 '초경량'과 '철저한 프라이버시'입니다.</a:t>
            </a:r>
          </a:p>
          <a:p>
            <a:pPr/>
            <a:r>
              <a:rPr lang="ko-KR" dirty="0"/>
              <a:t>클라이언트는 Web Bluetooth API를 활용하여 별도 센서 없이 단말 간 RSSI 신호로 5m 거리를 추정하며, GPS 좌표는 절대 수집하지 않습니다.</a:t>
            </a:r>
          </a:p>
          <a:p>
            <a:pPr/>
            <a:r>
              <a:rPr lang="ko-KR" dirty="0"/>
              <a:t>백엔드는 FastAPI 기반의 완전한 In-Memory 세션 엔진으로 구동됩니다. 영구 데이터베이스(DB)를 아예 두지 않는 제로 리텐션(Zero-Retention) 구조이므로, 행사가 종료되면 참가자의 모든 세션 데이터는 물리적으로 즉시 영구 파기됩니다. 개인정보 유출 위험을 원천 차단한 가장 안전한 네트워킹 아키텍처입니다."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[04:00 ~ 04:35] Slide 07: 비즈니스 모델 — Monetization &amp; Value</a:t>
            </a:r>
          </a:p>
          <a:p>
            <a:pPr/>
            <a:r>
              <a:rPr lang="ko-KR" dirty="0"/>
              <a:t>"Bside의 비즈니스 모델은 행사를 여는 주최자를 향합니다. 행사의 성패는 결국 '참가자들이 얼마나 만족스럽게 교류했는가'에 달려있기 때문입니다.</a:t>
            </a:r>
          </a:p>
          <a:p>
            <a:pPr/>
            <a:r>
              <a:rPr lang="ko-KR" dirty="0"/>
              <a:t>주최자에게는 이벤트당 $199에서 $499의 라이선스로 전용 QR 세션과 실시간 관제 대시보드를 제공합니다. 또한 행사 종료 즉시, 스폰서 보고와 차기 행사 기획에 필수적인 '네트워킹 성과 분석 PDF 리포트'를 자동 발행합니다. No-DB 인메모리 기반으로 서버 고정비가 거의 들지 않아, 첫 고객부터 높은 영업이익을 실현할 수 있는 구조입니다."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[04:35 ~ 04:55] Slide 08~09: 시장 확장 및 로드맵 — Roadmap</a:t>
            </a:r>
          </a:p>
          <a:p>
            <a:pPr/>
            <a:r>
              <a:rPr lang="ko-KR" dirty="0"/>
              <a:t>"Bside는 해커톤을 시작으로, 기업 잡페어, 사내 온보딩, 대학 캠퍼스까지 사람이 모이는 모든 오프라인 접점으로 확장합니다.</a:t>
            </a:r>
          </a:p>
          <a:p>
            <a:pPr/>
            <a:r>
              <a:rPr lang="ko-KR" dirty="0"/>
              <a:t>이번 해커톤에서 핵심 MVP 구현을 완료했으며, 다음 단계로 주최자 관제 콘솔 고도화와 파트너 행사 파일럿 적용을 추진하여 오프라인 행사의 필수 네트워킹 인프라로 자리잡겠습니다."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[04:35 ~ 04:55] Slide 08~09: 시장 확장 및 로드맵 — Roadmap</a:t>
            </a:r>
          </a:p>
          <a:p>
            <a:pPr/>
            <a:r>
              <a:rPr lang="ko-KR" dirty="0"/>
              <a:t>"Bside는 현장에서 가볍게 검증하고 빠르게 고도화하는 린(Lean) 실행 전략을 취합니다. Phase 1 해커톤 MVP를 기반으로 Phase 2 주최자 콘솔 구축 및 파일럿 테스트를 거쳐, Phase 3 글로벌 이벤트 테크 플랫폼으로 스케일업해 나가겠습니다."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[04:55 ~ 05:15] Slide 10: 결론 및 비전 — Closing &amp; Call to Action</a:t>
            </a:r>
          </a:p>
          <a:p>
            <a:pPr/>
            <a:r>
              <a:rPr lang="ko-KR" dirty="0"/>
              <a:t>"'사람과 사람 사이, 가장 어려운 첫 마디를 기술로 건넵니다.'</a:t>
            </a:r>
          </a:p>
          <a:p>
            <a:pPr/>
            <a:r>
              <a:rPr lang="ko-KR" dirty="0"/>
              <a:t>내 바로 곁에 있는 가장 필요한 사람을 찾아주는 플랫폼, Bside였습니다. 화면의 QR 코드로 지금 바로 브라우저에서 체험해 보실 수 있습니다. 경청해 주셔서 대단히 감사합니다. 질의응답 받겠습니다!"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side_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ko-KR" smtClean="0"/>
              <a:t>1/27/13</a:t>
            </a:fld>
            <a:endParaRPr lang="ko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ko-KR" smtClean="0"/>
              <a:t>‹#›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bside_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ko-KR" smtClean="0"/>
              <a:t>1/27/13</a:t>
            </a:fld>
            <a:endParaRPr lang="ko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ko-KR" smtClean="0"/>
              <a:t>‹#›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700" kern="1200" lang="ko-KR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200" kern="1200" lang="ko-KR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100" kern="1200" lang="ko-KR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ko-KR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000" kern="1200" lang="ko-KR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900" kern="1200" lang="ko-KR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57200" rtl="0" eaLnBrk="1" latinLnBrk="0" hangingPunct="1">
        <a:defRPr sz="1200" kern="1200" lang="ko-KR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100" kern="1200" lang="ko-KR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50" kern="1200" lang="ko-KR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000" kern="1200" lang="ko-KR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900" kern="1200" lang="ko-KR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op-tag"/>
          <p:cNvGrpSpPr/>
          <p:nvPr/>
        </p:nvGrpSpPr>
        <p:grpSpPr>
          <a:xfrm>
            <a:off x="762000" y="1143000"/>
            <a:ext cx="1524000" cy="304800"/>
            <a:chOff x="762000" y="1143000"/>
            <a:chExt cx="1524000" cy="304800"/>
          </a:xfrm>
        </p:grpSpPr>
        <p:sp>
          <p:nvSpPr>
            <p:cNvPr id="2" name="Rectangle 2"/>
            <p:cNvSpPr/>
            <p:nvPr/>
          </p:nvSpPr>
          <p:spPr>
            <a:xfrm>
              <a:off x="762000" y="1143000"/>
              <a:ext cx="15240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1073525" y="1237774"/>
              <a:ext cx="9009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Bside · 2026</a:t>
              </a:r>
            </a:p>
          </p:txBody>
        </p:sp>
      </p:grpSp>
      <p:grpSp>
        <p:nvGrpSpPr>
          <p:cNvPr id="8" name="hero-title"/>
          <p:cNvGrpSpPr/>
          <p:nvPr/>
        </p:nvGrpSpPr>
        <p:grpSpPr>
          <a:xfrm>
            <a:off x="742950" y="1956435"/>
            <a:ext cx="5511310" cy="1733740"/>
            <a:chOff x="742950" y="1956435"/>
            <a:chExt cx="5511310" cy="1733740"/>
          </a:xfrm>
        </p:grpSpPr>
        <p:sp>
          <p:nvSpPr>
            <p:cNvPr id="5" name="TextBox 5"/>
            <p:cNvSpPr txBox="1"/>
            <p:nvPr/>
          </p:nvSpPr>
          <p:spPr>
            <a:xfrm>
              <a:off x="742950" y="1956435"/>
              <a:ext cx="2069673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700" b="1" spc="-1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Bside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1332" y="2964180"/>
              <a:ext cx="55029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가장 가까운 5m, 가장 필요한 상보성을 잇다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5142" y="3426142"/>
              <a:ext cx="4547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앱 설치 없이 시작하는 근거리 비대칭 오프라인 네트워킹</a:t>
              </a:r>
            </a:p>
          </p:txBody>
        </p:sp>
      </p:grpSp>
      <p:grpSp>
        <p:nvGrpSpPr>
          <p:cNvPr id="18" name="feature-chips"/>
          <p:cNvGrpSpPr/>
          <p:nvPr/>
        </p:nvGrpSpPr>
        <p:grpSpPr>
          <a:xfrm>
            <a:off x="762000" y="4095750"/>
            <a:ext cx="7810500" cy="762000"/>
            <a:chOff x="762000" y="4095750"/>
            <a:chExt cx="7810500" cy="762000"/>
          </a:xfrm>
        </p:grpSpPr>
        <p:sp>
          <p:nvSpPr>
            <p:cNvPr id="9" name="Rectangle 9"/>
            <p:cNvSpPr/>
            <p:nvPr/>
          </p:nvSpPr>
          <p:spPr>
            <a:xfrm>
              <a:off x="762000" y="4095750"/>
              <a:ext cx="2476500" cy="762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2797" y="4323874"/>
              <a:ext cx="8697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 · ACCESS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1654" y="4537710"/>
              <a:ext cx="13349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무설치 Web PWA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29000" y="4095750"/>
              <a:ext cx="2476500" cy="762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09797" y="4323874"/>
              <a:ext cx="11328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· ALGORITHM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08654" y="4537710"/>
              <a:ext cx="15591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Need-Give 상보 매칭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0" y="4095750"/>
              <a:ext cx="2476500" cy="762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76797" y="4323874"/>
              <a:ext cx="10555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 · PROXIMITY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75654" y="4537710"/>
              <a:ext cx="1143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5m 로컬 레이더</a:t>
              </a:r>
            </a:p>
          </p:txBody>
        </p:sp>
      </p:grpSp>
      <p:grpSp>
        <p:nvGrpSpPr>
          <p:cNvPr id="22" name="footer-meta"/>
          <p:cNvGrpSpPr/>
          <p:nvPr/>
        </p:nvGrpSpPr>
        <p:grpSpPr>
          <a:xfrm>
            <a:off x="757047" y="5905500"/>
            <a:ext cx="10677906" cy="323564"/>
            <a:chOff x="757047" y="5905500"/>
            <a:chExt cx="10677906" cy="323564"/>
          </a:xfrm>
        </p:grpSpPr>
        <p:sp>
          <p:nvSpPr>
            <p:cNvPr id="19" name="Line 19"/>
            <p:cNvSpPr/>
            <p:nvPr/>
          </p:nvSpPr>
          <p:spPr>
            <a:xfrm>
              <a:off x="762000" y="59055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57047" y="6038374"/>
              <a:ext cx="19703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코쓱톤 (KOSSCCHTHON) 2026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63049" y="6038374"/>
              <a:ext cx="14719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ko-KR" sz="9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팀 Bside | Live Prototype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6252745" cy="696563"/>
            <a:chOff x="749808" y="609124"/>
            <a:chExt cx="6252745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0460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01.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625274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오프라인의 침묵 — 왜 말을 걸지 못할까요?</a:t>
              </a:r>
            </a:p>
          </p:txBody>
        </p:sp>
      </p:grpSp>
      <p:grpSp>
        <p:nvGrpSpPr>
          <p:cNvPr id="23" name="problem-columns"/>
          <p:cNvGrpSpPr/>
          <p:nvPr/>
        </p:nvGrpSpPr>
        <p:grpSpPr>
          <a:xfrm>
            <a:off x="762000" y="1476375"/>
            <a:ext cx="10668000" cy="3667125"/>
            <a:chOff x="762000" y="1476375"/>
            <a:chExt cx="10668000" cy="366712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5095875" cy="3667125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90422" y="1799749"/>
              <a:ext cx="6062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REALITY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86993" y="2060258"/>
              <a:ext cx="19171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참가자가 겪는 장벽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95375" y="2571750"/>
              <a:ext cx="4429125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27404" y="2775585"/>
              <a:ext cx="11878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첫마디의 어색함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28166" y="3077528"/>
              <a:ext cx="32931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어떤 말을 먼저 건네야 할지 몰라 스마트폰만 보게 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95375" y="3667125"/>
              <a:ext cx="4429125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27404" y="3870960"/>
              <a:ext cx="8647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정보의 부재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8166" y="4172902"/>
              <a:ext cx="3010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바로 옆 사람이 내게 필요한 사람인지 알 수 없음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334125" y="1476375"/>
              <a:ext cx="5095875" cy="3667125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62547" y="1799749"/>
              <a:ext cx="807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LIMITATION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59118" y="2060258"/>
              <a:ext cx="16950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기존 방식의 한계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667500" y="2571750"/>
              <a:ext cx="4429125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9529" y="2775585"/>
              <a:ext cx="1645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높은 설치 및 가입 장벽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00291" y="3077528"/>
              <a:ext cx="30732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앱 다운로드와 프로필 입력 과정에서 대다수 이탈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667500" y="3667125"/>
              <a:ext cx="4429125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9529" y="3870960"/>
              <a:ext cx="14391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단순 직군/명함 매칭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00291" y="4172902"/>
              <a:ext cx="35994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공통점만으로는 실질적인 대화와 협업으로 이어지지 못함</a:t>
              </a:r>
            </a:p>
          </p:txBody>
        </p:sp>
      </p:grpSp>
      <p:grpSp>
        <p:nvGrpSpPr>
          <p:cNvPr id="26" name="bottom-insight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24" name="Rectangle 24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528703" y="5650706"/>
              <a:ext cx="5134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핵심 질문: "앱 설치 없이, 바로 앞 사람과 '서로의 필요'로 이어질 수 없을까?"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5743808" cy="696563"/>
            <a:chOff x="749808" y="609124"/>
            <a:chExt cx="5743808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0799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02. SOLUTION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574380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Bside 솔루션 — 4단계로 이어지는 만남</a:t>
              </a:r>
            </a:p>
          </p:txBody>
        </p:sp>
      </p:grpSp>
      <p:grpSp>
        <p:nvGrpSpPr>
          <p:cNvPr id="41" name="solution-steps"/>
          <p:cNvGrpSpPr/>
          <p:nvPr/>
        </p:nvGrpSpPr>
        <p:grpSpPr>
          <a:xfrm>
            <a:off x="762000" y="1476375"/>
            <a:ext cx="10668000" cy="3667125"/>
            <a:chOff x="762000" y="1476375"/>
            <a:chExt cx="10668000" cy="366712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2476500" cy="366712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95172" y="1752124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92505" y="2009775"/>
              <a:ext cx="11751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QR 3초 진입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00125" y="2428875"/>
              <a:ext cx="200025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11903" y="2757488"/>
              <a:ext cx="117669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0-Install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62698" y="3180874"/>
              <a:ext cx="1075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무설치 Web PWA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94410" y="3926681"/>
              <a:ext cx="15414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스토어 다운로드 제로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94410" y="4212431"/>
              <a:ext cx="17341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회원가입 없는 즉시 입장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95172" y="4514374"/>
              <a:ext cx="1571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카메라 스캔으로 바로 시작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86150" y="1476375"/>
              <a:ext cx="2476500" cy="366712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19322" y="1752124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16655" y="2009775"/>
              <a:ext cx="9351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한 줄 등록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724275" y="2428875"/>
              <a:ext cx="200025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052474" y="2822258"/>
              <a:ext cx="13438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Give &amp; Need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38464" y="3180874"/>
              <a:ext cx="11718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역량 1줄 + 고민 1줄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18560" y="3926681"/>
              <a:ext cx="13907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복잡한 이력서 생략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18560" y="4212431"/>
              <a:ext cx="1298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30초 내 작성 완료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19322" y="4514374"/>
              <a:ext cx="1571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오늘의 지식과 고민만 입력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19825" y="1476375"/>
              <a:ext cx="2476500" cy="366712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52997" y="1752124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50330" y="2009775"/>
              <a:ext cx="8790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상보 매칭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57950" y="2428875"/>
              <a:ext cx="200025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10222" y="2822258"/>
              <a:ext cx="12957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Asymmetric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70437" y="3180874"/>
              <a:ext cx="1175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상호 결핍 보완 매핑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2235" y="3926681"/>
              <a:ext cx="15813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내 Need ↔ 상대 Give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52235" y="4212431"/>
              <a:ext cx="15414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실시간 적합도 순위화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52997" y="4514374"/>
              <a:ext cx="143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대화할 명분을 자동 생성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53500" y="1476375"/>
              <a:ext cx="2476500" cy="366712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86672" y="1752124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04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84005" y="2009775"/>
              <a:ext cx="12270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5m 조우 감지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91625" y="2428875"/>
              <a:ext cx="200025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599508" y="2822258"/>
              <a:ext cx="11844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BLE Radar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78439" y="3180874"/>
              <a:ext cx="12266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5m 반경 실시간 감지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85910" y="3926681"/>
              <a:ext cx="1432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스쳐 지나갈 때 팝업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85910" y="4212431"/>
              <a:ext cx="1583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추천 첫마디 즉시 제안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86672" y="4514374"/>
              <a:ext cx="12705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자연스러운 현장 대화</a:t>
              </a:r>
            </a:p>
          </p:txBody>
        </p:sp>
      </p:grpSp>
      <p:grpSp>
        <p:nvGrpSpPr>
          <p:cNvPr id="44" name="bottom-summary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42" name="Rectangle 42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352784" y="5650706"/>
              <a:ext cx="5486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진입 장벽은 제로(0)로, 만남의 가치는 상보성(Complementarity)으로 완성합니다.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5642561" cy="696563"/>
            <a:chOff x="749808" y="609124"/>
            <a:chExt cx="5642561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7092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03. CORE ALGORITHM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564256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비대칭 상보성 — 대화가 이어지는 원리</a:t>
              </a:r>
            </a:p>
          </p:txBody>
        </p:sp>
      </p:grpSp>
      <p:grpSp>
        <p:nvGrpSpPr>
          <p:cNvPr id="31" name="comparison-columns"/>
          <p:cNvGrpSpPr/>
          <p:nvPr/>
        </p:nvGrpSpPr>
        <p:grpSpPr>
          <a:xfrm>
            <a:off x="762000" y="1476375"/>
            <a:ext cx="10668000" cy="3571875"/>
            <a:chOff x="762000" y="1476375"/>
            <a:chExt cx="10668000" cy="35718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5095875" cy="3571875"/>
            </a:xfrm>
            <a:prstGeom prst="roundRect">
              <a:avLst>
                <a:gd name="adj" fmla="val 373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90422" y="1752124"/>
              <a:ext cx="5742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기존 방식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86993" y="1993582"/>
              <a:ext cx="26327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대칭 매칭 (동일 직군 연결)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95375" y="2428875"/>
              <a:ext cx="4429125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135554" y="2775585"/>
              <a:ext cx="1157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React 개발자 A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826" y="3037999"/>
              <a:ext cx="1043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고민: 배포 인프라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77540" y="288607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500" b="1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↔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78804" y="2775585"/>
              <a:ext cx="1157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React 개발자 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6076" y="3037999"/>
              <a:ext cx="1043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고민: 배포 인프라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95375" y="3810000"/>
              <a:ext cx="4429125" cy="952500"/>
            </a:xfrm>
            <a:prstGeom prst="roundRect">
              <a:avLst>
                <a:gd name="adj" fmla="val 80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327785" y="4021931"/>
              <a:ext cx="2616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결과: 서로 답을 줄 수 없어 어색한 침묵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8547" y="4323874"/>
              <a:ext cx="28683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동일 직군 간에는 교류할 실질적인 가치가 부족함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334125" y="1476375"/>
              <a:ext cx="5095875" cy="3571875"/>
            </a:xfrm>
            <a:prstGeom prst="roundRect">
              <a:avLst>
                <a:gd name="adj" fmla="val 3733"/>
              </a:avLst>
            </a:prstGeom>
            <a:solidFill>
              <a:srgbClr val="FFFFFF"/>
            </a:solidFill>
            <a:ln w="14288">
              <a:solidFill>
                <a:schemeClr val="accent2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62547" y="1752124"/>
              <a:ext cx="6741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Bside 혁신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59118" y="1993582"/>
              <a:ext cx="32973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비대칭 상보 매칭 (Need ↔ Give)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667500" y="2428875"/>
              <a:ext cx="4429125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07679" y="2680335"/>
              <a:ext cx="1157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React 개발자 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51999" y="2950845"/>
              <a:ext cx="8692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Give: 웹 프론트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81123" y="3141345"/>
              <a:ext cx="10110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Need: 배포 인프라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92323" y="2886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81456" y="2680335"/>
              <a:ext cx="14968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DevOps 엔지니어 B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916297" y="2950845"/>
              <a:ext cx="10271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Give: Docker/K8s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924373" y="3141345"/>
              <a:ext cx="10110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Need: 웹 대시보드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667500" y="3810000"/>
              <a:ext cx="4429125" cy="952500"/>
            </a:xfrm>
            <a:prstGeom prst="roundRect">
              <a:avLst>
                <a:gd name="adj" fmla="val 8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99910" y="4021931"/>
              <a:ext cx="3026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rgbClr val="1E3A8A"/>
                  </a:solidFill>
                  <a:latin typeface="+mn-lt"/>
                  <a:ea typeface="+mn-ea"/>
                  <a:cs typeface="+mn-cs"/>
                </a:rPr>
                <a:t>결과: 서로의 필요를 채우며 즉각적 교류 성립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00672" y="4323874"/>
              <a:ext cx="3462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"내 고민을 해결해줄 수 있는 사람"이라는 명확한 대화 명분</a:t>
              </a:r>
            </a:p>
          </p:txBody>
        </p:sp>
      </p:grpSp>
      <p:grpSp>
        <p:nvGrpSpPr>
          <p:cNvPr id="35" name="formula-bar"/>
          <p:cNvGrpSpPr/>
          <p:nvPr/>
        </p:nvGrpSpPr>
        <p:grpSpPr>
          <a:xfrm>
            <a:off x="762000" y="5334000"/>
            <a:ext cx="10668000" cy="666750"/>
            <a:chOff x="762000" y="53340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334000"/>
              <a:ext cx="10668000" cy="66675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2035" y="5612606"/>
              <a:ext cx="4927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매칭 알고리즘: Score = sim(Need_A, Give_B) × sim(Give_A, Need_B)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38797" y="5628799"/>
              <a:ext cx="33887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양방향 필요 충족도가 높을수록 5m 내 최우선 파트너 매핑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7198317" cy="696563"/>
            <a:chOff x="749808" y="609124"/>
            <a:chExt cx="7198317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759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04. USER EXPERIENCE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71983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실제 동작 화면 — React PWA 라이브 프로토타입</a:t>
              </a:r>
            </a:p>
          </p:txBody>
        </p:sp>
      </p:grpSp>
      <p:grpSp>
        <p:nvGrpSpPr>
          <p:cNvPr id="60" name="flow-cards"/>
          <p:cNvGrpSpPr/>
          <p:nvPr/>
        </p:nvGrpSpPr>
        <p:grpSpPr>
          <a:xfrm>
            <a:off x="762000" y="1476375"/>
            <a:ext cx="10668000" cy="3762375"/>
            <a:chOff x="762000" y="1476375"/>
            <a:chExt cx="10668000" cy="37623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2476500" cy="376237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47738" y="1712595"/>
              <a:ext cx="8067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1 · 입장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5642" y="1930718"/>
              <a:ext cx="13868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초경량 게이트 폼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952500" y="22383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95375" y="2381250"/>
              <a:ext cx="1809750" cy="2476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85862" y="2455545"/>
              <a:ext cx="6826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이름: 이지원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95375" y="2714625"/>
              <a:ext cx="1809750" cy="40005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85862" y="2798445"/>
              <a:ext cx="11793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Need: 소켓 세션 튜닝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095375" y="3209925"/>
              <a:ext cx="1809750" cy="2667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85862" y="3293745"/>
              <a:ext cx="11741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Give: FastAPI 백엔드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95375" y="3619500"/>
              <a:ext cx="1809750" cy="323850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562865" y="3723799"/>
              <a:ext cx="874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세션 바로 입장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7547" y="4466749"/>
              <a:ext cx="15172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가입 없이 닉네임만 입력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7547" y="4733449"/>
              <a:ext cx="12682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30초 내 즉시 온보딩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86150" y="1476375"/>
              <a:ext cx="2476500" cy="376237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71888" y="1712595"/>
              <a:ext cx="8067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2 · 탐색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69792" y="1930718"/>
              <a:ext cx="156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실시간 참가자 로비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76650" y="22383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819525" y="2381250"/>
              <a:ext cx="1809750" cy="2476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48112" y="2455545"/>
              <a:ext cx="10797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실시간 세션 참가 중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9525" y="2714625"/>
              <a:ext cx="1809750" cy="495300"/>
            </a:xfrm>
            <a:prstGeom prst="roundRect">
              <a:avLst>
                <a:gd name="adj" fmla="val 7692"/>
              </a:avLst>
            </a:prstGeom>
            <a:solidFill>
              <a:srgbClr val="EFF6FF"/>
            </a:solidFill>
            <a:ln w="9525">
              <a:solidFill>
                <a:srgbClr val="BFDBFE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948112" y="2817495"/>
              <a:ext cx="106052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rgbClr val="1E3A8A"/>
                  </a:solidFill>
                  <a:latin typeface="+mn-lt"/>
                  <a:ea typeface="+mn-ea"/>
                  <a:cs typeface="+mn-cs"/>
                </a:rPr>
                <a:t>강민서 (Go/인프라)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48112" y="3006566"/>
              <a:ext cx="120558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8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상보성 96% 최우선 추천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819525" y="3305175"/>
              <a:ext cx="1809750" cy="428625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948112" y="3398520"/>
              <a:ext cx="98670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박준영 (React/UI)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48112" y="3568541"/>
              <a:ext cx="95414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8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상보성 84% 파트너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71697" y="4466749"/>
              <a:ext cx="15172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상보성 점수 실시간 정렬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671697" y="4733449"/>
              <a:ext cx="15539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내 고민 해결자 상단 노출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19825" y="1476375"/>
              <a:ext cx="2476500" cy="376237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05562" y="1712595"/>
              <a:ext cx="8067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3 · 조우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03467" y="1930718"/>
              <a:ext cx="1205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접점 대화 시트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10325" y="22383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chemeClr val="lt1"/>
            </a:solidFill>
            <a:ln w="11430">
              <a:solidFill>
                <a:schemeClr val="accent2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553200" y="2381250"/>
              <a:ext cx="1809750" cy="228600"/>
            </a:xfrm>
            <a:prstGeom prst="roundRect">
              <a:avLst>
                <a:gd name="adj" fmla="val 16667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23084" y="2444591"/>
              <a:ext cx="106998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8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⚡ 5m 근접 조우 감지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48438" y="2712720"/>
              <a:ext cx="12884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민서 님과 마주쳤습니다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553200" y="2924175"/>
              <a:ext cx="1809750" cy="49530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43688" y="3006566"/>
              <a:ext cx="7754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8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💡 추천 첫마디: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43688" y="3197066"/>
              <a:ext cx="126539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8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"소켓 이벤트 루프 고민..."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553200" y="3524250"/>
              <a:ext cx="1809750" cy="2857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77848" y="3617595"/>
              <a:ext cx="11604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인사 건네기 (핑 전송)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05372" y="4466749"/>
              <a:ext cx="1480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5m 스쳐 지나갈 때 팝업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05372" y="4733449"/>
              <a:ext cx="15172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대화 첫마디 가이드 제공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953500" y="1476375"/>
              <a:ext cx="2476500" cy="3762375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139238" y="1712595"/>
              <a:ext cx="9278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4 · 레이더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37142" y="1930718"/>
              <a:ext cx="14102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BLE 로컬 레이더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144000" y="22383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9715500" y="2524125"/>
              <a:ext cx="952500" cy="952500"/>
            </a:xfrm>
            <a:prstGeom prst="ellipse">
              <a:avLst/>
            </a:prstGeom>
            <a:noFill/>
            <a:ln w="11430">
              <a:solidFill>
                <a:schemeClr val="accent6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9906000" y="2714625"/>
              <a:ext cx="571500" cy="571500"/>
            </a:xfrm>
            <a:prstGeom prst="ellipse">
              <a:avLst/>
            </a:prstGeom>
            <a:noFill/>
            <a:ln w="11430">
              <a:solidFill>
                <a:schemeClr val="accent6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10077450" y="2886075"/>
              <a:ext cx="228600" cy="228600"/>
            </a:xfrm>
            <a:prstGeom prst="ellipse">
              <a:avLst/>
            </a:prstGeom>
            <a:noFill/>
            <a:ln w="11430">
              <a:solidFill>
                <a:schemeClr val="accent2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10153650" y="296227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10296525" y="2867025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396538" y="2844641"/>
              <a:ext cx="58610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8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민서 (3.2m)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64308" y="3760470"/>
              <a:ext cx="12548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5m 반경 레이더 활성화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139047" y="4466749"/>
              <a:ext cx="16915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 Bluetooth RSSI 감지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39047" y="4733449"/>
              <a:ext cx="15539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좌표 수집 없는 로컬 판정</a:t>
              </a:r>
            </a:p>
          </p:txBody>
        </p:sp>
      </p:grpSp>
      <p:grpSp>
        <p:nvGrpSpPr>
          <p:cNvPr id="63" name="bottom-summary-bar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61" name="Rectangle 61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195605" y="5650706"/>
              <a:ext cx="5800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현재 배포 및 로컬 구동 완료: 스마트폰 브라우저에서 바로 체험 가능한 Live Prototype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6701579" cy="696563"/>
            <a:chOff x="749808" y="609124"/>
            <a:chExt cx="6701579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5020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05. ARCHITECTURE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6701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엔지니어링 — 가볍고 안전한 제로 리텐션 구조</a:t>
              </a:r>
            </a:p>
          </p:txBody>
        </p:sp>
      </p:grpSp>
      <p:grpSp>
        <p:nvGrpSpPr>
          <p:cNvPr id="29" name="architecture-panels"/>
          <p:cNvGrpSpPr/>
          <p:nvPr/>
        </p:nvGrpSpPr>
        <p:grpSpPr>
          <a:xfrm>
            <a:off x="762000" y="1476375"/>
            <a:ext cx="10668000" cy="3762375"/>
            <a:chOff x="762000" y="1476375"/>
            <a:chExt cx="10668000" cy="37623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5095875" cy="3762375"/>
            </a:xfrm>
            <a:prstGeom prst="roundRect">
              <a:avLst>
                <a:gd name="adj" fmla="val 35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90422" y="1752124"/>
              <a:ext cx="1318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CLIENT-SIDE EDGE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87755" y="2009775"/>
              <a:ext cx="2821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React PWA &amp; Web Bluetooth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95375" y="2428875"/>
              <a:ext cx="4429125" cy="809625"/>
            </a:xfrm>
            <a:prstGeom prst="roundRect">
              <a:avLst>
                <a:gd name="adj" fmla="val 941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27404" y="2632710"/>
              <a:ext cx="21087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브라우저 네이티브 BLE 스캔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28547" y="2923699"/>
              <a:ext cx="32711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별도 장비 없이 스마트폰 내장 블루투스 RSSI 거리 추정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95375" y="3381375"/>
              <a:ext cx="4429125" cy="809625"/>
            </a:xfrm>
            <a:prstGeom prst="roundRect">
              <a:avLst>
                <a:gd name="adj" fmla="val 941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27404" y="3585210"/>
              <a:ext cx="14719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PWA 오프라인 캐싱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8547" y="3876199"/>
              <a:ext cx="31688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행사장 네트워크 혼잡 시에도 서비스 워커로 즉각 반응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95375" y="4333875"/>
              <a:ext cx="4429125" cy="714375"/>
            </a:xfrm>
            <a:prstGeom prst="roundRect">
              <a:avLst>
                <a:gd name="adj" fmla="val 10667"/>
              </a:avLst>
            </a:prstGeom>
            <a:solidFill>
              <a:srgbClr val="EFF6FF"/>
            </a:solidFill>
            <a:ln w="9525">
              <a:solidFill>
                <a:srgbClr val="BFDBF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327785" y="4526756"/>
              <a:ext cx="1452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rgbClr val="1E3A8A"/>
                  </a:solidFill>
                  <a:latin typeface="+mn-lt"/>
                  <a:ea typeface="+mn-ea"/>
                  <a:cs typeface="+mn-cs"/>
                </a:rPr>
                <a:t>위치 프라이버시 보장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8547" y="4771549"/>
              <a:ext cx="34872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GPS 좌표 미수집 · 기기 간 상대 근접 여부만 단말에서 판정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334125" y="1476375"/>
              <a:ext cx="5095875" cy="3762375"/>
            </a:xfrm>
            <a:prstGeom prst="roundRect">
              <a:avLst>
                <a:gd name="adj" fmla="val 35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62547" y="1752124"/>
              <a:ext cx="12800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BACKEND ENGINE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59880" y="2009775"/>
              <a:ext cx="37075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FastAPI &amp; 제로 리텐션(Zero-Retention)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667500" y="2428875"/>
              <a:ext cx="4429125" cy="809625"/>
            </a:xfrm>
            <a:prstGeom prst="roundRect">
              <a:avLst>
                <a:gd name="adj" fmla="val 941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9529" y="2632710"/>
              <a:ext cx="22598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In-Memory 세션 관리 (No-DB)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00672" y="2923699"/>
              <a:ext cx="28683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디스크에 저장하지 않는 고속 비동기 메모리 처리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667500" y="3381375"/>
              <a:ext cx="4429125" cy="809625"/>
            </a:xfrm>
            <a:prstGeom prst="roundRect">
              <a:avLst>
                <a:gd name="adj" fmla="val 941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99529" y="3585210"/>
              <a:ext cx="20135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행사 종료 시 즉시 영구 파기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00672" y="3876199"/>
              <a:ext cx="2714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세션 만료 시 인메모리 데이터 100% 자동 소멸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667500" y="4333875"/>
              <a:ext cx="4429125" cy="714375"/>
            </a:xfrm>
            <a:prstGeom prst="roundRect">
              <a:avLst>
                <a:gd name="adj" fmla="val 10667"/>
              </a:avLst>
            </a:prstGeom>
            <a:solidFill>
              <a:srgbClr val="F0FDF4"/>
            </a:solidFill>
            <a:ln w="9525">
              <a:solidFill>
                <a:srgbClr val="BBF7D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99910" y="4526756"/>
              <a:ext cx="16448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rgbClr val="166534"/>
                  </a:solidFill>
                  <a:latin typeface="+mn-lt"/>
                  <a:ea typeface="+mn-ea"/>
                  <a:cs typeface="+mn-cs"/>
                </a:rPr>
                <a:t>개인정보 수집 제로 정책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00672" y="4771549"/>
              <a:ext cx="35426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16A34A"/>
                  </a:solidFill>
                  <a:latin typeface="+mn-lt"/>
                  <a:ea typeface="+mn-ea"/>
                  <a:cs typeface="+mn-cs"/>
                </a:rPr>
                <a:t>이메일, 비밀번호, 번호 없이 닉네임과 한 줄 고민만으로 동작</a:t>
              </a:r>
            </a:p>
          </p:txBody>
        </p:sp>
      </p:grpSp>
      <p:grpSp>
        <p:nvGrpSpPr>
          <p:cNvPr id="36" name="bottom-metric-badges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30" name="Rectangle 30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386829" y="5650706"/>
              <a:ext cx="17983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설치 용량 0 MB (웹 PWA)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165699" y="5650706"/>
              <a:ext cx="50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dirty="0">
                  <a:solidFill>
                    <a:srgbClr val="CBD5E1"/>
                  </a:solidFill>
                  <a:latin typeface="+mn-lt"/>
                  <a:ea typeface="+mn-ea"/>
                  <a:cs typeface="+mn-cs"/>
                </a:rPr>
                <a:t>|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929653" y="5650706"/>
              <a:ext cx="2332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DB 유출 리스크 0% (No-DB 설계)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75699" y="5650706"/>
              <a:ext cx="50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dirty="0">
                  <a:solidFill>
                    <a:srgbClr val="CBD5E1"/>
                  </a:solidFill>
                  <a:latin typeface="+mn-lt"/>
                  <a:ea typeface="+mn-ea"/>
                  <a:cs typeface="+mn-cs"/>
                </a:rPr>
                <a:t>|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976566" y="5650706"/>
              <a:ext cx="1858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알고리즘 연산 지연 &lt; 50ms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6996745" cy="696563"/>
            <a:chOff x="749808" y="609124"/>
            <a:chExt cx="6996745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6784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06. BUSINESS MODEL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699674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비즈니스 모델 — 행사 주최자를 위한 B2B SaaS</a:t>
              </a:r>
            </a:p>
          </p:txBody>
        </p:sp>
      </p:grpSp>
      <p:grpSp>
        <p:nvGrpSpPr>
          <p:cNvPr id="38" name="business-cards"/>
          <p:cNvGrpSpPr/>
          <p:nvPr/>
        </p:nvGrpSpPr>
        <p:grpSpPr>
          <a:xfrm>
            <a:off x="762000" y="1476375"/>
            <a:ext cx="10668000" cy="3762375"/>
            <a:chOff x="762000" y="1476375"/>
            <a:chExt cx="10668000" cy="37623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42797" y="1752124"/>
              <a:ext cx="1504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REVENUE STREAM 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40130" y="2009775"/>
              <a:ext cx="14848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이벤트 라이선스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28875"/>
              <a:ext cx="2762250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33297" y="2656999"/>
              <a:ext cx="13403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해커톤 · 밋업 (~100명)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28344" y="2885122"/>
              <a:ext cx="9553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 xml:space="preserve">$199 </a:t>
              </a:r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/ 1회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47750" y="3476625"/>
              <a:ext cx="2762250" cy="904875"/>
            </a:xfrm>
            <a:prstGeom prst="roundRect">
              <a:avLst>
                <a:gd name="adj" fmla="val 8421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33297" y="3704749"/>
              <a:ext cx="16042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컨퍼런스 · 잡페어 (~500명)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28344" y="3932872"/>
              <a:ext cx="9553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 xml:space="preserve">$499 </a:t>
              </a:r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/ 1회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2416" y="4601528"/>
              <a:ext cx="17913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전용 QR 코드 및 세션 발급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2797" y="4866799"/>
              <a:ext cx="18177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행사 맞춤형 브랜딩 로고 적용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429125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709922" y="1752124"/>
              <a:ext cx="1682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VALUE PROPOSITION 02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07255" y="2009775"/>
              <a:ext cx="19448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실시간 관제 대시보드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714875" y="2428875"/>
              <a:ext cx="2762250" cy="1952625"/>
            </a:xfrm>
            <a:prstGeom prst="roundRect">
              <a:avLst>
                <a:gd name="adj" fmla="val 390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899660" y="2640806"/>
              <a:ext cx="19463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현장 네트워킹 현황 모니터링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00422" y="2990374"/>
              <a:ext cx="16858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실시간 접속 참가자 수 집계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00422" y="3276124"/>
              <a:ext cx="18689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공간별(부스/라운지) 교류 현황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900422" y="3561874"/>
              <a:ext cx="16858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상보성 매칭 성사 추이 통계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900612" y="3950970"/>
              <a:ext cx="18000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* 개인정보 없는 순수 통계 데이터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09541" y="4601528"/>
              <a:ext cx="1947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행사 진행 원활도 실시간 파악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09922" y="4866799"/>
              <a:ext cx="19863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부스 간 트래픽 불균형 현장 조율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96250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77047" y="1752124"/>
              <a:ext cx="1682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VALUE PROPOSITION 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4380" y="2009775"/>
              <a:ext cx="20301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성과 분석 PDF 리포트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382000" y="2428875"/>
              <a:ext cx="2762250" cy="1952625"/>
            </a:xfrm>
            <a:prstGeom prst="roundRect">
              <a:avLst>
                <a:gd name="adj" fmla="val 3902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66785" y="2640806"/>
              <a:ext cx="17956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스폰서 보고용 정량적 자료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67547" y="2990374"/>
              <a:ext cx="14220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총 접점 형성 건수 통계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67547" y="3276124"/>
              <a:ext cx="14424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인기 Need 키워드 분석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67547" y="3561874"/>
              <a:ext cx="13853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dk1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참가자 상호 교류 지수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67738" y="3950970"/>
              <a:ext cx="19387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* 원클릭으로 공식 PDF 리포트 발행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76666" y="4601528"/>
              <a:ext cx="20890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후원사 대상 네트워킹 성과 증빙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77047" y="4866799"/>
              <a:ext cx="18177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차기 행사 스폰서십 유치 근거</a:t>
              </a:r>
            </a:p>
          </p:txBody>
        </p:sp>
      </p:grpSp>
      <p:grpSp>
        <p:nvGrpSpPr>
          <p:cNvPr id="41" name="bottom-business-summary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39" name="Rectangle 39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554575" y="5650706"/>
              <a:ext cx="5082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서버 고정비가 거의 없는 In-Memory 구조로 높은 영업이익률을 달성합니다.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6971034" cy="696563"/>
            <a:chOff x="749808" y="609124"/>
            <a:chExt cx="6971034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9011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07. MARKET EXPANSION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697103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시장 확장성 — 사람이 모이는 4대 오프라인 공간</a:t>
              </a:r>
            </a:p>
          </p:txBody>
        </p:sp>
      </p:grpSp>
      <p:grpSp>
        <p:nvGrpSpPr>
          <p:cNvPr id="29" name="vertical-tiles"/>
          <p:cNvGrpSpPr/>
          <p:nvPr/>
        </p:nvGrpSpPr>
        <p:grpSpPr>
          <a:xfrm>
            <a:off x="762000" y="1476375"/>
            <a:ext cx="10668000" cy="3762375"/>
            <a:chOff x="762000" y="1476375"/>
            <a:chExt cx="10668000" cy="37623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5095875" cy="1762125"/>
            </a:xfrm>
            <a:prstGeom prst="roundRect">
              <a:avLst>
                <a:gd name="adj" fmla="val 756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95362" y="1712595"/>
              <a:ext cx="827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VERTICAL 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92505" y="1933575"/>
              <a:ext cx="19356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 컨퍼런스 &amp; 해커톤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94791" y="2315528"/>
              <a:ext cx="37381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즉석 팀 빌딩: 프론트엔드 ↔ 백엔드 ↔ 디자이너 상보 매칭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94791" y="2553652"/>
              <a:ext cx="3471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멘토링: 기술 문제를 겪는 참가자와 현직 멘토 5m 연결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95172" y="2895124"/>
              <a:ext cx="30222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가치: 팀 빌딩 소요 시간 단축 및 교류 만족도 극대화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334125" y="1476375"/>
              <a:ext cx="5095875" cy="1762125"/>
            </a:xfrm>
            <a:prstGeom prst="roundRect">
              <a:avLst>
                <a:gd name="adj" fmla="val 756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67488" y="1712595"/>
              <a:ext cx="827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VERTICAL 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64630" y="1933575"/>
              <a:ext cx="2404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기업 채용 박람회 &amp; 잡페어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66916" y="2315528"/>
              <a:ext cx="37004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핀포인트 매칭: 구직자 역량 ↔ 채용팀 필수 직무(JD) 결합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66916" y="2553652"/>
              <a:ext cx="42957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근접 스마트 알림: 부스 5m 내 타깃 구직자 조우 시 인사담당자 알림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67297" y="2895124"/>
              <a:ext cx="30443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가치: 형식적 홍보물 배포 대신 1:1 심층 커피챗 전환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476625"/>
              <a:ext cx="5095875" cy="1762125"/>
            </a:xfrm>
            <a:prstGeom prst="roundRect">
              <a:avLst>
                <a:gd name="adj" fmla="val 756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95362" y="3712845"/>
              <a:ext cx="827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VERTICAL 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2505" y="3933825"/>
              <a:ext cx="2404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기업 사내 온보딩 &amp; 워크숍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94791" y="4315778"/>
              <a:ext cx="37774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부서 사일로 해소: 신규 입사자 ↔ 타 부서 전문가 상보 연결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4791" y="4553902"/>
              <a:ext cx="3730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실무 질문 해결: 업무 고민 입력 시 5m 내 사내 담당자 매핑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5172" y="4895374"/>
              <a:ext cx="34546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가치: 신규 입사자 조직 적응 가속화 및 사내 지식 교류 촉진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34125" y="3476625"/>
              <a:ext cx="5095875" cy="1762125"/>
            </a:xfrm>
            <a:prstGeom prst="roundRect">
              <a:avLst>
                <a:gd name="adj" fmla="val 756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67488" y="3712845"/>
              <a:ext cx="827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VERTICAL 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64630" y="3933825"/>
              <a:ext cx="2146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대학 캠퍼스 &amp; 학술대회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6916" y="4315778"/>
              <a:ext cx="37838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다학제 융합: AI 공학도 ↔ 바이오/인문 연구원 융합 팀 빌딩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6916" y="4553902"/>
              <a:ext cx="38325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3730" indent="-83730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랩실 투어: 진학 희망 학부생 ↔ 대학원 선배 연구원 1:1 연결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67297" y="4895374"/>
              <a:ext cx="3513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가치: 대규모 학술 행사에서 실질적인 공동 연구 파트너 탐색</a:t>
              </a:r>
            </a:p>
          </p:txBody>
        </p:sp>
      </p:grpSp>
      <p:grpSp>
        <p:nvGrpSpPr>
          <p:cNvPr id="32" name="bottom-market-summary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30" name="Rectangle 30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053042" y="5650706"/>
              <a:ext cx="60859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오프라인에서 사람이 모여 '서로의 지식과 고민'을 나누는 모든 접점이 Bside의 시장입니다.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-group"/>
          <p:cNvGrpSpPr/>
          <p:nvPr/>
        </p:nvGrpSpPr>
        <p:grpSpPr>
          <a:xfrm>
            <a:off x="749808" y="609124"/>
            <a:ext cx="6716604" cy="696563"/>
            <a:chOff x="749808" y="609124"/>
            <a:chExt cx="6716604" cy="696563"/>
          </a:xfrm>
        </p:grpSpPr>
        <p:sp>
          <p:nvSpPr>
            <p:cNvPr id="2" name="TextBox 2"/>
            <p:cNvSpPr txBox="1"/>
            <p:nvPr/>
          </p:nvSpPr>
          <p:spPr>
            <a:xfrm>
              <a:off x="757047" y="609124"/>
              <a:ext cx="1069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08. ROADMAP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9808" y="836295"/>
              <a:ext cx="671660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실행 로드맵 — MVP에서 B2B 이벤트 SaaS로</a:t>
              </a:r>
            </a:p>
          </p:txBody>
        </p:sp>
      </p:grpSp>
      <p:grpSp>
        <p:nvGrpSpPr>
          <p:cNvPr id="50" name="roadmap-cards"/>
          <p:cNvGrpSpPr/>
          <p:nvPr/>
        </p:nvGrpSpPr>
        <p:grpSpPr>
          <a:xfrm>
            <a:off x="762000" y="1476375"/>
            <a:ext cx="10668000" cy="3762375"/>
            <a:chOff x="762000" y="1476375"/>
            <a:chExt cx="10668000" cy="3762375"/>
          </a:xfrm>
        </p:grpSpPr>
        <p:sp>
          <p:nvSpPr>
            <p:cNvPr id="5" name="Rectangle 5"/>
            <p:cNvSpPr/>
            <p:nvPr/>
          </p:nvSpPr>
          <p:spPr>
            <a:xfrm>
              <a:off x="762000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4288">
              <a:solidFill>
                <a:schemeClr val="accent1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95172" y="1752124"/>
              <a:ext cx="14893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PHASE 01 · CURRENT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92505" y="2009775"/>
              <a:ext cx="20091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해커톤 Working MVP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95172" y="2323624"/>
              <a:ext cx="17396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개발 및 프로토타입 구현 완료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000125" y="26193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8047" y="2733199"/>
              <a:ext cx="12407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모바일 웹 PWA 구축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8238" y="2912745"/>
              <a:ext cx="19266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QR 스캔 3초 진입 및 오프라인 캐시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00125" y="320992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38047" y="3323749"/>
              <a:ext cx="14051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Need-Give 비대칭 매칭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8238" y="3503295"/>
              <a:ext cx="17528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상호 결핍 보완 점수 실시간 연산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00125" y="38004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38047" y="3914299"/>
              <a:ext cx="14787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Web Bluetooth 5m 감지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8238" y="4093845"/>
              <a:ext cx="17712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근접 조우 레이더 및 No-DB 보안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00125" y="4524375"/>
              <a:ext cx="2857500" cy="523875"/>
            </a:xfrm>
            <a:prstGeom prst="roundRect">
              <a:avLst>
                <a:gd name="adj" fmla="val 145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520874" y="4725352"/>
              <a:ext cx="18160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상태: 핵심 기능 구동 완료 ✅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429125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62297" y="1752124"/>
              <a:ext cx="11795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PHASE 02 · NEXT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59630" y="2009775"/>
              <a:ext cx="20270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B2B 주최자 콘솔 구축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62297" y="2323624"/>
              <a:ext cx="19082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주최자 관리 기능 및 유료화 준비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667250" y="26193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805172" y="2733199"/>
              <a:ext cx="12705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실시간 관제 대시보드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05362" y="2912745"/>
              <a:ext cx="18740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행사장 밀집도 및 세션별 교류 현황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667250" y="320992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5172" y="3323749"/>
              <a:ext cx="11922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성과 분석 자동 PDF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05362" y="3503295"/>
              <a:ext cx="18294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스폰서 보고용 정량적 ROI 리포트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67250" y="38004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805172" y="3914299"/>
              <a:ext cx="143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파트너 행사 파일럿 적용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05362" y="4093845"/>
              <a:ext cx="16281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대학 해커톤 및 IT 세미나 도입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667250" y="4524375"/>
              <a:ext cx="2857500" cy="523875"/>
            </a:xfrm>
            <a:prstGeom prst="roundRect">
              <a:avLst>
                <a:gd name="adj" fmla="val 14545"/>
              </a:avLst>
            </a:prstGeom>
            <a:solidFill>
              <a:srgbClr val="EFF6FF"/>
            </a:solidFill>
            <a:ln w="9525">
              <a:solidFill>
                <a:srgbClr val="BFDBF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078013" y="4725352"/>
              <a:ext cx="20359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0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목표: 주최사 파일럿 5건 적용 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096250" y="1476375"/>
              <a:ext cx="3333750" cy="3762375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29422" y="1752124"/>
              <a:ext cx="13731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PHASE 03 · FUTURE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6755" y="2009775"/>
              <a:ext cx="2146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네이티브 &amp; 글로벌 확장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29422" y="2323624"/>
              <a:ext cx="18715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대규모 이벤트 표준 인프라 도약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34375" y="26193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72297" y="2733199"/>
              <a:ext cx="15297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OS 백그라운드 BLE 모드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72488" y="2912745"/>
              <a:ext cx="20423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화면이 꺼진 상태에서도 5m 햅틱 진동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334375" y="320992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72297" y="3323749"/>
              <a:ext cx="143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다국어 실시간 번역 매칭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72488" y="3503295"/>
              <a:ext cx="18403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외국인 참가자와의 언어 장벽 해소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34375" y="3800475"/>
              <a:ext cx="2857500" cy="495300"/>
            </a:xfrm>
            <a:prstGeom prst="roundRect">
              <a:avLst>
                <a:gd name="adj" fmla="val 1153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472297" y="3914299"/>
              <a:ext cx="14872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1,000+ 명 동시 접속 처리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472488" y="4093845"/>
              <a:ext cx="14095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대형 컨퍼런스 클러스터링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334375" y="4524375"/>
              <a:ext cx="2857500" cy="523875"/>
            </a:xfrm>
            <a:prstGeom prst="roundRect">
              <a:avLst>
                <a:gd name="adj" fmla="val 14545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733406" y="4725352"/>
              <a:ext cx="20594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0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비전: 글로벌 오프라인 인프라 🌐</a:t>
              </a:r>
            </a:p>
          </p:txBody>
        </p:sp>
      </p:grpSp>
      <p:grpSp>
        <p:nvGrpSpPr>
          <p:cNvPr id="53" name="bottom-roadmap-summary"/>
          <p:cNvGrpSpPr/>
          <p:nvPr/>
        </p:nvGrpSpPr>
        <p:grpSpPr>
          <a:xfrm>
            <a:off x="762000" y="5429250"/>
            <a:ext cx="10668000" cy="571500"/>
            <a:chOff x="762000" y="5429250"/>
            <a:chExt cx="10668000" cy="571500"/>
          </a:xfrm>
        </p:grpSpPr>
        <p:sp>
          <p:nvSpPr>
            <p:cNvPr id="51" name="Rectangle 51"/>
            <p:cNvSpPr/>
            <p:nvPr/>
          </p:nvSpPr>
          <p:spPr>
            <a:xfrm>
              <a:off x="762000" y="5429250"/>
              <a:ext cx="10668000" cy="5715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904736" y="5650706"/>
              <a:ext cx="4382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현장에서 가볍게 검증하고 빠르게 고도화하는 린(Lean) 실행 전략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57047" y="609124"/>
            <a:ext cx="160860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spc="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VISION &amp; LIVE DEMO</a:t>
            </a:r>
          </a:p>
        </p:txBody>
      </p:sp>
      <p:grpSp>
        <p:nvGrpSpPr>
          <p:cNvPr id="5" name="hero-statement"/>
          <p:cNvGrpSpPr/>
          <p:nvPr/>
        </p:nvGrpSpPr>
        <p:grpSpPr>
          <a:xfrm>
            <a:off x="748284" y="1042035"/>
            <a:ext cx="6722151" cy="956691"/>
            <a:chOff x="748284" y="1042035"/>
            <a:chExt cx="6722151" cy="956691"/>
          </a:xfrm>
        </p:grpSpPr>
        <p:sp>
          <p:nvSpPr>
            <p:cNvPr id="3" name="TextBox 3"/>
            <p:cNvSpPr txBox="1"/>
            <p:nvPr/>
          </p:nvSpPr>
          <p:spPr>
            <a:xfrm>
              <a:off x="748284" y="1042035"/>
              <a:ext cx="672215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"사람과 사람 사이, 가장 어려운 첫 마디를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284" y="1470660"/>
              <a:ext cx="294601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7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기술로 건넵니다."</a:t>
              </a:r>
            </a:p>
          </p:txBody>
        </p:sp>
      </p:grpSp>
      <p:grpSp>
        <p:nvGrpSpPr>
          <p:cNvPr id="45" name="action-blocks"/>
          <p:cNvGrpSpPr/>
          <p:nvPr/>
        </p:nvGrpSpPr>
        <p:grpSpPr>
          <a:xfrm>
            <a:off x="762000" y="2238375"/>
            <a:ext cx="10668000" cy="3476625"/>
            <a:chOff x="762000" y="2238375"/>
            <a:chExt cx="10668000" cy="3476625"/>
          </a:xfrm>
        </p:grpSpPr>
        <p:sp>
          <p:nvSpPr>
            <p:cNvPr id="6" name="Rectangle 6"/>
            <p:cNvSpPr/>
            <p:nvPr/>
          </p:nvSpPr>
          <p:spPr>
            <a:xfrm>
              <a:off x="762000" y="2238375"/>
              <a:ext cx="5095875" cy="3476625"/>
            </a:xfrm>
            <a:prstGeom prst="roundRect">
              <a:avLst>
                <a:gd name="adj" fmla="val 383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2797" y="2514124"/>
              <a:ext cx="7766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LIVE DEMO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40130" y="2743200"/>
              <a:ext cx="34144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스마트폰으로 지금 바로 체험해보세요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047750" y="3143250"/>
              <a:ext cx="1143000" cy="1143000"/>
            </a:xfrm>
            <a:prstGeom prst="roundRect">
              <a:avLst>
                <a:gd name="adj" fmla="val 8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" y="3257550"/>
              <a:ext cx="3429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219200" y="3314700"/>
              <a:ext cx="2286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276350" y="337185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733550" y="3257550"/>
              <a:ext cx="3429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1790700" y="3314700"/>
              <a:ext cx="2286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847850" y="337185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162050" y="3829050"/>
              <a:ext cx="3429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219200" y="3886200"/>
              <a:ext cx="2286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276350" y="394335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1619250" y="3714750"/>
              <a:ext cx="95250" cy="9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1762125" y="3857625"/>
              <a:ext cx="95250" cy="9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885950" y="4000500"/>
              <a:ext cx="95250" cy="9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375154" y="3299460"/>
              <a:ext cx="18521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카메라 스캔으로 3초 진입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376297" y="3609499"/>
              <a:ext cx="18544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스토어 다운로드 / 가입 불필요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6297" y="3847624"/>
              <a:ext cx="19050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5"/>
                </a:buClr>
                <a:buSzTx/>
                <a:buFontTx/>
                <a:buChar char="•"/>
              </a:pPr>
              <a:r>
                <a:rPr lang="ko-KR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닉네임 + 한 줄 Need/Give 등록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76297" y="4085749"/>
              <a:ext cx="22136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78148" indent="-78148">
                <a:buClr>
                  <a:schemeClr val="accent2"/>
                </a:buClr>
                <a:buSzTx/>
                <a:buFontTx/>
                <a:buChar char="•"/>
              </a:pPr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5m 내 나를 채워줄 참가자 즉시 탐색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47750" y="4476750"/>
              <a:ext cx="4524375" cy="476250"/>
            </a:xfrm>
            <a:prstGeom prst="roundRect">
              <a:avLst>
                <a:gd name="adj" fmla="val 16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32535" y="4650581"/>
              <a:ext cx="28814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🌐 http://localhost:5173 (PWA 모바일 웹)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47750" y="5048250"/>
              <a:ext cx="4524375" cy="428625"/>
            </a:xfrm>
            <a:prstGeom prst="roundRect">
              <a:avLst>
                <a:gd name="adj" fmla="val 1777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33297" y="5209699"/>
              <a:ext cx="27316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GitHub: </a:t>
              </a:r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github.com/lim010111/kosscchthon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34125" y="2238375"/>
              <a:ext cx="5095875" cy="3476625"/>
            </a:xfrm>
            <a:prstGeom prst="roundRect">
              <a:avLst>
                <a:gd name="adj" fmla="val 383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14922" y="2514124"/>
              <a:ext cx="8308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QUESTIONS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12255" y="2743200"/>
              <a:ext cx="1474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 &amp; A 질의응답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19875" y="3143250"/>
              <a:ext cx="4524375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6772275" y="3333750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47916" y="3306128"/>
              <a:ext cx="32175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Need-Give 비대칭 상보성 알고리즘 수식 및 가중치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19875" y="3695700"/>
              <a:ext cx="4524375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6772275" y="3886200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47916" y="3858578"/>
              <a:ext cx="32320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Web Bluetooth 브라우저 호환성 및 비콘 폴백 전략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19875" y="4248150"/>
              <a:ext cx="4524375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6772275" y="4438650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47916" y="4411028"/>
              <a:ext cx="32898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No-DB 제로 리텐션 아키텍처 및 개인정보 영구 파기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619875" y="4800600"/>
              <a:ext cx="4524375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772275" y="4991100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47916" y="4963478"/>
              <a:ext cx="28481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B2B 행사 주최자 라이선스 모델 및 수익 구조</a:t>
              </a:r>
            </a:p>
          </p:txBody>
        </p:sp>
      </p:grpSp>
      <p:grpSp>
        <p:nvGrpSpPr>
          <p:cNvPr id="49" name="footer-section"/>
          <p:cNvGrpSpPr/>
          <p:nvPr/>
        </p:nvGrpSpPr>
        <p:grpSpPr>
          <a:xfrm>
            <a:off x="757047" y="5953125"/>
            <a:ext cx="10677906" cy="323564"/>
            <a:chOff x="757047" y="5953125"/>
            <a:chExt cx="10677906" cy="323564"/>
          </a:xfrm>
        </p:grpSpPr>
        <p:sp>
          <p:nvSpPr>
            <p:cNvPr id="46" name="Line 46"/>
            <p:cNvSpPr/>
            <p:nvPr/>
          </p:nvSpPr>
          <p:spPr>
            <a:xfrm>
              <a:off x="762000" y="5953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57047" y="6085999"/>
              <a:ext cx="27977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Bside | 국민대학교 · 숭실대학교 · 순천향대학교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63895" y="6085999"/>
              <a:ext cx="1571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경청해 주셔서 감사합니다.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bside_deck">
  <a:themeElements>
    <a:clrScheme name="bside_deck">
      <a:dk1>
        <a:srgbClr val="334155"/>
      </a:dk1>
      <a:lt1>
        <a:srgbClr val="F8FAFC"/>
      </a:lt1>
      <a:dk2>
        <a:srgbClr val="1F497D"/>
      </a:dk2>
      <a:lt2>
        <a:srgbClr val="F8FAFC"/>
      </a:lt2>
      <a:accent1>
        <a:srgbClr val="0F172A"/>
      </a:accent1>
      <a:accent2>
        <a:srgbClr val="2563EB"/>
      </a:accent2>
      <a:accent3>
        <a:srgbClr val="475569"/>
      </a:accent3>
      <a:accent4>
        <a:srgbClr val="0F172A"/>
      </a:accent4>
      <a:accent5>
        <a:srgbClr val="64748B"/>
      </a:accent5>
      <a:accent6>
        <a:srgbClr val="E2E8F0"/>
      </a:accent6>
      <a:hlink>
        <a:srgbClr val="2563EB"/>
      </a:hlink>
      <a:folHlink>
        <a:srgbClr val="475569"/>
      </a:folHlink>
    </a:clrScheme>
    <a:fontScheme name="bside_deck">
      <a:maj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side_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side_deck">
  <a:themeElements>
    <a:clrScheme name="bside_deck">
      <a:dk1>
        <a:srgbClr val="334155"/>
      </a:dk1>
      <a:lt1>
        <a:srgbClr val="F8FAFC"/>
      </a:lt1>
      <a:dk2>
        <a:srgbClr val="1F497D"/>
      </a:dk2>
      <a:lt2>
        <a:srgbClr val="F8FAFC"/>
      </a:lt2>
      <a:accent1>
        <a:srgbClr val="0F172A"/>
      </a:accent1>
      <a:accent2>
        <a:srgbClr val="2563EB"/>
      </a:accent2>
      <a:accent3>
        <a:srgbClr val="475569"/>
      </a:accent3>
      <a:accent4>
        <a:srgbClr val="0F172A"/>
      </a:accent4>
      <a:accent5>
        <a:srgbClr val="64748B"/>
      </a:accent5>
      <a:accent6>
        <a:srgbClr val="E2E8F0"/>
      </a:accent6>
      <a:hlink>
        <a:srgbClr val="2563EB"/>
      </a:hlink>
      <a:folHlink>
        <a:srgbClr val="475569"/>
      </a:folHlink>
    </a:clrScheme>
    <a:fontScheme name="bside_deck">
      <a:maj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side_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ko-KR</dc:language>
  <cp:lastModifiedBy/>
  <cp:revision>1</cp:revision>
  <dcterms:created xsi:type="dcterms:W3CDTF">2026-09-19T13:03:57Z</dcterms:created>
  <dcterms:modified xsi:type="dcterms:W3CDTF">2026-09-19T13:03:57Z</dcterms:modified>
  <cp:category/>
  <cp:contentStatus/>
</cp:coreProperties>
</file>