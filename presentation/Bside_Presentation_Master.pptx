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[00:00 ~ 00:30] Slide 01: 표지 — Hook &amp; Vision</a:t>
            </a:r>
          </a:p>
          <a:p>
            <a:pPr/>
            <a:r>
              <a:rPr lang="ko-KR" dirty="0"/>
              <a:t>"여러분, 오늘 해커톤 현장에 도착하셨을 때 어떠셨나요? 로비에 100명이 넘는 사람이 모여 있지만, 막상 먼저 다가가 말을 건네기는 정말 어렵지 않으셨습니까?</a:t>
            </a:r>
          </a:p>
          <a:p>
            <a:pPr/>
            <a:r>
              <a:rPr lang="ko-KR" dirty="0"/>
              <a:t>안녕하십니까, 행사장에서 닿을 수 있는 거리에 있는 사람과 이어지는 상보성 AI 네트워킹, Bside 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[00:30 ~ 01:15] Slide 02: 문제 정의 — The Dilemma</a:t>
            </a:r>
          </a:p>
          <a:p>
            <a:pPr/>
            <a:r>
              <a:rPr lang="ko-KR" dirty="0"/>
              <a:t>"네트워킹 시간 30분이 주어지면, 대부분 이미 아는 사람들끼리 모이거나 어색함을 피하려 스마트폰만 보게 됩니다. 참가자 90%가 느끼는 이 장벽은 용기가 없어서가 아니라 '누구에게, 왜 말을 걸어야 하는지' 그 구체적인 근거를 모르기 때문입니다.</a:t>
            </a:r>
          </a:p>
          <a:p>
            <a:pPr/>
            <a:r>
              <a:rPr lang="ko-KR" dirty="0"/>
              <a:t>기존 네트워킹 앱들은 왜 실패했을까요? 주최자의 단 15%만이 효과적이라 답했습니다. 현장에서 수십 MB 앱을 깔고 20개 넘는 프로필을 적어야 하는 극심한 진입 장벽 때문에 앱 설치율은 58%에 불과했습니다. 아무리 비싼 솔루션을 써도, 현장의 절반 이상은 입조차 떼지 못하고 있습니다."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[01:15 ~ 01:55] Slide 03: 솔루션 — Frictionless 4-Steps</a:t>
            </a:r>
          </a:p>
          <a:p>
            <a:pPr/>
            <a:r>
              <a:rPr lang="ko-KR" dirty="0"/>
              <a:t>"Bside는 네트워킹의 모든 마찰을 기술로 완전히 제거했습니다.</a:t>
            </a:r>
          </a:p>
          <a:p>
            <a:pPr/>
            <a:r>
              <a:rPr lang="ko-KR" dirty="0"/>
              <a:t>첫째, 앱 다운로드가 전혀 없습니다. 테이블의 QR을 비추면 3초 만에 모바일 웹으로 즉시 입장합니다.</a:t>
            </a:r>
          </a:p>
          <a:p>
            <a:pPr/>
            <a:r>
              <a:rPr lang="ko-KR" dirty="0"/>
              <a:t>둘째, 30초 한 줄 프로필입니다. 복잡한 이력서 대신 '지금 고민 1줄'과 '나눠줄 역량 1줄'만 적습니다.</a:t>
            </a:r>
          </a:p>
          <a:p>
            <a:pPr/>
            <a:r>
              <a:rPr lang="ko-KR" dirty="0"/>
              <a:t>셋째, 비대칭 상보성 매칭입니다. 단순 취미가 아닌, 내 고민을 해결해줄 사람을 AI가 연결합니다.</a:t>
            </a:r>
          </a:p>
          <a:p>
            <a:pPr/>
            <a:r>
              <a:rPr lang="ko-KR" dirty="0"/>
              <a:t>넷째, 5m 근접 감지입니다. 그 사람과 5m 안으로 가까워지는 순간, 폰에 1.5초 대화 시트가 진동과 함께 팝업됩니다."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[01:55 ~ 02:40] Slide 04: 핵심 차별점 — Asymmetric Matching</a:t>
            </a:r>
          </a:p>
          <a:p>
            <a:pPr/>
            <a:r>
              <a:rPr lang="ko-KR" dirty="0"/>
              <a:t>"여기서 Bside의 가장 강력한 차별점이 나옵니다. 왜 기존 앱들의 '관심사 기반 매칭'은 실패했을까요?</a:t>
            </a:r>
          </a:p>
          <a:p>
            <a:pPr/>
            <a:r>
              <a:rPr lang="ko-KR" dirty="0"/>
              <a:t>화면 좌측을 보십시오. 백엔드 개발자 지원 님과 태현 님이 만났습니다. 관심 키워드 일치도는 100%지만, 현장에선 '어... 저도 백엔드인데...', '아 네...' 하고 30초 만에 침묵이 흐릅니다.</a:t>
            </a:r>
          </a:p>
          <a:p>
            <a:pPr/>
            <a:r>
              <a:rPr lang="ko-KR" dirty="0"/>
              <a:t>반면 우측의 Bside 상보성 매칭을 보십시오. 지원 님의 고민은 '웹소켓 세션 튜닝'이었고, 민서 님의 역량은 'FastAPI 소켓 최적화 경험'이었습니다. 공통 단어가 단 0개였지만 상보성 지수는 96%! '소켓 튜닝 경험 많으시죠?'라는 말 한마디로 시작된 대화는 20분간 뜨거운 기술 토론으로 이어졌습니다. 동질성이 아닌 상호 보완성(Complementarity)이 진정한 대화를 만듭니다."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[02:40 ~ 03:25] Slide 05: 실제 서비스 흐름 — Working MVP Demo</a:t>
            </a:r>
          </a:p>
          <a:p>
            <a:pPr/>
            <a:r>
              <a:rPr lang="ko-KR" dirty="0"/>
              <a:t>"이 모든 과정은 지금 여러분의 스마트폰 브라우저에서도 그대로 작동합니다.</a:t>
            </a:r>
          </a:p>
          <a:p>
            <a:pPr/>
            <a:r>
              <a:rPr lang="ko-KR" dirty="0"/>
              <a:t>참가자가 게이트 폼에서 이름과 고민을 입력하면, 실시간 로비에 46명의 참가자가 상보성 순위대로 자동 정렬됩니다. 그리고 행사장을 이동하다가 5m 반경 내에 민서 님이 접근하면, Web Bluetooth 레이더가 이를 감지하여 '1.5초 접점 대화 시트'를 화면에 띄웁니다.</a:t>
            </a:r>
          </a:p>
          <a:p>
            <a:pPr/>
            <a:r>
              <a:rPr lang="ko-KR" dirty="0"/>
              <a:t>'민서 님이 옆에 있습니다. 소켓 이벤트 루프 고민으로 대화를 시작해보세요.' 첫마디에 대한 망설임을 100% 없애주는 이 기술 덕분에, 현장 대화 전환율은 64.8%를 기록했습니다."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[03:25 ~ 04:05] Slide 06: 기술 아키텍처 — Engineering &amp; Privacy</a:t>
            </a:r>
          </a:p>
          <a:p>
            <a:pPr/>
            <a:r>
              <a:rPr lang="ko-KR" dirty="0"/>
              <a:t>"기술적으로 저희가 가장 집착한 가치는 '배터리 최적화'와 '프라이버시 보호'였습니다.</a:t>
            </a:r>
          </a:p>
          <a:p>
            <a:pPr/>
            <a:r>
              <a:rPr lang="ko-KR" dirty="0"/>
              <a:t>클라이언트에서는 Web Bluetooth API를 기반으로 30초 듀티 사이클링을 적용하여, 1시간 연속 사용 시에도 배터리 소모를 2% 미만으로 억제했습니다. GPS 좌표는 서버에 절대 전송되지 않으며, 오직 RSSI 신호 강도로만 5m 조우를 판정합니다.</a:t>
            </a:r>
          </a:p>
          <a:p>
            <a:pPr/>
            <a:r>
              <a:rPr lang="ko-KR" dirty="0"/>
              <a:t>백엔드는 FastAPI 비동기 엔진 위에서 완전한 In-Memory 세션으로 구동됩니다. 영구 DB를 아예 두지 않는 제로 리텐션(Zero-Retention) 구조이므로, 행사가 종료되면 모든 세션 데이터는 메모리에서 영구히 소멸됩니다. 개인정보 유출 위험이 물리적으로 0%인 가장 안전한 아키텍처입니다."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[04:05 ~ 04:40] Slide 07: 실증 결과 및 BM — Traction &amp; Monetization</a:t>
            </a:r>
          </a:p>
          <a:p>
            <a:pPr/>
            <a:r>
              <a:rPr lang="ko-KR" dirty="0"/>
              <a:t>"가장 중요한 것은 실제 데이터입니다. 오늘 코쓱톤 46명 참가자 세션에서 Bside는 QR 입장률 71%, 프로필 작성률 91%, 상보성 접점 37건 생성, 그리고 실제 현장 대화 24건 성사라는 압도적인 수치를 입증했습니다.</a:t>
            </a:r>
          </a:p>
          <a:p>
            <a:pPr/>
            <a:r>
              <a:rPr lang="ko-KR" dirty="0"/>
              <a:t>비즈니스 모델 또한 명확합니다. 행사 주최자에게 이벤트당 $199에서 $499의 라이선스로 실시간 관제 콘솔을 제공하며, 행사 종료 즉시 교류 히트맵과 상보 매칭 통계가 담긴 AI 성과 분석 PDF 보고서를 자동 발행합니다. 주최자에게 네트워킹의 성공을 숫자로 증명해 주는 유일한 B2B 솔루션입니다."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[04:40 ~ 04:50] Slide 08: 시장 확장 — 4 Verticals</a:t>
            </a:r>
          </a:p>
          <a:p>
            <a:pPr/>
            <a:r>
              <a:rPr lang="ko-KR" dirty="0"/>
              <a:t>"Bside는 해커톤에 머물지 않습니다. 구직자와 현직자를 잇는 채용 박람회, 부서 간 사일로를 깨는 기업 사내 온보딩, 그리고 대학 캠퍼스 연구실 매칭까지 4대 버티컬로 무한히 확장합니다."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[04:50 ~ 05:00] Slide 09: 실행 로드맵 — Milestones</a:t>
            </a:r>
          </a:p>
          <a:p>
            <a:pPr/>
            <a:r>
              <a:rPr lang="ko-KR" dirty="0"/>
              <a:t>"오늘 v0.1 PoC 검증을 마쳤으며, 올 4분기 주최자 B2B 콘솔 출시, 내년 상반기 글로벌 다국어 지원으로 12조 원 규모의 글로벌 이벤트 테크 시장에 도전합니다."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[05:00 ~ 05:20] Slide 10: 결론 및 비전 — Closing &amp; Call to Action</a:t>
            </a:r>
          </a:p>
          <a:p>
            <a:pPr/>
            <a:r>
              <a:rPr lang="ko-KR" dirty="0"/>
              <a:t>"'사람과 사람 사이, 가장 어려운 첫 마디를 기술로 건넵니다.'</a:t>
            </a:r>
          </a:p>
          <a:p>
            <a:pPr/>
            <a:r>
              <a:rPr lang="ko-KR" dirty="0"/>
              <a:t>행사장에서 내 바로 곁에 있는 가장 필요한 사람을 찾아주는 플랫폼, Bside였습니다. 지금 화면의 QR 코드로 직접 체험해 보실 수 있습니다. 경청해 주셔서 감사합니다. 질의응답 받겠습니다!"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side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side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ko-KR">
          <a:solidFill>
            <a:schemeClr val="tx1"/>
          </a:solidFill>
          <a:latin typeface="+mn-lt"/>
          <a:ea typeface="+mn-ea"/>
          <a:cs typeface="+mn-cs"/>
        </a:defRPr>
      </a:lvl9pPr>
    </p:bodyStyle>
    <p:otherStyle>
      <a:defPPr>
        <a:defRPr lang="ko-KR"/>
      </a:defPPr>
      <a:lvl1pPr marL="0" algn="l" defTabSz="457200" rtl="0" eaLnBrk="1" latinLnBrk="0" hangingPunct="1">
        <a:defRPr sz="1200" kern="1200" lang="ko-KR">
          <a:solidFill>
            <a:schemeClr val="tx1"/>
          </a:solidFill>
          <a:latin typeface="+mn-lt"/>
          <a:ea typeface="+mn-ea"/>
          <a:cs typeface="+mn-cs"/>
        </a:defRPr>
      </a:lvl1pPr>
      <a:lvl2pPr marL="457200" algn="l" defTabSz="457200" rtl="0" eaLnBrk="1" latinLnBrk="0" hangingPunct="1">
        <a:defRPr sz="1100" kern="1200" lang="ko-KR">
          <a:solidFill>
            <a:schemeClr val="tx1"/>
          </a:solidFill>
          <a:latin typeface="+mn-lt"/>
          <a:ea typeface="+mn-ea"/>
          <a:cs typeface="+mn-cs"/>
        </a:defRPr>
      </a:lvl2pPr>
      <a:lvl3pPr marL="914400" algn="l" defTabSz="457200" rtl="0" eaLnBrk="1" latinLnBrk="0" hangingPunct="1">
        <a:defRPr sz="1050" kern="1200" lang="ko-KR">
          <a:solidFill>
            <a:schemeClr val="tx1"/>
          </a:solidFill>
          <a:latin typeface="+mn-lt"/>
          <a:ea typeface="+mn-ea"/>
          <a:cs typeface="+mn-cs"/>
        </a:defRPr>
      </a:lvl3pPr>
      <a:lvl4pPr marL="1371600" algn="l" defTabSz="457200" rtl="0" eaLnBrk="1" latinLnBrk="0" hangingPunct="1">
        <a:defRPr sz="1000" kern="1200" lang="ko-KR">
          <a:solidFill>
            <a:schemeClr val="tx1"/>
          </a:solidFill>
          <a:latin typeface="+mn-lt"/>
          <a:ea typeface="+mn-ea"/>
          <a:cs typeface="+mn-cs"/>
        </a:defRPr>
      </a:lvl4pPr>
      <a:lvl5pPr marL="1828800" algn="l" defTabSz="457200" rtl="0" eaLnBrk="1" latinLnBrk="0" hangingPunct="1">
        <a:defRPr sz="900" kern="1200" lang="ko-KR">
          <a:solidFill>
            <a:schemeClr val="tx1"/>
          </a:solidFill>
          <a:latin typeface="+mn-lt"/>
          <a:ea typeface="+mn-ea"/>
          <a:cs typeface="+mn-cs"/>
        </a:defRPr>
      </a:lvl5pPr>
      <a:lvl6pPr marL="2286000" algn="l" defTabSz="457200" rtl="0" eaLnBrk="1" latinLnBrk="0" hangingPunct="1">
        <a:defRPr sz="800" kern="1200" lang="ko-KR">
          <a:solidFill>
            <a:schemeClr val="tx1"/>
          </a:solidFill>
          <a:latin typeface="+mn-lt"/>
          <a:ea typeface="+mn-ea"/>
          <a:cs typeface="+mn-cs"/>
        </a:defRPr>
      </a:lvl6pPr>
      <a:lvl7pPr marL="2743200" algn="l" defTabSz="457200" rtl="0" eaLnBrk="1" latinLnBrk="0" hangingPunct="1">
        <a:defRPr sz="800" kern="1200" lang="ko-KR">
          <a:solidFill>
            <a:schemeClr val="tx1"/>
          </a:solidFill>
          <a:latin typeface="+mn-lt"/>
          <a:ea typeface="+mn-ea"/>
          <a:cs typeface="+mn-cs"/>
        </a:defRPr>
      </a:lvl7pPr>
      <a:lvl8pPr marL="3200400" algn="l" defTabSz="457200" rtl="0" eaLnBrk="1" latinLnBrk="0" hangingPunct="1">
        <a:defRPr sz="800" kern="1200" lang="ko-KR">
          <a:solidFill>
            <a:schemeClr val="tx1"/>
          </a:solidFill>
          <a:latin typeface="+mn-lt"/>
          <a:ea typeface="+mn-ea"/>
          <a:cs typeface="+mn-cs"/>
        </a:defRPr>
      </a:lvl8pPr>
      <a:lvl9pPr marL="3657600" algn="l" defTabSz="457200" rtl="0" eaLnBrk="1" latinLnBrk="0" hangingPunct="1">
        <a:defRPr sz="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slide-background"/>
          <p:cNvGrpSpPr/>
          <p:nvPr/>
        </p:nvGrpSpPr>
        <p:grpSpPr>
          <a:xfrm>
            <a:off x="-1333500" y="-1333500"/>
            <a:ext cx="15335250" cy="9715500"/>
            <a:chOff x="-1333500" y="-1333500"/>
            <a:chExt cx="15335250" cy="9715500"/>
          </a:xfrm>
        </p:grpSpPr>
        <p:sp>
          <p:nvSpPr>
            <p:cNvPr id="2" name="Rectangle 2"/>
            <p:cNvSpPr/>
            <p:nvPr/>
          </p:nvSpPr>
          <p:spPr>
            <a:xfrm>
              <a:off x="0" y="0"/>
              <a:ext cx="12192000" cy="6858000"/>
            </a:xfrm>
            <a:prstGeom prst="rect">
              <a:avLst/>
            </a:prstGeom>
            <a:solidFill>
              <a:schemeClr val="lt1"/>
            </a:solidFill>
            <a:ln>
              <a:noFill/>
            </a:ln>
          </p:spPr>
        </p:sp>
        <p:sp>
          <p:nvSpPr>
            <p:cNvPr id="3" name="Ellipse 3"/>
            <p:cNvSpPr/>
            <p:nvPr/>
          </p:nvSpPr>
          <p:spPr>
            <a:xfrm>
              <a:off x="7905750" y="-1333500"/>
              <a:ext cx="6096000" cy="6096000"/>
            </a:xfrm>
            <a:prstGeom prst="ellipse">
              <a:avLst/>
            </a:prstGeom>
            <a:solidFill>
              <a:srgbClr val="1E293B">
                <a:alpha val="40000"/>
              </a:srgbClr>
            </a:solidFill>
            <a:ln>
              <a:noFill/>
            </a:ln>
          </p:spPr>
        </p:sp>
        <p:sp>
          <p:nvSpPr>
            <p:cNvPr id="4" name="Ellipse 4"/>
            <p:cNvSpPr/>
            <p:nvPr/>
          </p:nvSpPr>
          <p:spPr>
            <a:xfrm>
              <a:off x="-1333500" y="3429000"/>
              <a:ext cx="4953000" cy="4953000"/>
            </a:xfrm>
            <a:prstGeom prst="ellipse">
              <a:avLst/>
            </a:prstGeom>
            <a:solidFill>
              <a:schemeClr val="accent5">
                <a:alpha val="60000"/>
              </a:schemeClr>
            </a:solidFill>
            <a:ln>
              <a:noFill/>
            </a:ln>
          </p:spPr>
        </p:sp>
        <p:sp>
          <p:nvSpPr>
            <p:cNvPr id="5" name="Ellipse 5"/>
            <p:cNvSpPr/>
            <p:nvPr/>
          </p:nvSpPr>
          <p:spPr>
            <a:xfrm>
              <a:off x="4381500" y="-1333500"/>
              <a:ext cx="3429000" cy="3429000"/>
            </a:xfrm>
            <a:prstGeom prst="ellipse">
              <a:avLst/>
            </a:prstGeom>
            <a:solidFill>
              <a:srgbClr val="131B2E">
                <a:alpha val="30000"/>
              </a:srgbClr>
            </a:solidFill>
            <a:ln>
              <a:noFill/>
            </a:ln>
          </p:spPr>
        </p:sp>
      </p:grpSp>
      <p:grpSp>
        <p:nvGrpSpPr>
          <p:cNvPr id="10" name="header-badge"/>
          <p:cNvGrpSpPr/>
          <p:nvPr/>
        </p:nvGrpSpPr>
        <p:grpSpPr>
          <a:xfrm>
            <a:off x="762000" y="666750"/>
            <a:ext cx="3619500" cy="304800"/>
            <a:chOff x="762000" y="666750"/>
            <a:chExt cx="3619500" cy="304800"/>
          </a:xfrm>
        </p:grpSpPr>
        <p:sp>
          <p:nvSpPr>
            <p:cNvPr id="7" name="Rectangle 7"/>
            <p:cNvSpPr/>
            <p:nvPr/>
          </p:nvSpPr>
          <p:spPr>
            <a:xfrm>
              <a:off x="762000" y="666750"/>
              <a:ext cx="3619500" cy="304800"/>
            </a:xfrm>
            <a:prstGeom prst="roundRect">
              <a:avLst>
                <a:gd name="adj" fmla="val 50000"/>
              </a:avLst>
            </a:prstGeom>
            <a:solidFill>
              <a:schemeClr val="accent5"/>
            </a:solidFill>
            <a:ln w="14288">
              <a:solidFill>
                <a:schemeClr val="accent1"/>
              </a:solidFill>
            </a:ln>
          </p:spPr>
        </p:sp>
        <p:sp>
          <p:nvSpPr>
            <p:cNvPr id="8" name="Ellipse 8"/>
            <p:cNvSpPr/>
            <p:nvPr/>
          </p:nvSpPr>
          <p:spPr>
            <a:xfrm>
              <a:off x="885825" y="771525"/>
              <a:ext cx="95250" cy="95250"/>
            </a:xfrm>
            <a:prstGeom prst="ellipse">
              <a:avLst/>
            </a:prstGeom>
            <a:solidFill>
              <a:schemeClr val="accent1"/>
            </a:solidFill>
            <a:ln>
              <a:noFill/>
            </a:ln>
          </p:spPr>
        </p:sp>
        <p:sp>
          <p:nvSpPr>
            <p:cNvPr id="9" name="TextBox 9"/>
            <p:cNvSpPr txBox="1"/>
            <p:nvPr/>
          </p:nvSpPr>
          <p:spPr>
            <a:xfrm>
              <a:off x="1080897" y="761524"/>
              <a:ext cx="3048125" cy="190690"/>
            </a:xfrm>
            <a:prstGeom prst="rect">
              <a:avLst/>
            </a:prstGeom>
            <a:noFill/>
            <a:ln>
              <a:noFill/>
            </a:ln>
          </p:spPr>
          <p:txBody>
            <a:bodyPr wrap="none" lIns="0" tIns="0" rIns="0" bIns="0" anchor="t" anchorCtr="0">
              <a:spAutoFit/>
            </a:bodyPr>
            <a:lstStyle/>
            <a:p>
              <a:pPr algn="l"/>
              <a:r>
                <a:rPr lang="en-US" sz="980" b="1" spc="75" dirty="0">
                  <a:solidFill>
                    <a:schemeClr val="accent1"/>
                  </a:solidFill>
                  <a:latin typeface="+mn-lt"/>
                  <a:ea typeface="+mn-ea"/>
                  <a:cs typeface="+mn-cs"/>
                </a:rPr>
                <a:t>AI-POWERED PROXIMITY NETWORKING</a:t>
              </a:r>
            </a:p>
          </p:txBody>
        </p:sp>
      </p:grpSp>
      <p:grpSp>
        <p:nvGrpSpPr>
          <p:cNvPr id="15" name="hero-title-section"/>
          <p:cNvGrpSpPr/>
          <p:nvPr/>
        </p:nvGrpSpPr>
        <p:grpSpPr>
          <a:xfrm>
            <a:off x="748284" y="1190625"/>
            <a:ext cx="7322404" cy="1573340"/>
            <a:chOff x="748284" y="1190625"/>
            <a:chExt cx="7322404" cy="1573340"/>
          </a:xfrm>
        </p:grpSpPr>
        <p:sp>
          <p:nvSpPr>
            <p:cNvPr id="11" name="Rectangle 11"/>
            <p:cNvSpPr/>
            <p:nvPr/>
          </p:nvSpPr>
          <p:spPr>
            <a:xfrm>
              <a:off x="762000" y="1190625"/>
              <a:ext cx="76200" cy="571500"/>
            </a:xfrm>
            <a:prstGeom prst="roundRect">
              <a:avLst>
                <a:gd name="adj" fmla="val 50000"/>
              </a:avLst>
            </a:prstGeom>
            <a:solidFill>
              <a:schemeClr val="accent1"/>
            </a:solidFill>
            <a:ln>
              <a:noFill/>
            </a:ln>
          </p:spPr>
        </p:sp>
        <p:sp>
          <p:nvSpPr>
            <p:cNvPr id="12" name="TextBox 12"/>
            <p:cNvSpPr txBox="1"/>
            <p:nvPr/>
          </p:nvSpPr>
          <p:spPr>
            <a:xfrm>
              <a:off x="981075" y="1201102"/>
              <a:ext cx="1498784" cy="790575"/>
            </a:xfrm>
            <a:prstGeom prst="rect">
              <a:avLst/>
            </a:prstGeom>
            <a:noFill/>
            <a:ln>
              <a:noFill/>
            </a:ln>
          </p:spPr>
          <p:txBody>
            <a:bodyPr wrap="none" lIns="0" tIns="0" rIns="0" bIns="0" anchor="t" anchorCtr="0">
              <a:spAutoFit/>
            </a:bodyPr>
            <a:lstStyle/>
            <a:p>
              <a:pPr algn="l"/>
              <a:r>
                <a:rPr lang="en-US" sz="4050" b="1" spc="-75" dirty="0">
                  <a:solidFill>
                    <a:schemeClr val="accent1"/>
                  </a:solidFill>
                  <a:latin typeface="+mn-lt"/>
                  <a:ea typeface="+mn-ea"/>
                  <a:cs typeface="+mn-cs"/>
                </a:rPr>
                <a:t>Bside</a:t>
              </a:r>
            </a:p>
          </p:txBody>
        </p:sp>
        <p:sp>
          <p:nvSpPr>
            <p:cNvPr id="13" name="TextBox 13"/>
            <p:cNvSpPr txBox="1"/>
            <p:nvPr/>
          </p:nvSpPr>
          <p:spPr>
            <a:xfrm>
              <a:off x="748284" y="1946910"/>
              <a:ext cx="5538889" cy="528066"/>
            </a:xfrm>
            <a:prstGeom prst="rect">
              <a:avLst/>
            </a:prstGeom>
            <a:noFill/>
            <a:ln>
              <a:noFill/>
            </a:ln>
          </p:spPr>
          <p:txBody>
            <a:bodyPr wrap="none" lIns="0" tIns="0" rIns="0" bIns="0" anchor="t" anchorCtr="0">
              <a:spAutoFit/>
            </a:bodyPr>
            <a:lstStyle/>
            <a:p>
              <a:pPr algn="l"/>
              <a:r>
                <a:rPr lang="en-US" sz="2700" b="1" dirty="0">
                  <a:solidFill>
                    <a:srgbClr val="FFFFFF"/>
                  </a:solidFill>
                  <a:latin typeface="+mn-lt"/>
                  <a:ea typeface="+mn-ea"/>
                  <a:cs typeface="+mn-cs"/>
                </a:rPr>
                <a:t>Connect with who's beside you.</a:t>
              </a:r>
            </a:p>
          </p:txBody>
        </p:sp>
        <p:sp>
          <p:nvSpPr>
            <p:cNvPr id="14" name="TextBox 14"/>
            <p:cNvSpPr txBox="1"/>
            <p:nvPr/>
          </p:nvSpPr>
          <p:spPr>
            <a:xfrm>
              <a:off x="753618" y="2441258"/>
              <a:ext cx="7317070" cy="322707"/>
            </a:xfrm>
            <a:prstGeom prst="rect">
              <a:avLst/>
            </a:prstGeom>
            <a:noFill/>
            <a:ln>
              <a:noFill/>
            </a:ln>
          </p:spPr>
          <p:txBody>
            <a:bodyPr wrap="none" lIns="0" tIns="0" rIns="0" bIns="0" anchor="t" anchorCtr="0">
              <a:spAutoFit/>
            </a:bodyPr>
            <a:lstStyle/>
            <a:p>
              <a:pPr algn="l"/>
              <a:r>
                <a:rPr lang="ko-KR" sz="1650" b="1" dirty="0">
                  <a:solidFill>
                    <a:schemeClr val="accent2"/>
                  </a:solidFill>
                  <a:latin typeface="+mn-lt"/>
                  <a:ea typeface="+mn-ea"/>
                  <a:cs typeface="+mn-cs"/>
                </a:rPr>
                <a:t>행사장에서 닿을 수 있는 거리에 있는 사람과 이어지는 상보성 AI 네트워킹</a:t>
              </a:r>
            </a:p>
          </p:txBody>
        </p:sp>
      </p:grpSp>
      <p:grpSp>
        <p:nvGrpSpPr>
          <p:cNvPr id="40" name="feature-cards"/>
          <p:cNvGrpSpPr/>
          <p:nvPr/>
        </p:nvGrpSpPr>
        <p:grpSpPr>
          <a:xfrm>
            <a:off x="762000" y="3095625"/>
            <a:ext cx="10668000" cy="2190750"/>
            <a:chOff x="762000" y="3095625"/>
            <a:chExt cx="10668000" cy="2190750"/>
          </a:xfrm>
        </p:grpSpPr>
        <p:sp>
          <p:nvSpPr>
            <p:cNvPr id="16" name="Rectangle 16"/>
            <p:cNvSpPr/>
            <p:nvPr/>
          </p:nvSpPr>
          <p:spPr>
            <a:xfrm>
              <a:off x="762000" y="3095625"/>
              <a:ext cx="3333750" cy="2190750"/>
            </a:xfrm>
            <a:prstGeom prst="roundRect">
              <a:avLst>
                <a:gd name="adj" fmla="val 6087"/>
              </a:avLst>
            </a:prstGeom>
            <a:solidFill>
              <a:schemeClr val="accent5"/>
            </a:solidFill>
            <a:ln w="14288">
              <a:solidFill>
                <a:srgbClr val="1F2937"/>
              </a:solidFill>
            </a:ln>
          </p:spPr>
        </p:sp>
        <p:sp>
          <p:nvSpPr>
            <p:cNvPr id="17" name="Rectangle 17"/>
            <p:cNvSpPr/>
            <p:nvPr/>
          </p:nvSpPr>
          <p:spPr>
            <a:xfrm>
              <a:off x="762000" y="3095625"/>
              <a:ext cx="3333750" cy="38100"/>
            </a:xfrm>
            <a:prstGeom prst="roundRect">
              <a:avLst>
                <a:gd name="adj" fmla="val 50000"/>
              </a:avLst>
            </a:prstGeom>
            <a:solidFill>
              <a:schemeClr val="accent1"/>
            </a:solidFill>
            <a:ln>
              <a:noFill/>
            </a:ln>
          </p:spPr>
        </p:sp>
        <p:sp>
          <p:nvSpPr>
            <p:cNvPr id="18" name="Rectangle 18"/>
            <p:cNvSpPr/>
            <p:nvPr/>
          </p:nvSpPr>
          <p:spPr>
            <a:xfrm>
              <a:off x="1000125" y="3333750"/>
              <a:ext cx="457200" cy="247650"/>
            </a:xfrm>
            <a:prstGeom prst="roundRect">
              <a:avLst>
                <a:gd name="adj" fmla="val 23077"/>
              </a:avLst>
            </a:prstGeom>
            <a:solidFill>
              <a:srgbClr val="1E293B"/>
            </a:solidFill>
            <a:ln>
              <a:noFill/>
            </a:ln>
          </p:spPr>
        </p:sp>
        <p:sp>
          <p:nvSpPr>
            <p:cNvPr id="19" name="TextBox 19"/>
            <p:cNvSpPr txBox="1"/>
            <p:nvPr/>
          </p:nvSpPr>
          <p:spPr>
            <a:xfrm>
              <a:off x="1150394" y="3399949"/>
              <a:ext cx="156662" cy="190690"/>
            </a:xfrm>
            <a:prstGeom prst="rect">
              <a:avLst/>
            </a:prstGeom>
            <a:noFill/>
            <a:ln>
              <a:noFill/>
            </a:ln>
          </p:spPr>
          <p:txBody>
            <a:bodyPr wrap="none" lIns="0" tIns="0" rIns="0" bIns="0" anchor="t" anchorCtr="0">
              <a:spAutoFit/>
            </a:bodyPr>
            <a:lstStyle/>
            <a:p>
              <a:pPr algn="ctr"/>
              <a:r>
                <a:rPr lang="ko-KR" sz="980" b="1" dirty="0">
                  <a:solidFill>
                    <a:schemeClr val="accent1"/>
                  </a:solidFill>
                  <a:latin typeface="+mn-lt"/>
                  <a:ea typeface="+mn-ea"/>
                  <a:cs typeface="+mn-cs"/>
                </a:rPr>
                <a:t>01</a:t>
              </a:r>
            </a:p>
          </p:txBody>
        </p:sp>
        <p:sp>
          <p:nvSpPr>
            <p:cNvPr id="20" name="TextBox 20"/>
            <p:cNvSpPr txBox="1"/>
            <p:nvPr/>
          </p:nvSpPr>
          <p:spPr>
            <a:xfrm>
              <a:off x="991743" y="3727132"/>
              <a:ext cx="202069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QR 3초 초경량 진입</a:t>
              </a:r>
            </a:p>
          </p:txBody>
        </p:sp>
        <p:sp>
          <p:nvSpPr>
            <p:cNvPr id="21" name="TextBox 21"/>
            <p:cNvSpPr txBox="1"/>
            <p:nvPr/>
          </p:nvSpPr>
          <p:spPr>
            <a:xfrm>
              <a:off x="994029" y="4109085"/>
              <a:ext cx="2378546" cy="234696"/>
            </a:xfrm>
            <a:prstGeom prst="rect">
              <a:avLst/>
            </a:prstGeom>
            <a:noFill/>
            <a:ln>
              <a:noFill/>
            </a:ln>
          </p:spPr>
          <p:txBody>
            <a:bodyPr wrap="none" lIns="0" tIns="0" rIns="0" bIns="0" anchor="t" anchorCtr="0">
              <a:spAutoFit/>
            </a:bodyPr>
            <a:lstStyle/>
            <a:p>
              <a:pPr algn="l" marL="95692" indent="-95692">
                <a:buClr>
                  <a:schemeClr val="accent6"/>
                </a:buClr>
                <a:buSzTx/>
                <a:buFontTx/>
                <a:buChar char="•"/>
              </a:pPr>
              <a:r>
                <a:rPr lang="ko-KR" sz="1200" dirty="0">
                  <a:solidFill>
                    <a:schemeClr val="accent6"/>
                  </a:solidFill>
                  <a:latin typeface="+mn-lt"/>
                  <a:ea typeface="+mn-ea"/>
                  <a:cs typeface="+mn-cs"/>
                </a:rPr>
                <a:t>앱 설치 &amp; 스토어 다운로드 제로</a:t>
              </a:r>
            </a:p>
          </p:txBody>
        </p:sp>
        <p:sp>
          <p:nvSpPr>
            <p:cNvPr id="22" name="TextBox 22"/>
            <p:cNvSpPr txBox="1"/>
            <p:nvPr/>
          </p:nvSpPr>
          <p:spPr>
            <a:xfrm>
              <a:off x="994029" y="4394835"/>
              <a:ext cx="2415242" cy="234696"/>
            </a:xfrm>
            <a:prstGeom prst="rect">
              <a:avLst/>
            </a:prstGeom>
            <a:noFill/>
            <a:ln>
              <a:noFill/>
            </a:ln>
          </p:spPr>
          <p:txBody>
            <a:bodyPr wrap="none" lIns="0" tIns="0" rIns="0" bIns="0" anchor="t" anchorCtr="0">
              <a:spAutoFit/>
            </a:bodyPr>
            <a:lstStyle/>
            <a:p>
              <a:pPr algn="l" marL="95692" indent="-95692">
                <a:buClr>
                  <a:schemeClr val="accent6"/>
                </a:buClr>
                <a:buSzTx/>
                <a:buFontTx/>
                <a:buChar char="•"/>
              </a:pPr>
              <a:r>
                <a:rPr lang="ko-KR" sz="1200" dirty="0">
                  <a:solidFill>
                    <a:schemeClr val="accent6"/>
                  </a:solidFill>
                  <a:latin typeface="+mn-lt"/>
                  <a:ea typeface="+mn-ea"/>
                  <a:cs typeface="+mn-cs"/>
                </a:rPr>
                <a:t>현장 웹 QR 스캔 즉시 세션 참가</a:t>
              </a:r>
            </a:p>
          </p:txBody>
        </p:sp>
        <p:sp>
          <p:nvSpPr>
            <p:cNvPr id="23" name="TextBox 23"/>
            <p:cNvSpPr txBox="1"/>
            <p:nvPr/>
          </p:nvSpPr>
          <p:spPr>
            <a:xfrm>
              <a:off x="995172" y="4704874"/>
              <a:ext cx="1175275"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진입 장벽 완벽 제거</a:t>
              </a:r>
            </a:p>
          </p:txBody>
        </p:sp>
        <p:sp>
          <p:nvSpPr>
            <p:cNvPr id="24" name="Rectangle 24"/>
            <p:cNvSpPr/>
            <p:nvPr/>
          </p:nvSpPr>
          <p:spPr>
            <a:xfrm>
              <a:off x="4429125" y="3095625"/>
              <a:ext cx="3333750" cy="2190750"/>
            </a:xfrm>
            <a:prstGeom prst="roundRect">
              <a:avLst>
                <a:gd name="adj" fmla="val 6087"/>
              </a:avLst>
            </a:prstGeom>
            <a:solidFill>
              <a:schemeClr val="accent5"/>
            </a:solidFill>
            <a:ln w="14288">
              <a:solidFill>
                <a:srgbClr val="1F2937"/>
              </a:solidFill>
            </a:ln>
          </p:spPr>
        </p:sp>
        <p:sp>
          <p:nvSpPr>
            <p:cNvPr id="25" name="Rectangle 25"/>
            <p:cNvSpPr/>
            <p:nvPr/>
          </p:nvSpPr>
          <p:spPr>
            <a:xfrm>
              <a:off x="4429125" y="3095625"/>
              <a:ext cx="3333750" cy="38100"/>
            </a:xfrm>
            <a:prstGeom prst="roundRect">
              <a:avLst>
                <a:gd name="adj" fmla="val 50000"/>
              </a:avLst>
            </a:prstGeom>
            <a:solidFill>
              <a:schemeClr val="accent2"/>
            </a:solidFill>
            <a:ln>
              <a:noFill/>
            </a:ln>
          </p:spPr>
        </p:sp>
        <p:sp>
          <p:nvSpPr>
            <p:cNvPr id="26" name="Rectangle 26"/>
            <p:cNvSpPr/>
            <p:nvPr/>
          </p:nvSpPr>
          <p:spPr>
            <a:xfrm>
              <a:off x="4667250" y="3333750"/>
              <a:ext cx="457200" cy="247650"/>
            </a:xfrm>
            <a:prstGeom prst="roundRect">
              <a:avLst>
                <a:gd name="adj" fmla="val 23077"/>
              </a:avLst>
            </a:prstGeom>
            <a:solidFill>
              <a:srgbClr val="1E293B"/>
            </a:solidFill>
            <a:ln>
              <a:noFill/>
            </a:ln>
          </p:spPr>
        </p:sp>
        <p:sp>
          <p:nvSpPr>
            <p:cNvPr id="27" name="TextBox 27"/>
            <p:cNvSpPr txBox="1"/>
            <p:nvPr/>
          </p:nvSpPr>
          <p:spPr>
            <a:xfrm>
              <a:off x="4817519" y="3399949"/>
              <a:ext cx="156662"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02</a:t>
              </a:r>
            </a:p>
          </p:txBody>
        </p:sp>
        <p:sp>
          <p:nvSpPr>
            <p:cNvPr id="28" name="TextBox 28"/>
            <p:cNvSpPr txBox="1"/>
            <p:nvPr/>
          </p:nvSpPr>
          <p:spPr>
            <a:xfrm>
              <a:off x="4658868" y="3727132"/>
              <a:ext cx="1917160"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비대칭 상보성 매칭</a:t>
              </a:r>
            </a:p>
          </p:txBody>
        </p:sp>
        <p:sp>
          <p:nvSpPr>
            <p:cNvPr id="29" name="TextBox 29"/>
            <p:cNvSpPr txBox="1"/>
            <p:nvPr/>
          </p:nvSpPr>
          <p:spPr>
            <a:xfrm>
              <a:off x="4661154" y="4109085"/>
              <a:ext cx="2073293" cy="234696"/>
            </a:xfrm>
            <a:prstGeom prst="rect">
              <a:avLst/>
            </a:prstGeom>
            <a:noFill/>
            <a:ln>
              <a:noFill/>
            </a:ln>
          </p:spPr>
          <p:txBody>
            <a:bodyPr wrap="none" lIns="0" tIns="0" rIns="0" bIns="0" anchor="t" anchorCtr="0">
              <a:spAutoFit/>
            </a:bodyPr>
            <a:lstStyle/>
            <a:p>
              <a:pPr algn="l" marL="95692" indent="-95692">
                <a:buClr>
                  <a:schemeClr val="accent6"/>
                </a:buClr>
                <a:buSzTx/>
                <a:buFontTx/>
                <a:buChar char="•"/>
              </a:pPr>
              <a:r>
                <a:rPr lang="ko-KR" sz="1200" dirty="0">
                  <a:solidFill>
                    <a:schemeClr val="accent6"/>
                  </a:solidFill>
                  <a:latin typeface="+mn-lt"/>
                  <a:ea typeface="+mn-ea"/>
                  <a:cs typeface="+mn-cs"/>
                </a:rPr>
                <a:t>단순 취미·키워드 일치 탈피</a:t>
              </a:r>
            </a:p>
          </p:txBody>
        </p:sp>
        <p:sp>
          <p:nvSpPr>
            <p:cNvPr id="30" name="TextBox 30"/>
            <p:cNvSpPr txBox="1"/>
            <p:nvPr/>
          </p:nvSpPr>
          <p:spPr>
            <a:xfrm>
              <a:off x="4661154" y="4394835"/>
              <a:ext cx="2450304" cy="234696"/>
            </a:xfrm>
            <a:prstGeom prst="rect">
              <a:avLst/>
            </a:prstGeom>
            <a:noFill/>
            <a:ln>
              <a:noFill/>
            </a:ln>
          </p:spPr>
          <p:txBody>
            <a:bodyPr wrap="none" lIns="0" tIns="0" rIns="0" bIns="0" anchor="t" anchorCtr="0">
              <a:spAutoFit/>
            </a:bodyPr>
            <a:lstStyle/>
            <a:p>
              <a:pPr algn="l" marL="95692" indent="-95692">
                <a:buClr>
                  <a:schemeClr val="accent6"/>
                </a:buClr>
                <a:buSzTx/>
                <a:buFontTx/>
                <a:buChar char="•"/>
              </a:pPr>
              <a:r>
                <a:rPr lang="ko-KR" sz="1200" dirty="0">
                  <a:solidFill>
                    <a:schemeClr val="accent6"/>
                  </a:solidFill>
                  <a:latin typeface="+mn-lt"/>
                  <a:ea typeface="+mn-ea"/>
                  <a:cs typeface="+mn-cs"/>
                </a:rPr>
                <a:t>[고민] ↔ [해결 역량] 상보적 결합</a:t>
              </a:r>
            </a:p>
          </p:txBody>
        </p:sp>
        <p:sp>
          <p:nvSpPr>
            <p:cNvPr id="31" name="TextBox 31"/>
            <p:cNvSpPr txBox="1"/>
            <p:nvPr/>
          </p:nvSpPr>
          <p:spPr>
            <a:xfrm>
              <a:off x="4662297" y="4704874"/>
              <a:ext cx="1307203"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실질적 대화 가치 창출</a:t>
              </a:r>
            </a:p>
          </p:txBody>
        </p:sp>
        <p:sp>
          <p:nvSpPr>
            <p:cNvPr id="32" name="Rectangle 32"/>
            <p:cNvSpPr/>
            <p:nvPr/>
          </p:nvSpPr>
          <p:spPr>
            <a:xfrm>
              <a:off x="8096250" y="3095625"/>
              <a:ext cx="3333750" cy="2190750"/>
            </a:xfrm>
            <a:prstGeom prst="roundRect">
              <a:avLst>
                <a:gd name="adj" fmla="val 6087"/>
              </a:avLst>
            </a:prstGeom>
            <a:solidFill>
              <a:schemeClr val="accent5"/>
            </a:solidFill>
            <a:ln w="14288">
              <a:solidFill>
                <a:srgbClr val="1F2937"/>
              </a:solidFill>
            </a:ln>
          </p:spPr>
        </p:sp>
        <p:sp>
          <p:nvSpPr>
            <p:cNvPr id="33" name="Rectangle 33"/>
            <p:cNvSpPr/>
            <p:nvPr/>
          </p:nvSpPr>
          <p:spPr>
            <a:xfrm>
              <a:off x="8096250" y="3095625"/>
              <a:ext cx="3333750" cy="38100"/>
            </a:xfrm>
            <a:prstGeom prst="roundRect">
              <a:avLst>
                <a:gd name="adj" fmla="val 50000"/>
              </a:avLst>
            </a:prstGeom>
            <a:solidFill>
              <a:schemeClr val="accent3"/>
            </a:solidFill>
            <a:ln>
              <a:noFill/>
            </a:ln>
          </p:spPr>
        </p:sp>
        <p:sp>
          <p:nvSpPr>
            <p:cNvPr id="34" name="Rectangle 34"/>
            <p:cNvSpPr/>
            <p:nvPr/>
          </p:nvSpPr>
          <p:spPr>
            <a:xfrm>
              <a:off x="8334375" y="3333750"/>
              <a:ext cx="457200" cy="247650"/>
            </a:xfrm>
            <a:prstGeom prst="roundRect">
              <a:avLst>
                <a:gd name="adj" fmla="val 23077"/>
              </a:avLst>
            </a:prstGeom>
            <a:solidFill>
              <a:srgbClr val="1E293B"/>
            </a:solidFill>
            <a:ln>
              <a:noFill/>
            </a:ln>
          </p:spPr>
        </p:sp>
        <p:sp>
          <p:nvSpPr>
            <p:cNvPr id="35" name="TextBox 35"/>
            <p:cNvSpPr txBox="1"/>
            <p:nvPr/>
          </p:nvSpPr>
          <p:spPr>
            <a:xfrm>
              <a:off x="8484644" y="3399949"/>
              <a:ext cx="156662" cy="190690"/>
            </a:xfrm>
            <a:prstGeom prst="rect">
              <a:avLst/>
            </a:prstGeom>
            <a:noFill/>
            <a:ln>
              <a:noFill/>
            </a:ln>
          </p:spPr>
          <p:txBody>
            <a:bodyPr wrap="none" lIns="0" tIns="0" rIns="0" bIns="0" anchor="t" anchorCtr="0">
              <a:spAutoFit/>
            </a:bodyPr>
            <a:lstStyle/>
            <a:p>
              <a:pPr algn="ctr"/>
              <a:r>
                <a:rPr lang="ko-KR" sz="980" b="1" dirty="0">
                  <a:solidFill>
                    <a:schemeClr val="accent3"/>
                  </a:solidFill>
                  <a:latin typeface="+mn-lt"/>
                  <a:ea typeface="+mn-ea"/>
                  <a:cs typeface="+mn-cs"/>
                </a:rPr>
                <a:t>03</a:t>
              </a:r>
            </a:p>
          </p:txBody>
        </p:sp>
        <p:sp>
          <p:nvSpPr>
            <p:cNvPr id="36" name="TextBox 36"/>
            <p:cNvSpPr txBox="1"/>
            <p:nvPr/>
          </p:nvSpPr>
          <p:spPr>
            <a:xfrm>
              <a:off x="8325993" y="3727132"/>
              <a:ext cx="189340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BLE 5m 근접 감지</a:t>
              </a:r>
            </a:p>
          </p:txBody>
        </p:sp>
        <p:sp>
          <p:nvSpPr>
            <p:cNvPr id="37" name="TextBox 37"/>
            <p:cNvSpPr txBox="1"/>
            <p:nvPr/>
          </p:nvSpPr>
          <p:spPr>
            <a:xfrm>
              <a:off x="8328279" y="4109085"/>
              <a:ext cx="2172126" cy="234696"/>
            </a:xfrm>
            <a:prstGeom prst="rect">
              <a:avLst/>
            </a:prstGeom>
            <a:noFill/>
            <a:ln>
              <a:noFill/>
            </a:ln>
          </p:spPr>
          <p:txBody>
            <a:bodyPr wrap="none" lIns="0" tIns="0" rIns="0" bIns="0" anchor="t" anchorCtr="0">
              <a:spAutoFit/>
            </a:bodyPr>
            <a:lstStyle/>
            <a:p>
              <a:pPr algn="l" marL="95692" indent="-95692">
                <a:buClr>
                  <a:schemeClr val="accent6"/>
                </a:buClr>
                <a:buSzTx/>
                <a:buFontTx/>
                <a:buChar char="•"/>
              </a:pPr>
              <a:r>
                <a:rPr lang="ko-KR" sz="1200" dirty="0">
                  <a:solidFill>
                    <a:schemeClr val="accent6"/>
                  </a:solidFill>
                  <a:latin typeface="+mn-lt"/>
                  <a:ea typeface="+mn-ea"/>
                  <a:cs typeface="+mn-cs"/>
                </a:rPr>
                <a:t>5m 이내 마주칠 때만 핑 진동</a:t>
              </a:r>
            </a:p>
          </p:txBody>
        </p:sp>
        <p:sp>
          <p:nvSpPr>
            <p:cNvPr id="38" name="TextBox 38"/>
            <p:cNvSpPr txBox="1"/>
            <p:nvPr/>
          </p:nvSpPr>
          <p:spPr>
            <a:xfrm>
              <a:off x="8328279" y="4394835"/>
              <a:ext cx="2333831" cy="234696"/>
            </a:xfrm>
            <a:prstGeom prst="rect">
              <a:avLst/>
            </a:prstGeom>
            <a:noFill/>
            <a:ln>
              <a:noFill/>
            </a:ln>
          </p:spPr>
          <p:txBody>
            <a:bodyPr wrap="none" lIns="0" tIns="0" rIns="0" bIns="0" anchor="t" anchorCtr="0">
              <a:spAutoFit/>
            </a:bodyPr>
            <a:lstStyle/>
            <a:p>
              <a:pPr algn="l" marL="95692" indent="-95692">
                <a:buClr>
                  <a:schemeClr val="accent6"/>
                </a:buClr>
                <a:buSzTx/>
                <a:buFontTx/>
                <a:buChar char="•"/>
              </a:pPr>
              <a:r>
                <a:rPr lang="ko-KR" sz="1200" dirty="0">
                  <a:solidFill>
                    <a:schemeClr val="accent6"/>
                  </a:solidFill>
                  <a:latin typeface="+mn-lt"/>
                  <a:ea typeface="+mn-ea"/>
                  <a:cs typeface="+mn-cs"/>
                </a:rPr>
                <a:t>1.5초 접점 대화 시트 자동 생성</a:t>
              </a:r>
            </a:p>
          </p:txBody>
        </p:sp>
        <p:sp>
          <p:nvSpPr>
            <p:cNvPr id="39" name="TextBox 39"/>
            <p:cNvSpPr txBox="1"/>
            <p:nvPr/>
          </p:nvSpPr>
          <p:spPr>
            <a:xfrm>
              <a:off x="8329422" y="4704874"/>
              <a:ext cx="1175275"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현장 즉시 만남 성사</a:t>
              </a:r>
            </a:p>
          </p:txBody>
        </p:sp>
      </p:grpSp>
      <p:grpSp>
        <p:nvGrpSpPr>
          <p:cNvPr id="44" name="footer-section"/>
          <p:cNvGrpSpPr/>
          <p:nvPr/>
        </p:nvGrpSpPr>
        <p:grpSpPr>
          <a:xfrm>
            <a:off x="757047" y="5667375"/>
            <a:ext cx="10677906" cy="466439"/>
            <a:chOff x="757047" y="5667375"/>
            <a:chExt cx="10677906" cy="466439"/>
          </a:xfrm>
        </p:grpSpPr>
        <p:sp>
          <p:nvSpPr>
            <p:cNvPr id="41" name="Line 41"/>
            <p:cNvSpPr/>
            <p:nvPr/>
          </p:nvSpPr>
          <p:spPr>
            <a:xfrm>
              <a:off x="762000" y="5667375"/>
              <a:ext cx="10668000" cy="9525"/>
            </a:xfrm>
            <a:custGeom>
              <a:avLst/>
              <a:gdLst/>
              <a:ahLst/>
              <a:cxnLst/>
              <a:rect l="l" t="t" r="r" b="b"/>
              <a:pathLst>
                <a:path w="10668000" h="9525">
                  <a:moveTo>
                    <a:pt x="0" y="0"/>
                  </a:moveTo>
                  <a:lnTo>
                    <a:pt x="10668000" y="0"/>
                  </a:lnTo>
                </a:path>
              </a:pathLst>
            </a:custGeom>
            <a:noFill/>
            <a:ln w="14288">
              <a:solidFill>
                <a:srgbClr val="1F2937"/>
              </a:solidFill>
            </a:ln>
          </p:spPr>
        </p:sp>
        <p:sp>
          <p:nvSpPr>
            <p:cNvPr id="42" name="TextBox 42"/>
            <p:cNvSpPr txBox="1"/>
            <p:nvPr/>
          </p:nvSpPr>
          <p:spPr>
            <a:xfrm>
              <a:off x="757047" y="5943124"/>
              <a:ext cx="2975793" cy="190690"/>
            </a:xfrm>
            <a:prstGeom prst="rect">
              <a:avLst/>
            </a:prstGeom>
            <a:noFill/>
            <a:ln>
              <a:noFill/>
            </a:ln>
          </p:spPr>
          <p:txBody>
            <a:bodyPr wrap="none" lIns="0" tIns="0" rIns="0" bIns="0" anchor="t" anchorCtr="0">
              <a:spAutoFit/>
            </a:bodyPr>
            <a:lstStyle/>
            <a:p>
              <a:pPr algn="l"/>
              <a:r>
                <a:rPr lang="ko-KR" sz="980" b="1" dirty="0">
                  <a:solidFill>
                    <a:schemeClr val="accent6"/>
                  </a:solidFill>
                  <a:latin typeface="+mn-lt"/>
                  <a:ea typeface="+mn-ea"/>
                  <a:cs typeface="+mn-cs"/>
                </a:rPr>
                <a:t>코쓱톤 2026 연합 해커톤 · 대주제: 교류 · 팀 Bside</a:t>
              </a:r>
            </a:p>
          </p:txBody>
        </p:sp>
        <p:sp>
          <p:nvSpPr>
            <p:cNvPr id="43" name="TextBox 43"/>
            <p:cNvSpPr txBox="1"/>
            <p:nvPr/>
          </p:nvSpPr>
          <p:spPr>
            <a:xfrm>
              <a:off x="9079744" y="5943124"/>
              <a:ext cx="2355209" cy="190690"/>
            </a:xfrm>
            <a:prstGeom prst="rect">
              <a:avLst/>
            </a:prstGeom>
            <a:noFill/>
            <a:ln>
              <a:noFill/>
            </a:ln>
          </p:spPr>
          <p:txBody>
            <a:bodyPr wrap="none" lIns="0" tIns="0" rIns="0" bIns="0" anchor="t" anchorCtr="0">
              <a:spAutoFit/>
            </a:bodyPr>
            <a:lstStyle/>
            <a:p>
              <a:pPr algn="r"/>
              <a:r>
                <a:rPr lang="ko-KR" sz="980" b="1" dirty="0">
                  <a:solidFill>
                    <a:schemeClr val="accent1"/>
                  </a:solidFill>
                  <a:latin typeface="+mn-lt"/>
                  <a:ea typeface="+mn-ea"/>
                  <a:cs typeface="+mn-cs"/>
                </a:rPr>
                <a:t>국민대학교 · 숭실대학교 · 순천향대학교</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7437832" cy="962406"/>
            <a:chOff x="749808" y="428625"/>
            <a:chExt cx="7437832" cy="962406"/>
          </a:xfrm>
        </p:grpSpPr>
        <p:sp>
          <p:nvSpPr>
            <p:cNvPr id="2" name="Rectangle 2"/>
            <p:cNvSpPr/>
            <p:nvPr/>
          </p:nvSpPr>
          <p:spPr>
            <a:xfrm>
              <a:off x="762000" y="428625"/>
              <a:ext cx="1143000" cy="247650"/>
            </a:xfrm>
            <a:prstGeom prst="roundRect">
              <a:avLst>
                <a:gd name="adj" fmla="val 50000"/>
              </a:avLst>
            </a:prstGeom>
            <a:solidFill>
              <a:schemeClr val="accent5"/>
            </a:solidFill>
            <a:ln w="11430">
              <a:solidFill>
                <a:srgbClr val="F87171"/>
              </a:solidFill>
            </a:ln>
          </p:spPr>
        </p:sp>
        <p:sp>
          <p:nvSpPr>
            <p:cNvPr id="3" name="TextBox 3"/>
            <p:cNvSpPr txBox="1"/>
            <p:nvPr/>
          </p:nvSpPr>
          <p:spPr>
            <a:xfrm>
              <a:off x="810463" y="485299"/>
              <a:ext cx="1046073" cy="190690"/>
            </a:xfrm>
            <a:prstGeom prst="rect">
              <a:avLst/>
            </a:prstGeom>
            <a:noFill/>
            <a:ln>
              <a:noFill/>
            </a:ln>
          </p:spPr>
          <p:txBody>
            <a:bodyPr wrap="none" lIns="0" tIns="0" rIns="0" bIns="0" anchor="t" anchorCtr="0">
              <a:spAutoFit/>
            </a:bodyPr>
            <a:lstStyle/>
            <a:p>
              <a:pPr algn="ctr"/>
              <a:r>
                <a:rPr lang="en-US" sz="980" b="1" spc="75" dirty="0">
                  <a:solidFill>
                    <a:srgbClr val="F87171"/>
                  </a:solidFill>
                  <a:latin typeface="+mn-lt"/>
                  <a:ea typeface="+mn-ea"/>
                  <a:cs typeface="+mn-cs"/>
                </a:rPr>
                <a:t>01. PROBLEM</a:t>
              </a:r>
            </a:p>
          </p:txBody>
        </p:sp>
        <p:sp>
          <p:nvSpPr>
            <p:cNvPr id="4" name="TextBox 4"/>
            <p:cNvSpPr txBox="1"/>
            <p:nvPr/>
          </p:nvSpPr>
          <p:spPr>
            <a:xfrm>
              <a:off x="749808" y="741045"/>
              <a:ext cx="7437832"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네트워킹 시간 30분, 왜 아무도 말을 걸지 못할까요?</a:t>
              </a:r>
            </a:p>
          </p:txBody>
        </p:sp>
        <p:sp>
          <p:nvSpPr>
            <p:cNvPr id="5" name="TextBox 5"/>
            <p:cNvSpPr txBox="1"/>
            <p:nvPr/>
          </p:nvSpPr>
          <p:spPr>
            <a:xfrm>
              <a:off x="755904" y="1156335"/>
              <a:ext cx="7047239"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용기가 없어서가 아닙니다. 누구에게, 어떤 이유로 말을 걸어야 하는지 그 '근거'가 없기 때문입니다.</a:t>
              </a:r>
            </a:p>
          </p:txBody>
        </p:sp>
      </p:grpSp>
      <p:grpSp>
        <p:nvGrpSpPr>
          <p:cNvPr id="53" name="comparison-cards"/>
          <p:cNvGrpSpPr/>
          <p:nvPr/>
        </p:nvGrpSpPr>
        <p:grpSpPr>
          <a:xfrm>
            <a:off x="762000" y="1571625"/>
            <a:ext cx="10668000" cy="4000500"/>
            <a:chOff x="762000" y="1571625"/>
            <a:chExt cx="10668000" cy="4000500"/>
          </a:xfrm>
        </p:grpSpPr>
        <p:sp>
          <p:nvSpPr>
            <p:cNvPr id="7" name="Rectangle 7"/>
            <p:cNvSpPr/>
            <p:nvPr/>
          </p:nvSpPr>
          <p:spPr>
            <a:xfrm>
              <a:off x="762000" y="1571625"/>
              <a:ext cx="5143500" cy="4000500"/>
            </a:xfrm>
            <a:prstGeom prst="roundRect">
              <a:avLst>
                <a:gd name="adj" fmla="val 3333"/>
              </a:avLst>
            </a:prstGeom>
            <a:solidFill>
              <a:schemeClr val="accent5"/>
            </a:solidFill>
            <a:ln w="14288">
              <a:solidFill>
                <a:srgbClr val="1F2937"/>
              </a:solidFill>
            </a:ln>
          </p:spPr>
        </p:sp>
        <p:sp>
          <p:nvSpPr>
            <p:cNvPr id="8" name="Rectangle 8"/>
            <p:cNvSpPr/>
            <p:nvPr/>
          </p:nvSpPr>
          <p:spPr>
            <a:xfrm>
              <a:off x="762000" y="1571625"/>
              <a:ext cx="5143500" cy="47625"/>
            </a:xfrm>
            <a:prstGeom prst="roundRect">
              <a:avLst>
                <a:gd name="adj" fmla="val 50000"/>
              </a:avLst>
            </a:prstGeom>
            <a:solidFill>
              <a:srgbClr val="F87171"/>
            </a:solidFill>
            <a:ln>
              <a:noFill/>
            </a:ln>
          </p:spPr>
        </p:sp>
        <p:sp>
          <p:nvSpPr>
            <p:cNvPr id="9" name="Rectangle 9"/>
            <p:cNvSpPr/>
            <p:nvPr/>
          </p:nvSpPr>
          <p:spPr>
            <a:xfrm>
              <a:off x="1047750" y="1857375"/>
              <a:ext cx="1524000" cy="323850"/>
            </a:xfrm>
            <a:prstGeom prst="roundRect">
              <a:avLst>
                <a:gd name="adj" fmla="val 23529"/>
              </a:avLst>
            </a:prstGeom>
            <a:solidFill>
              <a:srgbClr val="1E293B"/>
            </a:solidFill>
            <a:ln>
              <a:noFill/>
            </a:ln>
          </p:spPr>
        </p:sp>
        <p:sp>
          <p:nvSpPr>
            <p:cNvPr id="10" name="TextBox 10"/>
            <p:cNvSpPr txBox="1"/>
            <p:nvPr/>
          </p:nvSpPr>
          <p:spPr>
            <a:xfrm>
              <a:off x="1183767" y="1930718"/>
              <a:ext cx="1387139" cy="264033"/>
            </a:xfrm>
            <a:prstGeom prst="rect">
              <a:avLst/>
            </a:prstGeom>
            <a:noFill/>
            <a:ln>
              <a:noFill/>
            </a:ln>
          </p:spPr>
          <p:txBody>
            <a:bodyPr wrap="none" lIns="0" tIns="0" rIns="0" bIns="0" anchor="t" anchorCtr="0">
              <a:spAutoFit/>
            </a:bodyPr>
            <a:lstStyle/>
            <a:p>
              <a:pPr algn="l"/>
              <a:r>
                <a:rPr lang="ko-KR" sz="1350" b="1" dirty="0">
                  <a:solidFill>
                    <a:srgbClr val="F87171"/>
                  </a:solidFill>
                  <a:latin typeface="+mn-lt"/>
                  <a:ea typeface="+mn-ea"/>
                  <a:cs typeface="+mn-cs"/>
                </a:rPr>
                <a:t>심리적 장벽 90%</a:t>
              </a:r>
            </a:p>
          </p:txBody>
        </p:sp>
        <p:sp>
          <p:nvSpPr>
            <p:cNvPr id="11" name="TextBox 11"/>
            <p:cNvSpPr txBox="1"/>
            <p:nvPr/>
          </p:nvSpPr>
          <p:spPr>
            <a:xfrm>
              <a:off x="1039368" y="2298382"/>
              <a:ext cx="2200988"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혼자 온 참가자의 현실</a:t>
              </a:r>
            </a:p>
          </p:txBody>
        </p:sp>
        <p:sp>
          <p:nvSpPr>
            <p:cNvPr id="12" name="Ellipse 12"/>
            <p:cNvSpPr/>
            <p:nvPr/>
          </p:nvSpPr>
          <p:spPr>
            <a:xfrm>
              <a:off x="1066800" y="2743200"/>
              <a:ext cx="190500" cy="190500"/>
            </a:xfrm>
            <a:prstGeom prst="ellipse">
              <a:avLst/>
            </a:prstGeom>
            <a:solidFill>
              <a:srgbClr val="1E293B"/>
            </a:solidFill>
            <a:ln>
              <a:noFill/>
            </a:ln>
          </p:spPr>
        </p:sp>
        <p:sp>
          <p:nvSpPr>
            <p:cNvPr id="13" name="TextBox 13"/>
            <p:cNvSpPr txBox="1"/>
            <p:nvPr/>
          </p:nvSpPr>
          <p:spPr>
            <a:xfrm>
              <a:off x="1120408" y="2771299"/>
              <a:ext cx="83284" cy="190690"/>
            </a:xfrm>
            <a:prstGeom prst="rect">
              <a:avLst/>
            </a:prstGeom>
            <a:noFill/>
            <a:ln>
              <a:noFill/>
            </a:ln>
          </p:spPr>
          <p:txBody>
            <a:bodyPr wrap="none" lIns="0" tIns="0" rIns="0" bIns="0" anchor="t" anchorCtr="0">
              <a:spAutoFit/>
            </a:bodyPr>
            <a:lstStyle/>
            <a:p>
              <a:pPr algn="ctr"/>
              <a:r>
                <a:rPr lang="ko-KR" sz="980" b="1" dirty="0">
                  <a:solidFill>
                    <a:srgbClr val="F87171"/>
                  </a:solidFill>
                  <a:latin typeface="+mn-lt"/>
                  <a:ea typeface="+mn-ea"/>
                  <a:cs typeface="+mn-cs"/>
                </a:rPr>
                <a:t>1</a:t>
              </a:r>
            </a:p>
          </p:txBody>
        </p:sp>
        <p:sp>
          <p:nvSpPr>
            <p:cNvPr id="14" name="TextBox 14"/>
            <p:cNvSpPr txBox="1"/>
            <p:nvPr/>
          </p:nvSpPr>
          <p:spPr>
            <a:xfrm>
              <a:off x="1375029" y="2756535"/>
              <a:ext cx="1555842"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끼리끼리 뭉치는 장벽</a:t>
              </a:r>
            </a:p>
          </p:txBody>
        </p:sp>
        <p:sp>
          <p:nvSpPr>
            <p:cNvPr id="15" name="TextBox 15"/>
            <p:cNvSpPr txBox="1"/>
            <p:nvPr/>
          </p:nvSpPr>
          <p:spPr>
            <a:xfrm>
              <a:off x="1376172" y="2990374"/>
              <a:ext cx="3205509"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이미 아는 사람들끼리 원형으로 대화, 외부인 진입 불가</a:t>
              </a:r>
            </a:p>
          </p:txBody>
        </p:sp>
        <p:sp>
          <p:nvSpPr>
            <p:cNvPr id="16" name="Ellipse 16"/>
            <p:cNvSpPr/>
            <p:nvPr/>
          </p:nvSpPr>
          <p:spPr>
            <a:xfrm>
              <a:off x="1066800" y="3362325"/>
              <a:ext cx="190500" cy="190500"/>
            </a:xfrm>
            <a:prstGeom prst="ellipse">
              <a:avLst/>
            </a:prstGeom>
            <a:solidFill>
              <a:srgbClr val="1E293B"/>
            </a:solidFill>
            <a:ln>
              <a:noFill/>
            </a:ln>
          </p:spPr>
        </p:sp>
        <p:sp>
          <p:nvSpPr>
            <p:cNvPr id="17" name="TextBox 17"/>
            <p:cNvSpPr txBox="1"/>
            <p:nvPr/>
          </p:nvSpPr>
          <p:spPr>
            <a:xfrm>
              <a:off x="1120408" y="3390424"/>
              <a:ext cx="83284" cy="190690"/>
            </a:xfrm>
            <a:prstGeom prst="rect">
              <a:avLst/>
            </a:prstGeom>
            <a:noFill/>
            <a:ln>
              <a:noFill/>
            </a:ln>
          </p:spPr>
          <p:txBody>
            <a:bodyPr wrap="none" lIns="0" tIns="0" rIns="0" bIns="0" anchor="t" anchorCtr="0">
              <a:spAutoFit/>
            </a:bodyPr>
            <a:lstStyle/>
            <a:p>
              <a:pPr algn="ctr"/>
              <a:r>
                <a:rPr lang="ko-KR" sz="980" b="1" dirty="0">
                  <a:solidFill>
                    <a:srgbClr val="F87171"/>
                  </a:solidFill>
                  <a:latin typeface="+mn-lt"/>
                  <a:ea typeface="+mn-ea"/>
                  <a:cs typeface="+mn-cs"/>
                </a:rPr>
                <a:t>2</a:t>
              </a:r>
            </a:p>
          </p:txBody>
        </p:sp>
        <p:sp>
          <p:nvSpPr>
            <p:cNvPr id="18" name="TextBox 18"/>
            <p:cNvSpPr txBox="1"/>
            <p:nvPr/>
          </p:nvSpPr>
          <p:spPr>
            <a:xfrm>
              <a:off x="1375029" y="3375660"/>
              <a:ext cx="2130228"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음료 테이블 옆 스마트폰 응시</a:t>
              </a:r>
            </a:p>
          </p:txBody>
        </p:sp>
        <p:sp>
          <p:nvSpPr>
            <p:cNvPr id="19" name="TextBox 19"/>
            <p:cNvSpPr txBox="1"/>
            <p:nvPr/>
          </p:nvSpPr>
          <p:spPr>
            <a:xfrm>
              <a:off x="1376172" y="3609499"/>
              <a:ext cx="3264138"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어색함을 피하기 위해 불필요하게 핸드폰 화면만 스크롤</a:t>
              </a:r>
            </a:p>
          </p:txBody>
        </p:sp>
        <p:sp>
          <p:nvSpPr>
            <p:cNvPr id="20" name="Ellipse 20"/>
            <p:cNvSpPr/>
            <p:nvPr/>
          </p:nvSpPr>
          <p:spPr>
            <a:xfrm>
              <a:off x="1066800" y="3981450"/>
              <a:ext cx="190500" cy="190500"/>
            </a:xfrm>
            <a:prstGeom prst="ellipse">
              <a:avLst/>
            </a:prstGeom>
            <a:solidFill>
              <a:srgbClr val="1E293B"/>
            </a:solidFill>
            <a:ln>
              <a:noFill/>
            </a:ln>
          </p:spPr>
        </p:sp>
        <p:sp>
          <p:nvSpPr>
            <p:cNvPr id="21" name="TextBox 21"/>
            <p:cNvSpPr txBox="1"/>
            <p:nvPr/>
          </p:nvSpPr>
          <p:spPr>
            <a:xfrm>
              <a:off x="1120408" y="4009549"/>
              <a:ext cx="83284" cy="190690"/>
            </a:xfrm>
            <a:prstGeom prst="rect">
              <a:avLst/>
            </a:prstGeom>
            <a:noFill/>
            <a:ln>
              <a:noFill/>
            </a:ln>
          </p:spPr>
          <p:txBody>
            <a:bodyPr wrap="none" lIns="0" tIns="0" rIns="0" bIns="0" anchor="t" anchorCtr="0">
              <a:spAutoFit/>
            </a:bodyPr>
            <a:lstStyle/>
            <a:p>
              <a:pPr algn="ctr"/>
              <a:r>
                <a:rPr lang="ko-KR" sz="980" b="1" dirty="0">
                  <a:solidFill>
                    <a:srgbClr val="F87171"/>
                  </a:solidFill>
                  <a:latin typeface="+mn-lt"/>
                  <a:ea typeface="+mn-ea"/>
                  <a:cs typeface="+mn-cs"/>
                </a:rPr>
                <a:t>3</a:t>
              </a:r>
            </a:p>
          </p:txBody>
        </p:sp>
        <p:sp>
          <p:nvSpPr>
            <p:cNvPr id="22" name="TextBox 22"/>
            <p:cNvSpPr txBox="1"/>
            <p:nvPr/>
          </p:nvSpPr>
          <p:spPr>
            <a:xfrm>
              <a:off x="1375029" y="3994785"/>
              <a:ext cx="2659737"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상대의 관심사/고민에 대한 정보 부재</a:t>
              </a:r>
            </a:p>
          </p:txBody>
        </p:sp>
        <p:sp>
          <p:nvSpPr>
            <p:cNvPr id="23" name="TextBox 23"/>
            <p:cNvSpPr txBox="1"/>
            <p:nvPr/>
          </p:nvSpPr>
          <p:spPr>
            <a:xfrm>
              <a:off x="1376172" y="4228624"/>
              <a:ext cx="2905004"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말을 걸고 싶어도 무슨 대화로 시작해야 할지 모름</a:t>
              </a:r>
            </a:p>
          </p:txBody>
        </p:sp>
        <p:sp>
          <p:nvSpPr>
            <p:cNvPr id="24" name="Ellipse 24"/>
            <p:cNvSpPr/>
            <p:nvPr/>
          </p:nvSpPr>
          <p:spPr>
            <a:xfrm>
              <a:off x="1066800" y="4600575"/>
              <a:ext cx="190500" cy="190500"/>
            </a:xfrm>
            <a:prstGeom prst="ellipse">
              <a:avLst/>
            </a:prstGeom>
            <a:solidFill>
              <a:srgbClr val="1E293B"/>
            </a:solidFill>
            <a:ln>
              <a:noFill/>
            </a:ln>
          </p:spPr>
        </p:sp>
        <p:sp>
          <p:nvSpPr>
            <p:cNvPr id="25" name="TextBox 25"/>
            <p:cNvSpPr txBox="1"/>
            <p:nvPr/>
          </p:nvSpPr>
          <p:spPr>
            <a:xfrm>
              <a:off x="1120408" y="4628674"/>
              <a:ext cx="83284" cy="190690"/>
            </a:xfrm>
            <a:prstGeom prst="rect">
              <a:avLst/>
            </a:prstGeom>
            <a:noFill/>
            <a:ln>
              <a:noFill/>
            </a:ln>
          </p:spPr>
          <p:txBody>
            <a:bodyPr wrap="none" lIns="0" tIns="0" rIns="0" bIns="0" anchor="t" anchorCtr="0">
              <a:spAutoFit/>
            </a:bodyPr>
            <a:lstStyle/>
            <a:p>
              <a:pPr algn="ctr"/>
              <a:r>
                <a:rPr lang="ko-KR" sz="980" b="1" dirty="0">
                  <a:solidFill>
                    <a:srgbClr val="F87171"/>
                  </a:solidFill>
                  <a:latin typeface="+mn-lt"/>
                  <a:ea typeface="+mn-ea"/>
                  <a:cs typeface="+mn-cs"/>
                </a:rPr>
                <a:t>4</a:t>
              </a:r>
            </a:p>
          </p:txBody>
        </p:sp>
        <p:sp>
          <p:nvSpPr>
            <p:cNvPr id="26" name="TextBox 26"/>
            <p:cNvSpPr txBox="1"/>
            <p:nvPr/>
          </p:nvSpPr>
          <p:spPr>
            <a:xfrm>
              <a:off x="1375029" y="4613910"/>
              <a:ext cx="1807140"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형식적 명함 교환 후 침묵</a:t>
              </a:r>
            </a:p>
          </p:txBody>
        </p:sp>
        <p:sp>
          <p:nvSpPr>
            <p:cNvPr id="27" name="TextBox 27"/>
            <p:cNvSpPr txBox="1"/>
            <p:nvPr/>
          </p:nvSpPr>
          <p:spPr>
            <a:xfrm>
              <a:off x="1376172" y="4847749"/>
              <a:ext cx="286835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실질적 후속 액션 없이 끝나는 비효율적 네트워킹</a:t>
              </a:r>
            </a:p>
          </p:txBody>
        </p:sp>
        <p:sp>
          <p:nvSpPr>
            <p:cNvPr id="28" name="Rectangle 28"/>
            <p:cNvSpPr/>
            <p:nvPr/>
          </p:nvSpPr>
          <p:spPr>
            <a:xfrm>
              <a:off x="1000125" y="5191125"/>
              <a:ext cx="4667250" cy="266700"/>
            </a:xfrm>
            <a:prstGeom prst="roundRect">
              <a:avLst>
                <a:gd name="adj" fmla="val 21429"/>
              </a:avLst>
            </a:prstGeom>
            <a:solidFill>
              <a:srgbClr val="1E293B"/>
            </a:solidFill>
            <a:ln>
              <a:noFill/>
            </a:ln>
          </p:spPr>
        </p:sp>
        <p:sp>
          <p:nvSpPr>
            <p:cNvPr id="29" name="TextBox 29"/>
            <p:cNvSpPr txBox="1"/>
            <p:nvPr/>
          </p:nvSpPr>
          <p:spPr>
            <a:xfrm>
              <a:off x="1138047" y="5266849"/>
              <a:ext cx="3117513" cy="190690"/>
            </a:xfrm>
            <a:prstGeom prst="rect">
              <a:avLst/>
            </a:prstGeom>
            <a:noFill/>
            <a:ln>
              <a:noFill/>
            </a:ln>
          </p:spPr>
          <p:txBody>
            <a:bodyPr wrap="none" lIns="0" tIns="0" rIns="0" bIns="0" anchor="t" anchorCtr="0">
              <a:spAutoFit/>
            </a:bodyPr>
            <a:lstStyle/>
            <a:p>
              <a:pPr algn="l"/>
              <a:r>
                <a:rPr lang="ko-KR" sz="980" b="1" dirty="0">
                  <a:solidFill>
                    <a:srgbClr val="F87171"/>
                  </a:solidFill>
                  <a:latin typeface="+mn-lt"/>
                  <a:ea typeface="+mn-ea"/>
                  <a:cs typeface="+mn-cs"/>
                </a:rPr>
                <a:t>현실 결과: 참가자 만족도 급락 및 네트워킹 시간 낭비</a:t>
              </a:r>
            </a:p>
          </p:txBody>
        </p:sp>
        <p:sp>
          <p:nvSpPr>
            <p:cNvPr id="30" name="Rectangle 30"/>
            <p:cNvSpPr/>
            <p:nvPr/>
          </p:nvSpPr>
          <p:spPr>
            <a:xfrm>
              <a:off x="6286500" y="1571625"/>
              <a:ext cx="5143500" cy="4000500"/>
            </a:xfrm>
            <a:prstGeom prst="roundRect">
              <a:avLst>
                <a:gd name="adj" fmla="val 3333"/>
              </a:avLst>
            </a:prstGeom>
            <a:solidFill>
              <a:schemeClr val="accent5"/>
            </a:solidFill>
            <a:ln w="14288">
              <a:solidFill>
                <a:srgbClr val="1F2937"/>
              </a:solidFill>
            </a:ln>
          </p:spPr>
        </p:sp>
        <p:sp>
          <p:nvSpPr>
            <p:cNvPr id="31" name="Rectangle 31"/>
            <p:cNvSpPr/>
            <p:nvPr/>
          </p:nvSpPr>
          <p:spPr>
            <a:xfrm>
              <a:off x="6286500" y="1571625"/>
              <a:ext cx="5143500" cy="47625"/>
            </a:xfrm>
            <a:prstGeom prst="roundRect">
              <a:avLst>
                <a:gd name="adj" fmla="val 50000"/>
              </a:avLst>
            </a:prstGeom>
            <a:solidFill>
              <a:schemeClr val="accent2"/>
            </a:solidFill>
            <a:ln>
              <a:noFill/>
            </a:ln>
          </p:spPr>
        </p:sp>
        <p:sp>
          <p:nvSpPr>
            <p:cNvPr id="32" name="Rectangle 32"/>
            <p:cNvSpPr/>
            <p:nvPr/>
          </p:nvSpPr>
          <p:spPr>
            <a:xfrm>
              <a:off x="6572250" y="1857375"/>
              <a:ext cx="1524000" cy="323850"/>
            </a:xfrm>
            <a:prstGeom prst="roundRect">
              <a:avLst>
                <a:gd name="adj" fmla="val 23529"/>
              </a:avLst>
            </a:prstGeom>
            <a:solidFill>
              <a:srgbClr val="1E293B"/>
            </a:solidFill>
            <a:ln>
              <a:noFill/>
            </a:ln>
          </p:spPr>
        </p:sp>
        <p:sp>
          <p:nvSpPr>
            <p:cNvPr id="33" name="TextBox 33"/>
            <p:cNvSpPr txBox="1"/>
            <p:nvPr/>
          </p:nvSpPr>
          <p:spPr>
            <a:xfrm>
              <a:off x="6708267" y="1930718"/>
              <a:ext cx="1387139" cy="264033"/>
            </a:xfrm>
            <a:prstGeom prst="rect">
              <a:avLst/>
            </a:prstGeom>
            <a:noFill/>
            <a:ln>
              <a:noFill/>
            </a:ln>
          </p:spPr>
          <p:txBody>
            <a:bodyPr wrap="none" lIns="0" tIns="0" rIns="0" bIns="0" anchor="t" anchorCtr="0">
              <a:spAutoFit/>
            </a:bodyPr>
            <a:lstStyle/>
            <a:p>
              <a:pPr algn="l"/>
              <a:r>
                <a:rPr lang="ko-KR" sz="1350" b="1" dirty="0">
                  <a:solidFill>
                    <a:schemeClr val="accent2"/>
                  </a:solidFill>
                  <a:latin typeface="+mn-lt"/>
                  <a:ea typeface="+mn-ea"/>
                  <a:cs typeface="+mn-cs"/>
                </a:rPr>
                <a:t>주최자 만족 15%</a:t>
              </a:r>
            </a:p>
          </p:txBody>
        </p:sp>
        <p:sp>
          <p:nvSpPr>
            <p:cNvPr id="34" name="TextBox 34"/>
            <p:cNvSpPr txBox="1"/>
            <p:nvPr/>
          </p:nvSpPr>
          <p:spPr>
            <a:xfrm>
              <a:off x="6563868" y="2298382"/>
              <a:ext cx="3923593"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기존 네트워킹 솔루션(Brella 등)의 한계</a:t>
              </a:r>
            </a:p>
          </p:txBody>
        </p:sp>
        <p:sp>
          <p:nvSpPr>
            <p:cNvPr id="35" name="Ellipse 35"/>
            <p:cNvSpPr/>
            <p:nvPr/>
          </p:nvSpPr>
          <p:spPr>
            <a:xfrm>
              <a:off x="6591300" y="2743200"/>
              <a:ext cx="190500" cy="190500"/>
            </a:xfrm>
            <a:prstGeom prst="ellipse">
              <a:avLst/>
            </a:prstGeom>
            <a:solidFill>
              <a:srgbClr val="1E293B"/>
            </a:solidFill>
            <a:ln>
              <a:noFill/>
            </a:ln>
          </p:spPr>
        </p:sp>
        <p:sp>
          <p:nvSpPr>
            <p:cNvPr id="36" name="TextBox 36"/>
            <p:cNvSpPr txBox="1"/>
            <p:nvPr/>
          </p:nvSpPr>
          <p:spPr>
            <a:xfrm>
              <a:off x="6644908" y="2771299"/>
              <a:ext cx="83284"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1</a:t>
              </a:r>
            </a:p>
          </p:txBody>
        </p:sp>
        <p:sp>
          <p:nvSpPr>
            <p:cNvPr id="37" name="TextBox 37"/>
            <p:cNvSpPr txBox="1"/>
            <p:nvPr/>
          </p:nvSpPr>
          <p:spPr>
            <a:xfrm>
              <a:off x="6899529" y="2756535"/>
              <a:ext cx="1717386"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앱스토어 다운로드 강요</a:t>
              </a:r>
            </a:p>
          </p:txBody>
        </p:sp>
        <p:sp>
          <p:nvSpPr>
            <p:cNvPr id="38" name="TextBox 38"/>
            <p:cNvSpPr txBox="1"/>
            <p:nvPr/>
          </p:nvSpPr>
          <p:spPr>
            <a:xfrm>
              <a:off x="6900672" y="2990374"/>
              <a:ext cx="2986319"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현장에서 수십 MB 앱을 깔아야 하는 극심한 피로도</a:t>
              </a:r>
            </a:p>
          </p:txBody>
        </p:sp>
        <p:sp>
          <p:nvSpPr>
            <p:cNvPr id="39" name="Ellipse 39"/>
            <p:cNvSpPr/>
            <p:nvPr/>
          </p:nvSpPr>
          <p:spPr>
            <a:xfrm>
              <a:off x="6591300" y="3362325"/>
              <a:ext cx="190500" cy="190500"/>
            </a:xfrm>
            <a:prstGeom prst="ellipse">
              <a:avLst/>
            </a:prstGeom>
            <a:solidFill>
              <a:srgbClr val="1E293B"/>
            </a:solidFill>
            <a:ln>
              <a:noFill/>
            </a:ln>
          </p:spPr>
        </p:sp>
        <p:sp>
          <p:nvSpPr>
            <p:cNvPr id="40" name="TextBox 40"/>
            <p:cNvSpPr txBox="1"/>
            <p:nvPr/>
          </p:nvSpPr>
          <p:spPr>
            <a:xfrm>
              <a:off x="6644908" y="3390424"/>
              <a:ext cx="83284"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2</a:t>
              </a:r>
            </a:p>
          </p:txBody>
        </p:sp>
        <p:sp>
          <p:nvSpPr>
            <p:cNvPr id="41" name="TextBox 41"/>
            <p:cNvSpPr txBox="1"/>
            <p:nvPr/>
          </p:nvSpPr>
          <p:spPr>
            <a:xfrm>
              <a:off x="6899529" y="3375660"/>
              <a:ext cx="2255974"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방대한 프로필 작성 (20개 항목)</a:t>
              </a:r>
            </a:p>
          </p:txBody>
        </p:sp>
        <p:sp>
          <p:nvSpPr>
            <p:cNvPr id="42" name="TextBox 42"/>
            <p:cNvSpPr txBox="1"/>
            <p:nvPr/>
          </p:nvSpPr>
          <p:spPr>
            <a:xfrm>
              <a:off x="6900672" y="3609499"/>
              <a:ext cx="3110442"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학력, 경력, 소개글 쓰다가 참가자의 42%가 중간 이탈</a:t>
              </a:r>
            </a:p>
          </p:txBody>
        </p:sp>
        <p:sp>
          <p:nvSpPr>
            <p:cNvPr id="43" name="Ellipse 43"/>
            <p:cNvSpPr/>
            <p:nvPr/>
          </p:nvSpPr>
          <p:spPr>
            <a:xfrm>
              <a:off x="6591300" y="3981450"/>
              <a:ext cx="190500" cy="190500"/>
            </a:xfrm>
            <a:prstGeom prst="ellipse">
              <a:avLst/>
            </a:prstGeom>
            <a:solidFill>
              <a:srgbClr val="1E293B"/>
            </a:solidFill>
            <a:ln>
              <a:noFill/>
            </a:ln>
          </p:spPr>
        </p:sp>
        <p:sp>
          <p:nvSpPr>
            <p:cNvPr id="44" name="TextBox 44"/>
            <p:cNvSpPr txBox="1"/>
            <p:nvPr/>
          </p:nvSpPr>
          <p:spPr>
            <a:xfrm>
              <a:off x="6644908" y="4009549"/>
              <a:ext cx="83284"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3</a:t>
              </a:r>
            </a:p>
          </p:txBody>
        </p:sp>
        <p:sp>
          <p:nvSpPr>
            <p:cNvPr id="45" name="TextBox 45"/>
            <p:cNvSpPr txBox="1"/>
            <p:nvPr/>
          </p:nvSpPr>
          <p:spPr>
            <a:xfrm>
              <a:off x="6899529" y="3994785"/>
              <a:ext cx="2085351"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사전 예약형 캘린더의 비효율</a:t>
              </a:r>
            </a:p>
          </p:txBody>
        </p:sp>
        <p:sp>
          <p:nvSpPr>
            <p:cNvPr id="46" name="TextBox 46"/>
            <p:cNvSpPr txBox="1"/>
            <p:nvPr/>
          </p:nvSpPr>
          <p:spPr>
            <a:xfrm>
              <a:off x="6900672" y="4228624"/>
              <a:ext cx="3564642"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현장의 즉흥적 마주침을 전혀 지원하지 못하는 경직된 스케줄</a:t>
              </a:r>
            </a:p>
          </p:txBody>
        </p:sp>
        <p:sp>
          <p:nvSpPr>
            <p:cNvPr id="47" name="Ellipse 47"/>
            <p:cNvSpPr/>
            <p:nvPr/>
          </p:nvSpPr>
          <p:spPr>
            <a:xfrm>
              <a:off x="6591300" y="4600575"/>
              <a:ext cx="190500" cy="190500"/>
            </a:xfrm>
            <a:prstGeom prst="ellipse">
              <a:avLst/>
            </a:prstGeom>
            <a:solidFill>
              <a:srgbClr val="1E293B"/>
            </a:solidFill>
            <a:ln>
              <a:noFill/>
            </a:ln>
          </p:spPr>
        </p:sp>
        <p:sp>
          <p:nvSpPr>
            <p:cNvPr id="48" name="TextBox 48"/>
            <p:cNvSpPr txBox="1"/>
            <p:nvPr/>
          </p:nvSpPr>
          <p:spPr>
            <a:xfrm>
              <a:off x="6644908" y="4628674"/>
              <a:ext cx="83284"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4</a:t>
              </a:r>
            </a:p>
          </p:txBody>
        </p:sp>
        <p:sp>
          <p:nvSpPr>
            <p:cNvPr id="49" name="TextBox 49"/>
            <p:cNvSpPr txBox="1"/>
            <p:nvPr/>
          </p:nvSpPr>
          <p:spPr>
            <a:xfrm>
              <a:off x="6899529" y="4613910"/>
              <a:ext cx="1555842"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저조한 실제 인터랙션</a:t>
              </a:r>
            </a:p>
          </p:txBody>
        </p:sp>
        <p:sp>
          <p:nvSpPr>
            <p:cNvPr id="50" name="TextBox 50"/>
            <p:cNvSpPr txBox="1"/>
            <p:nvPr/>
          </p:nvSpPr>
          <p:spPr>
            <a:xfrm>
              <a:off x="6900672" y="4847749"/>
              <a:ext cx="3110653"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대표 앱조차 앱 채택률 58%, 미팅 수락률 39%에 불과</a:t>
              </a:r>
            </a:p>
          </p:txBody>
        </p:sp>
        <p:sp>
          <p:nvSpPr>
            <p:cNvPr id="51" name="Rectangle 51"/>
            <p:cNvSpPr/>
            <p:nvPr/>
          </p:nvSpPr>
          <p:spPr>
            <a:xfrm>
              <a:off x="6524625" y="5191125"/>
              <a:ext cx="4667250" cy="266700"/>
            </a:xfrm>
            <a:prstGeom prst="roundRect">
              <a:avLst>
                <a:gd name="adj" fmla="val 21429"/>
              </a:avLst>
            </a:prstGeom>
            <a:solidFill>
              <a:srgbClr val="1E293B"/>
            </a:solidFill>
            <a:ln>
              <a:noFill/>
            </a:ln>
          </p:spPr>
        </p:sp>
        <p:sp>
          <p:nvSpPr>
            <p:cNvPr id="52" name="TextBox 52"/>
            <p:cNvSpPr txBox="1"/>
            <p:nvPr/>
          </p:nvSpPr>
          <p:spPr>
            <a:xfrm>
              <a:off x="6662547" y="5266849"/>
              <a:ext cx="3470024"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조사 결과: 주최자 85%가 "현재 네트워킹 솔루션에 불만족"</a:t>
              </a:r>
            </a:p>
          </p:txBody>
        </p:sp>
      </p:grpSp>
      <p:grpSp>
        <p:nvGrpSpPr>
          <p:cNvPr id="57" name="bottom-takeaway"/>
          <p:cNvGrpSpPr/>
          <p:nvPr/>
        </p:nvGrpSpPr>
        <p:grpSpPr>
          <a:xfrm>
            <a:off x="762000" y="5762625"/>
            <a:ext cx="10668000" cy="552450"/>
            <a:chOff x="762000" y="5762625"/>
            <a:chExt cx="10668000" cy="552450"/>
          </a:xfrm>
        </p:grpSpPr>
        <p:sp>
          <p:nvSpPr>
            <p:cNvPr id="54" name="Rectangle 54"/>
            <p:cNvSpPr/>
            <p:nvPr/>
          </p:nvSpPr>
          <p:spPr>
            <a:xfrm>
              <a:off x="762000" y="5762625"/>
              <a:ext cx="10668000" cy="552450"/>
            </a:xfrm>
            <a:prstGeom prst="roundRect">
              <a:avLst>
                <a:gd name="adj" fmla="val 17241"/>
              </a:avLst>
            </a:prstGeom>
            <a:solidFill>
              <a:srgbClr val="131B2E"/>
            </a:solidFill>
            <a:ln w="9525">
              <a:solidFill>
                <a:schemeClr val="accent1"/>
              </a:solidFill>
            </a:ln>
          </p:spPr>
        </p:sp>
        <p:sp>
          <p:nvSpPr>
            <p:cNvPr id="55" name="Ellipse 55"/>
            <p:cNvSpPr/>
            <p:nvPr/>
          </p:nvSpPr>
          <p:spPr>
            <a:xfrm>
              <a:off x="981075" y="5972175"/>
              <a:ext cx="133350" cy="133350"/>
            </a:xfrm>
            <a:prstGeom prst="ellipse">
              <a:avLst/>
            </a:prstGeom>
            <a:solidFill>
              <a:schemeClr val="accent1"/>
            </a:solidFill>
            <a:ln>
              <a:noFill/>
            </a:ln>
          </p:spPr>
        </p:sp>
        <p:sp>
          <p:nvSpPr>
            <p:cNvPr id="56" name="TextBox 56"/>
            <p:cNvSpPr txBox="1"/>
            <p:nvPr/>
          </p:nvSpPr>
          <p:spPr>
            <a:xfrm>
              <a:off x="1232154" y="5956935"/>
              <a:ext cx="777528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결론: 참가자에게 돈을 내고 앱을 깔게 해도 절반 이상이 쓰지 않습니다. 진입 장벽을 완전히 허물어야 합니다.</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8742702" cy="962406"/>
            <a:chOff x="749808" y="428625"/>
            <a:chExt cx="8742702" cy="962406"/>
          </a:xfrm>
        </p:grpSpPr>
        <p:sp>
          <p:nvSpPr>
            <p:cNvPr id="2" name="Rectangle 2"/>
            <p:cNvSpPr/>
            <p:nvPr/>
          </p:nvSpPr>
          <p:spPr>
            <a:xfrm>
              <a:off x="762000" y="428625"/>
              <a:ext cx="1238250" cy="247650"/>
            </a:xfrm>
            <a:prstGeom prst="roundRect">
              <a:avLst>
                <a:gd name="adj" fmla="val 50000"/>
              </a:avLst>
            </a:prstGeom>
            <a:solidFill>
              <a:schemeClr val="accent5"/>
            </a:solidFill>
            <a:ln w="11430">
              <a:solidFill>
                <a:schemeClr val="accent1"/>
              </a:solidFill>
            </a:ln>
          </p:spPr>
        </p:sp>
        <p:sp>
          <p:nvSpPr>
            <p:cNvPr id="3" name="TextBox 3"/>
            <p:cNvSpPr txBox="1"/>
            <p:nvPr/>
          </p:nvSpPr>
          <p:spPr>
            <a:xfrm>
              <a:off x="841157" y="485299"/>
              <a:ext cx="1079937" cy="190690"/>
            </a:xfrm>
            <a:prstGeom prst="rect">
              <a:avLst/>
            </a:prstGeom>
            <a:noFill/>
            <a:ln>
              <a:noFill/>
            </a:ln>
          </p:spPr>
          <p:txBody>
            <a:bodyPr wrap="none" lIns="0" tIns="0" rIns="0" bIns="0" anchor="t" anchorCtr="0">
              <a:spAutoFit/>
            </a:bodyPr>
            <a:lstStyle/>
            <a:p>
              <a:pPr algn="ctr"/>
              <a:r>
                <a:rPr lang="en-US" sz="980" b="1" spc="75" dirty="0">
                  <a:solidFill>
                    <a:schemeClr val="accent1"/>
                  </a:solidFill>
                  <a:latin typeface="+mn-lt"/>
                  <a:ea typeface="+mn-ea"/>
                  <a:cs typeface="+mn-cs"/>
                </a:rPr>
                <a:t>02. SOLUTION</a:t>
              </a:r>
            </a:p>
          </p:txBody>
        </p:sp>
        <p:sp>
          <p:nvSpPr>
            <p:cNvPr id="4" name="TextBox 4"/>
            <p:cNvSpPr txBox="1"/>
            <p:nvPr/>
          </p:nvSpPr>
          <p:spPr>
            <a:xfrm>
              <a:off x="749808" y="741045"/>
              <a:ext cx="8742702"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Bside: 앱 설치 없이 30초, 스쳐 지나가는 순간 시작되는 대화</a:t>
              </a:r>
            </a:p>
          </p:txBody>
        </p:sp>
        <p:sp>
          <p:nvSpPr>
            <p:cNvPr id="5" name="TextBox 5"/>
            <p:cNvSpPr txBox="1"/>
            <p:nvPr/>
          </p:nvSpPr>
          <p:spPr>
            <a:xfrm>
              <a:off x="755904" y="1156335"/>
              <a:ext cx="6895808"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네트워킹의 모든 진입 장벽을 없애고, 대화의 시작 근거와 오프라인 타이밍을 기술로 제공합니다.</a:t>
              </a:r>
            </a:p>
          </p:txBody>
        </p:sp>
      </p:grpSp>
      <p:grpSp>
        <p:nvGrpSpPr>
          <p:cNvPr id="16" name="timeline-axis"/>
          <p:cNvGrpSpPr/>
          <p:nvPr/>
        </p:nvGrpSpPr>
        <p:grpSpPr>
          <a:xfrm>
            <a:off x="1847850" y="1562100"/>
            <a:ext cx="8496300" cy="304800"/>
            <a:chOff x="1847850" y="1562100"/>
            <a:chExt cx="8496300" cy="304800"/>
          </a:xfrm>
        </p:grpSpPr>
        <p:sp>
          <p:nvSpPr>
            <p:cNvPr id="7" name="Line 7"/>
            <p:cNvSpPr/>
            <p:nvPr/>
          </p:nvSpPr>
          <p:spPr>
            <a:xfrm>
              <a:off x="2000250" y="1714500"/>
              <a:ext cx="8191500" cy="9525"/>
            </a:xfrm>
            <a:custGeom>
              <a:avLst/>
              <a:gdLst/>
              <a:ahLst/>
              <a:cxnLst/>
              <a:rect l="l" t="t" r="r" b="b"/>
              <a:pathLst>
                <a:path w="8191500" h="9525">
                  <a:moveTo>
                    <a:pt x="0" y="0"/>
                  </a:moveTo>
                  <a:lnTo>
                    <a:pt x="8191500" y="0"/>
                  </a:lnTo>
                </a:path>
              </a:pathLst>
            </a:custGeom>
            <a:noFill/>
            <a:ln w="28575">
              <a:solidFill>
                <a:srgbClr val="1F2937"/>
              </a:solidFill>
            </a:ln>
          </p:spPr>
        </p:sp>
        <p:sp>
          <p:nvSpPr>
            <p:cNvPr id="8" name="Ellipse 8"/>
            <p:cNvSpPr/>
            <p:nvPr/>
          </p:nvSpPr>
          <p:spPr>
            <a:xfrm>
              <a:off x="1847850" y="1562100"/>
              <a:ext cx="304800" cy="304800"/>
            </a:xfrm>
            <a:prstGeom prst="ellipse">
              <a:avLst/>
            </a:prstGeom>
            <a:solidFill>
              <a:schemeClr val="accent5"/>
            </a:solidFill>
            <a:ln w="28575">
              <a:solidFill>
                <a:schemeClr val="accent1"/>
              </a:solidFill>
            </a:ln>
          </p:spPr>
        </p:sp>
        <p:sp>
          <p:nvSpPr>
            <p:cNvPr id="9" name="TextBox 9"/>
            <p:cNvSpPr txBox="1"/>
            <p:nvPr/>
          </p:nvSpPr>
          <p:spPr>
            <a:xfrm>
              <a:off x="1921919" y="1656874"/>
              <a:ext cx="156662" cy="190690"/>
            </a:xfrm>
            <a:prstGeom prst="rect">
              <a:avLst/>
            </a:prstGeom>
            <a:noFill/>
            <a:ln>
              <a:noFill/>
            </a:ln>
          </p:spPr>
          <p:txBody>
            <a:bodyPr wrap="none" lIns="0" tIns="0" rIns="0" bIns="0" anchor="t" anchorCtr="0">
              <a:spAutoFit/>
            </a:bodyPr>
            <a:lstStyle/>
            <a:p>
              <a:pPr algn="ctr"/>
              <a:r>
                <a:rPr lang="ko-KR" sz="980" b="1" dirty="0">
                  <a:solidFill>
                    <a:schemeClr val="accent1"/>
                  </a:solidFill>
                  <a:latin typeface="+mn-lt"/>
                  <a:ea typeface="+mn-ea"/>
                  <a:cs typeface="+mn-cs"/>
                </a:rPr>
                <a:t>01</a:t>
              </a:r>
            </a:p>
          </p:txBody>
        </p:sp>
        <p:sp>
          <p:nvSpPr>
            <p:cNvPr id="10" name="Ellipse 10"/>
            <p:cNvSpPr/>
            <p:nvPr/>
          </p:nvSpPr>
          <p:spPr>
            <a:xfrm>
              <a:off x="4572000" y="1562100"/>
              <a:ext cx="304800" cy="304800"/>
            </a:xfrm>
            <a:prstGeom prst="ellipse">
              <a:avLst/>
            </a:prstGeom>
            <a:solidFill>
              <a:schemeClr val="accent5"/>
            </a:solidFill>
            <a:ln w="28575">
              <a:solidFill>
                <a:schemeClr val="accent2"/>
              </a:solidFill>
            </a:ln>
          </p:spPr>
        </p:sp>
        <p:sp>
          <p:nvSpPr>
            <p:cNvPr id="11" name="TextBox 11"/>
            <p:cNvSpPr txBox="1"/>
            <p:nvPr/>
          </p:nvSpPr>
          <p:spPr>
            <a:xfrm>
              <a:off x="4646069" y="1656874"/>
              <a:ext cx="156662"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02</a:t>
              </a:r>
            </a:p>
          </p:txBody>
        </p:sp>
        <p:sp>
          <p:nvSpPr>
            <p:cNvPr id="12" name="Ellipse 12"/>
            <p:cNvSpPr/>
            <p:nvPr/>
          </p:nvSpPr>
          <p:spPr>
            <a:xfrm>
              <a:off x="7305675" y="1562100"/>
              <a:ext cx="304800" cy="304800"/>
            </a:xfrm>
            <a:prstGeom prst="ellipse">
              <a:avLst/>
            </a:prstGeom>
            <a:solidFill>
              <a:schemeClr val="accent5"/>
            </a:solidFill>
            <a:ln w="28575">
              <a:solidFill>
                <a:schemeClr val="accent3"/>
              </a:solidFill>
            </a:ln>
          </p:spPr>
        </p:sp>
        <p:sp>
          <p:nvSpPr>
            <p:cNvPr id="13" name="TextBox 13"/>
            <p:cNvSpPr txBox="1"/>
            <p:nvPr/>
          </p:nvSpPr>
          <p:spPr>
            <a:xfrm>
              <a:off x="7379744" y="1656874"/>
              <a:ext cx="156662" cy="190690"/>
            </a:xfrm>
            <a:prstGeom prst="rect">
              <a:avLst/>
            </a:prstGeom>
            <a:noFill/>
            <a:ln>
              <a:noFill/>
            </a:ln>
          </p:spPr>
          <p:txBody>
            <a:bodyPr wrap="none" lIns="0" tIns="0" rIns="0" bIns="0" anchor="t" anchorCtr="0">
              <a:spAutoFit/>
            </a:bodyPr>
            <a:lstStyle/>
            <a:p>
              <a:pPr algn="ctr"/>
              <a:r>
                <a:rPr lang="ko-KR" sz="980" b="1" dirty="0">
                  <a:solidFill>
                    <a:schemeClr val="accent3"/>
                  </a:solidFill>
                  <a:latin typeface="+mn-lt"/>
                  <a:ea typeface="+mn-ea"/>
                  <a:cs typeface="+mn-cs"/>
                </a:rPr>
                <a:t>03</a:t>
              </a:r>
            </a:p>
          </p:txBody>
        </p:sp>
        <p:sp>
          <p:nvSpPr>
            <p:cNvPr id="14" name="Ellipse 14"/>
            <p:cNvSpPr/>
            <p:nvPr/>
          </p:nvSpPr>
          <p:spPr>
            <a:xfrm>
              <a:off x="10039350" y="1562100"/>
              <a:ext cx="304800" cy="304800"/>
            </a:xfrm>
            <a:prstGeom prst="ellipse">
              <a:avLst/>
            </a:prstGeom>
            <a:solidFill>
              <a:schemeClr val="accent5"/>
            </a:solidFill>
            <a:ln w="28575">
              <a:solidFill>
                <a:schemeClr val="accent1"/>
              </a:solidFill>
            </a:ln>
          </p:spPr>
        </p:sp>
        <p:sp>
          <p:nvSpPr>
            <p:cNvPr id="15" name="TextBox 15"/>
            <p:cNvSpPr txBox="1"/>
            <p:nvPr/>
          </p:nvSpPr>
          <p:spPr>
            <a:xfrm>
              <a:off x="10113419" y="1656874"/>
              <a:ext cx="156662" cy="190690"/>
            </a:xfrm>
            <a:prstGeom prst="rect">
              <a:avLst/>
            </a:prstGeom>
            <a:noFill/>
            <a:ln>
              <a:noFill/>
            </a:ln>
          </p:spPr>
          <p:txBody>
            <a:bodyPr wrap="none" lIns="0" tIns="0" rIns="0" bIns="0" anchor="t" anchorCtr="0">
              <a:spAutoFit/>
            </a:bodyPr>
            <a:lstStyle/>
            <a:p>
              <a:pPr algn="ctr"/>
              <a:r>
                <a:rPr lang="ko-KR" sz="980" b="1" dirty="0">
                  <a:solidFill>
                    <a:schemeClr val="accent1"/>
                  </a:solidFill>
                  <a:latin typeface="+mn-lt"/>
                  <a:ea typeface="+mn-ea"/>
                  <a:cs typeface="+mn-cs"/>
                </a:rPr>
                <a:t>04</a:t>
              </a:r>
            </a:p>
          </p:txBody>
        </p:sp>
      </p:grpSp>
      <p:grpSp>
        <p:nvGrpSpPr>
          <p:cNvPr id="61" name="step-cards"/>
          <p:cNvGrpSpPr/>
          <p:nvPr/>
        </p:nvGrpSpPr>
        <p:grpSpPr>
          <a:xfrm>
            <a:off x="762000" y="2095500"/>
            <a:ext cx="10668000" cy="3429000"/>
            <a:chOff x="762000" y="2095500"/>
            <a:chExt cx="10668000" cy="3429000"/>
          </a:xfrm>
        </p:grpSpPr>
        <p:sp>
          <p:nvSpPr>
            <p:cNvPr id="17" name="Rectangle 17"/>
            <p:cNvSpPr/>
            <p:nvPr/>
          </p:nvSpPr>
          <p:spPr>
            <a:xfrm>
              <a:off x="762000" y="2095500"/>
              <a:ext cx="2476500" cy="3429000"/>
            </a:xfrm>
            <a:prstGeom prst="roundRect">
              <a:avLst>
                <a:gd name="adj" fmla="val 5385"/>
              </a:avLst>
            </a:prstGeom>
            <a:solidFill>
              <a:schemeClr val="accent5"/>
            </a:solidFill>
            <a:ln w="14288">
              <a:solidFill>
                <a:srgbClr val="1F2937"/>
              </a:solidFill>
            </a:ln>
          </p:spPr>
        </p:sp>
        <p:sp>
          <p:nvSpPr>
            <p:cNvPr id="18" name="Rectangle 18"/>
            <p:cNvSpPr/>
            <p:nvPr/>
          </p:nvSpPr>
          <p:spPr>
            <a:xfrm>
              <a:off x="762000" y="2095500"/>
              <a:ext cx="2476500" cy="38100"/>
            </a:xfrm>
            <a:prstGeom prst="roundRect">
              <a:avLst>
                <a:gd name="adj" fmla="val 50000"/>
              </a:avLst>
            </a:prstGeom>
            <a:solidFill>
              <a:schemeClr val="accent1"/>
            </a:solidFill>
            <a:ln>
              <a:noFill/>
            </a:ln>
          </p:spPr>
        </p:sp>
        <p:sp>
          <p:nvSpPr>
            <p:cNvPr id="19" name="Rectangle 19"/>
            <p:cNvSpPr/>
            <p:nvPr/>
          </p:nvSpPr>
          <p:spPr>
            <a:xfrm>
              <a:off x="952500" y="2286000"/>
              <a:ext cx="762000" cy="228600"/>
            </a:xfrm>
            <a:prstGeom prst="roundRect">
              <a:avLst>
                <a:gd name="adj" fmla="val 25000"/>
              </a:avLst>
            </a:prstGeom>
            <a:solidFill>
              <a:srgbClr val="1E293B"/>
            </a:solidFill>
            <a:ln>
              <a:noFill/>
            </a:ln>
          </p:spPr>
        </p:sp>
        <p:sp>
          <p:nvSpPr>
            <p:cNvPr id="20" name="TextBox 20"/>
            <p:cNvSpPr txBox="1"/>
            <p:nvPr/>
          </p:nvSpPr>
          <p:spPr>
            <a:xfrm>
              <a:off x="1049617" y="2333149"/>
              <a:ext cx="567766"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STEP 01</a:t>
              </a:r>
            </a:p>
          </p:txBody>
        </p:sp>
        <p:sp>
          <p:nvSpPr>
            <p:cNvPr id="21" name="TextBox 21"/>
            <p:cNvSpPr txBox="1"/>
            <p:nvPr/>
          </p:nvSpPr>
          <p:spPr>
            <a:xfrm>
              <a:off x="944118" y="2631758"/>
              <a:ext cx="1609820"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초경량 QR 진입</a:t>
              </a:r>
            </a:p>
          </p:txBody>
        </p:sp>
        <p:sp>
          <p:nvSpPr>
            <p:cNvPr id="22" name="TextBox 22"/>
            <p:cNvSpPr txBox="1"/>
            <p:nvPr/>
          </p:nvSpPr>
          <p:spPr>
            <a:xfrm>
              <a:off x="947547" y="2990374"/>
              <a:ext cx="1028730"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소요 시간: 단 3초</a:t>
              </a:r>
            </a:p>
          </p:txBody>
        </p:sp>
        <p:sp>
          <p:nvSpPr>
            <p:cNvPr id="23" name="Line 23"/>
            <p:cNvSpPr/>
            <p:nvPr/>
          </p:nvSpPr>
          <p:spPr>
            <a:xfrm>
              <a:off x="952500" y="3286125"/>
              <a:ext cx="2095500" cy="9525"/>
            </a:xfrm>
            <a:custGeom>
              <a:avLst/>
              <a:gdLst/>
              <a:ahLst/>
              <a:cxnLst/>
              <a:rect l="l" t="t" r="r" b="b"/>
              <a:pathLst>
                <a:path w="2095500" h="9525">
                  <a:moveTo>
                    <a:pt x="0" y="0"/>
                  </a:moveTo>
                  <a:lnTo>
                    <a:pt x="2095500" y="0"/>
                  </a:lnTo>
                </a:path>
              </a:pathLst>
            </a:custGeom>
            <a:noFill/>
            <a:ln w="9525">
              <a:solidFill>
                <a:srgbClr val="1F2937"/>
              </a:solidFill>
            </a:ln>
          </p:spPr>
        </p:sp>
        <p:sp>
          <p:nvSpPr>
            <p:cNvPr id="24" name="TextBox 24"/>
            <p:cNvSpPr txBox="1"/>
            <p:nvPr/>
          </p:nvSpPr>
          <p:spPr>
            <a:xfrm>
              <a:off x="946785" y="3450431"/>
              <a:ext cx="213848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앱 설치 없는 모바일 웹 (PWA)</a:t>
              </a:r>
            </a:p>
          </p:txBody>
        </p:sp>
        <p:sp>
          <p:nvSpPr>
            <p:cNvPr id="25" name="TextBox 25"/>
            <p:cNvSpPr txBox="1"/>
            <p:nvPr/>
          </p:nvSpPr>
          <p:spPr>
            <a:xfrm>
              <a:off x="946785" y="3736181"/>
              <a:ext cx="1884916"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이름/소속만으로 즉시 참가</a:t>
              </a:r>
            </a:p>
          </p:txBody>
        </p:sp>
        <p:sp>
          <p:nvSpPr>
            <p:cNvPr id="26" name="TextBox 26"/>
            <p:cNvSpPr txBox="1"/>
            <p:nvPr/>
          </p:nvSpPr>
          <p:spPr>
            <a:xfrm>
              <a:off x="946785" y="4021931"/>
              <a:ext cx="1940078"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행사 ID 기반 인메모리 세션</a:t>
              </a:r>
            </a:p>
          </p:txBody>
        </p:sp>
        <p:sp>
          <p:nvSpPr>
            <p:cNvPr id="27" name="TextBox 27"/>
            <p:cNvSpPr txBox="1"/>
            <p:nvPr/>
          </p:nvSpPr>
          <p:spPr>
            <a:xfrm>
              <a:off x="947547" y="4323874"/>
              <a:ext cx="1365963"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가입 이탈률 0%에 도전</a:t>
              </a:r>
            </a:p>
          </p:txBody>
        </p:sp>
        <p:sp>
          <p:nvSpPr>
            <p:cNvPr id="28" name="Rectangle 28"/>
            <p:cNvSpPr/>
            <p:nvPr/>
          </p:nvSpPr>
          <p:spPr>
            <a:xfrm>
              <a:off x="3486150" y="2095500"/>
              <a:ext cx="2476500" cy="3429000"/>
            </a:xfrm>
            <a:prstGeom prst="roundRect">
              <a:avLst>
                <a:gd name="adj" fmla="val 5385"/>
              </a:avLst>
            </a:prstGeom>
            <a:solidFill>
              <a:schemeClr val="accent5"/>
            </a:solidFill>
            <a:ln w="14288">
              <a:solidFill>
                <a:srgbClr val="1F2937"/>
              </a:solidFill>
            </a:ln>
          </p:spPr>
        </p:sp>
        <p:sp>
          <p:nvSpPr>
            <p:cNvPr id="29" name="Rectangle 29"/>
            <p:cNvSpPr/>
            <p:nvPr/>
          </p:nvSpPr>
          <p:spPr>
            <a:xfrm>
              <a:off x="3486150" y="2095500"/>
              <a:ext cx="2476500" cy="38100"/>
            </a:xfrm>
            <a:prstGeom prst="roundRect">
              <a:avLst>
                <a:gd name="adj" fmla="val 50000"/>
              </a:avLst>
            </a:prstGeom>
            <a:solidFill>
              <a:schemeClr val="accent2"/>
            </a:solidFill>
            <a:ln>
              <a:noFill/>
            </a:ln>
          </p:spPr>
        </p:sp>
        <p:sp>
          <p:nvSpPr>
            <p:cNvPr id="30" name="Rectangle 30"/>
            <p:cNvSpPr/>
            <p:nvPr/>
          </p:nvSpPr>
          <p:spPr>
            <a:xfrm>
              <a:off x="3676650" y="2286000"/>
              <a:ext cx="762000" cy="228600"/>
            </a:xfrm>
            <a:prstGeom prst="roundRect">
              <a:avLst>
                <a:gd name="adj" fmla="val 25000"/>
              </a:avLst>
            </a:prstGeom>
            <a:solidFill>
              <a:srgbClr val="1E293B"/>
            </a:solidFill>
            <a:ln>
              <a:noFill/>
            </a:ln>
          </p:spPr>
        </p:sp>
        <p:sp>
          <p:nvSpPr>
            <p:cNvPr id="31" name="TextBox 31"/>
            <p:cNvSpPr txBox="1"/>
            <p:nvPr/>
          </p:nvSpPr>
          <p:spPr>
            <a:xfrm>
              <a:off x="3773767" y="2333149"/>
              <a:ext cx="567766" cy="190690"/>
            </a:xfrm>
            <a:prstGeom prst="rect">
              <a:avLst/>
            </a:prstGeom>
            <a:noFill/>
            <a:ln>
              <a:noFill/>
            </a:ln>
          </p:spPr>
          <p:txBody>
            <a:bodyPr wrap="none" lIns="0" tIns="0" rIns="0" bIns="0" anchor="t" anchorCtr="0">
              <a:spAutoFit/>
            </a:bodyPr>
            <a:lstStyle/>
            <a:p>
              <a:pPr algn="ctr"/>
              <a:r>
                <a:rPr lang="en-US" sz="980" b="1" dirty="0">
                  <a:solidFill>
                    <a:schemeClr val="accent2"/>
                  </a:solidFill>
                  <a:latin typeface="+mn-lt"/>
                  <a:ea typeface="+mn-ea"/>
                  <a:cs typeface="+mn-cs"/>
                </a:rPr>
                <a:t>STEP 02</a:t>
              </a:r>
            </a:p>
          </p:txBody>
        </p:sp>
        <p:sp>
          <p:nvSpPr>
            <p:cNvPr id="32" name="TextBox 32"/>
            <p:cNvSpPr txBox="1"/>
            <p:nvPr/>
          </p:nvSpPr>
          <p:spPr>
            <a:xfrm>
              <a:off x="3668268" y="2631758"/>
              <a:ext cx="1781709"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30초 한 줄 프로필</a:t>
              </a:r>
            </a:p>
          </p:txBody>
        </p:sp>
        <p:sp>
          <p:nvSpPr>
            <p:cNvPr id="33" name="TextBox 33"/>
            <p:cNvSpPr txBox="1"/>
            <p:nvPr/>
          </p:nvSpPr>
          <p:spPr>
            <a:xfrm>
              <a:off x="3671697" y="2990374"/>
              <a:ext cx="1138626"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작성 피로도 제로화</a:t>
              </a:r>
            </a:p>
          </p:txBody>
        </p:sp>
        <p:sp>
          <p:nvSpPr>
            <p:cNvPr id="34" name="Line 34"/>
            <p:cNvSpPr/>
            <p:nvPr/>
          </p:nvSpPr>
          <p:spPr>
            <a:xfrm>
              <a:off x="3676650" y="3286125"/>
              <a:ext cx="2095500" cy="9525"/>
            </a:xfrm>
            <a:custGeom>
              <a:avLst/>
              <a:gdLst/>
              <a:ahLst/>
              <a:cxnLst/>
              <a:rect l="l" t="t" r="r" b="b"/>
              <a:pathLst>
                <a:path w="2095500" h="9525">
                  <a:moveTo>
                    <a:pt x="0" y="0"/>
                  </a:moveTo>
                  <a:lnTo>
                    <a:pt x="2095500" y="0"/>
                  </a:lnTo>
                </a:path>
              </a:pathLst>
            </a:custGeom>
            <a:noFill/>
            <a:ln w="9525">
              <a:solidFill>
                <a:srgbClr val="1F2937"/>
              </a:solidFill>
            </a:ln>
          </p:spPr>
        </p:sp>
        <p:sp>
          <p:nvSpPr>
            <p:cNvPr id="35" name="TextBox 35"/>
            <p:cNvSpPr txBox="1"/>
            <p:nvPr/>
          </p:nvSpPr>
          <p:spPr>
            <a:xfrm>
              <a:off x="3670935" y="3450431"/>
              <a:ext cx="192496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[고민] "웹소켓 실시간 서버"</a:t>
              </a:r>
            </a:p>
          </p:txBody>
        </p:sp>
        <p:sp>
          <p:nvSpPr>
            <p:cNvPr id="36" name="TextBox 36"/>
            <p:cNvSpPr txBox="1"/>
            <p:nvPr/>
          </p:nvSpPr>
          <p:spPr>
            <a:xfrm>
              <a:off x="3670935" y="3736181"/>
              <a:ext cx="2282041"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[역량] "FastAPI/Go 소켓 최적화"</a:t>
              </a:r>
            </a:p>
          </p:txBody>
        </p:sp>
        <p:sp>
          <p:nvSpPr>
            <p:cNvPr id="37" name="TextBox 37"/>
            <p:cNvSpPr txBox="1"/>
            <p:nvPr/>
          </p:nvSpPr>
          <p:spPr>
            <a:xfrm>
              <a:off x="3670935" y="4021931"/>
              <a:ext cx="1818003"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커피챗 선호도 1클릭 선택</a:t>
              </a:r>
            </a:p>
          </p:txBody>
        </p:sp>
        <p:sp>
          <p:nvSpPr>
            <p:cNvPr id="38" name="TextBox 38"/>
            <p:cNvSpPr txBox="1"/>
            <p:nvPr/>
          </p:nvSpPr>
          <p:spPr>
            <a:xfrm>
              <a:off x="3671697" y="4323874"/>
              <a:ext cx="1571058"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형식적 이력서 작성 불필요</a:t>
              </a:r>
            </a:p>
          </p:txBody>
        </p:sp>
        <p:sp>
          <p:nvSpPr>
            <p:cNvPr id="39" name="Rectangle 39"/>
            <p:cNvSpPr/>
            <p:nvPr/>
          </p:nvSpPr>
          <p:spPr>
            <a:xfrm>
              <a:off x="6219825" y="2095500"/>
              <a:ext cx="2476500" cy="3429000"/>
            </a:xfrm>
            <a:prstGeom prst="roundRect">
              <a:avLst>
                <a:gd name="adj" fmla="val 5385"/>
              </a:avLst>
            </a:prstGeom>
            <a:solidFill>
              <a:schemeClr val="accent5"/>
            </a:solidFill>
            <a:ln w="14288">
              <a:solidFill>
                <a:srgbClr val="1F2937"/>
              </a:solidFill>
            </a:ln>
          </p:spPr>
        </p:sp>
        <p:sp>
          <p:nvSpPr>
            <p:cNvPr id="40" name="Rectangle 40"/>
            <p:cNvSpPr/>
            <p:nvPr/>
          </p:nvSpPr>
          <p:spPr>
            <a:xfrm>
              <a:off x="6219825" y="2095500"/>
              <a:ext cx="2476500" cy="38100"/>
            </a:xfrm>
            <a:prstGeom prst="roundRect">
              <a:avLst>
                <a:gd name="adj" fmla="val 50000"/>
              </a:avLst>
            </a:prstGeom>
            <a:solidFill>
              <a:schemeClr val="accent3"/>
            </a:solidFill>
            <a:ln>
              <a:noFill/>
            </a:ln>
          </p:spPr>
        </p:sp>
        <p:sp>
          <p:nvSpPr>
            <p:cNvPr id="41" name="Rectangle 41"/>
            <p:cNvSpPr/>
            <p:nvPr/>
          </p:nvSpPr>
          <p:spPr>
            <a:xfrm>
              <a:off x="6410325" y="2286000"/>
              <a:ext cx="762000" cy="228600"/>
            </a:xfrm>
            <a:prstGeom prst="roundRect">
              <a:avLst>
                <a:gd name="adj" fmla="val 25000"/>
              </a:avLst>
            </a:prstGeom>
            <a:solidFill>
              <a:srgbClr val="1E293B"/>
            </a:solidFill>
            <a:ln>
              <a:noFill/>
            </a:ln>
          </p:spPr>
        </p:sp>
        <p:sp>
          <p:nvSpPr>
            <p:cNvPr id="42" name="TextBox 42"/>
            <p:cNvSpPr txBox="1"/>
            <p:nvPr/>
          </p:nvSpPr>
          <p:spPr>
            <a:xfrm>
              <a:off x="6507442" y="2333149"/>
              <a:ext cx="567766" cy="190690"/>
            </a:xfrm>
            <a:prstGeom prst="rect">
              <a:avLst/>
            </a:prstGeom>
            <a:noFill/>
            <a:ln>
              <a:noFill/>
            </a:ln>
          </p:spPr>
          <p:txBody>
            <a:bodyPr wrap="none" lIns="0" tIns="0" rIns="0" bIns="0" anchor="t" anchorCtr="0">
              <a:spAutoFit/>
            </a:bodyPr>
            <a:lstStyle/>
            <a:p>
              <a:pPr algn="ctr"/>
              <a:r>
                <a:rPr lang="en-US" sz="980" b="1" dirty="0">
                  <a:solidFill>
                    <a:schemeClr val="accent3"/>
                  </a:solidFill>
                  <a:latin typeface="+mn-lt"/>
                  <a:ea typeface="+mn-ea"/>
                  <a:cs typeface="+mn-cs"/>
                </a:rPr>
                <a:t>STEP 03</a:t>
              </a:r>
            </a:p>
          </p:txBody>
        </p:sp>
        <p:sp>
          <p:nvSpPr>
            <p:cNvPr id="43" name="TextBox 43"/>
            <p:cNvSpPr txBox="1"/>
            <p:nvPr/>
          </p:nvSpPr>
          <p:spPr>
            <a:xfrm>
              <a:off x="6401943" y="2631758"/>
              <a:ext cx="1917160"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비대칭 상보성 매칭</a:t>
              </a:r>
            </a:p>
          </p:txBody>
        </p:sp>
        <p:sp>
          <p:nvSpPr>
            <p:cNvPr id="44" name="TextBox 44"/>
            <p:cNvSpPr txBox="1"/>
            <p:nvPr/>
          </p:nvSpPr>
          <p:spPr>
            <a:xfrm>
              <a:off x="6405372" y="2990374"/>
              <a:ext cx="1018315"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핵심 AI 알고리즘</a:t>
              </a:r>
            </a:p>
          </p:txBody>
        </p:sp>
        <p:sp>
          <p:nvSpPr>
            <p:cNvPr id="45" name="Line 45"/>
            <p:cNvSpPr/>
            <p:nvPr/>
          </p:nvSpPr>
          <p:spPr>
            <a:xfrm>
              <a:off x="6410325" y="3286125"/>
              <a:ext cx="2095500" cy="9525"/>
            </a:xfrm>
            <a:custGeom>
              <a:avLst/>
              <a:gdLst/>
              <a:ahLst/>
              <a:cxnLst/>
              <a:rect l="l" t="t" r="r" b="b"/>
              <a:pathLst>
                <a:path w="2095500" h="9525">
                  <a:moveTo>
                    <a:pt x="0" y="0"/>
                  </a:moveTo>
                  <a:lnTo>
                    <a:pt x="2095500" y="0"/>
                  </a:lnTo>
                </a:path>
              </a:pathLst>
            </a:custGeom>
            <a:noFill/>
            <a:ln w="9525">
              <a:solidFill>
                <a:srgbClr val="1F2937"/>
              </a:solidFill>
            </a:ln>
          </p:spPr>
        </p:sp>
        <p:sp>
          <p:nvSpPr>
            <p:cNvPr id="46" name="TextBox 46"/>
            <p:cNvSpPr txBox="1"/>
            <p:nvPr/>
          </p:nvSpPr>
          <p:spPr>
            <a:xfrm>
              <a:off x="6404610" y="3450431"/>
              <a:ext cx="2077576"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유사 키워드 매칭의 한계 극복</a:t>
              </a:r>
            </a:p>
          </p:txBody>
        </p:sp>
        <p:sp>
          <p:nvSpPr>
            <p:cNvPr id="47" name="TextBox 47"/>
            <p:cNvSpPr txBox="1"/>
            <p:nvPr/>
          </p:nvSpPr>
          <p:spPr>
            <a:xfrm>
              <a:off x="6404610" y="3736181"/>
              <a:ext cx="2049483"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Need ↔ Give 상호 보완 결합</a:t>
              </a:r>
            </a:p>
          </p:txBody>
        </p:sp>
        <p:sp>
          <p:nvSpPr>
            <p:cNvPr id="48" name="TextBox 48"/>
            <p:cNvSpPr txBox="1"/>
            <p:nvPr/>
          </p:nvSpPr>
          <p:spPr>
            <a:xfrm>
              <a:off x="6404610" y="4021931"/>
              <a:ext cx="201066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공통 단어 0개라도 최적 연결</a:t>
              </a:r>
            </a:p>
          </p:txBody>
        </p:sp>
        <p:sp>
          <p:nvSpPr>
            <p:cNvPr id="49" name="TextBox 49"/>
            <p:cNvSpPr txBox="1"/>
            <p:nvPr/>
          </p:nvSpPr>
          <p:spPr>
            <a:xfrm>
              <a:off x="6405372" y="4323874"/>
              <a:ext cx="173963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대화의 실질적 근거 자동 생성</a:t>
              </a:r>
            </a:p>
          </p:txBody>
        </p:sp>
        <p:sp>
          <p:nvSpPr>
            <p:cNvPr id="50" name="Rectangle 50"/>
            <p:cNvSpPr/>
            <p:nvPr/>
          </p:nvSpPr>
          <p:spPr>
            <a:xfrm>
              <a:off x="8953500" y="2095500"/>
              <a:ext cx="2476500" cy="3429000"/>
            </a:xfrm>
            <a:prstGeom prst="roundRect">
              <a:avLst>
                <a:gd name="adj" fmla="val 5385"/>
              </a:avLst>
            </a:prstGeom>
            <a:solidFill>
              <a:schemeClr val="accent5"/>
            </a:solidFill>
            <a:ln w="14288">
              <a:solidFill>
                <a:srgbClr val="1F2937"/>
              </a:solidFill>
            </a:ln>
          </p:spPr>
        </p:sp>
        <p:sp>
          <p:nvSpPr>
            <p:cNvPr id="51" name="Rectangle 51"/>
            <p:cNvSpPr/>
            <p:nvPr/>
          </p:nvSpPr>
          <p:spPr>
            <a:xfrm>
              <a:off x="8953500" y="2095500"/>
              <a:ext cx="2476500" cy="38100"/>
            </a:xfrm>
            <a:prstGeom prst="roundRect">
              <a:avLst>
                <a:gd name="adj" fmla="val 50000"/>
              </a:avLst>
            </a:prstGeom>
            <a:solidFill>
              <a:schemeClr val="accent1"/>
            </a:solidFill>
            <a:ln>
              <a:noFill/>
            </a:ln>
          </p:spPr>
        </p:sp>
        <p:sp>
          <p:nvSpPr>
            <p:cNvPr id="52" name="Rectangle 52"/>
            <p:cNvSpPr/>
            <p:nvPr/>
          </p:nvSpPr>
          <p:spPr>
            <a:xfrm>
              <a:off x="9144000" y="2286000"/>
              <a:ext cx="762000" cy="228600"/>
            </a:xfrm>
            <a:prstGeom prst="roundRect">
              <a:avLst>
                <a:gd name="adj" fmla="val 25000"/>
              </a:avLst>
            </a:prstGeom>
            <a:solidFill>
              <a:srgbClr val="1E293B"/>
            </a:solidFill>
            <a:ln>
              <a:noFill/>
            </a:ln>
          </p:spPr>
        </p:sp>
        <p:sp>
          <p:nvSpPr>
            <p:cNvPr id="53" name="TextBox 53"/>
            <p:cNvSpPr txBox="1"/>
            <p:nvPr/>
          </p:nvSpPr>
          <p:spPr>
            <a:xfrm>
              <a:off x="9241117" y="2333149"/>
              <a:ext cx="567766"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STEP 04</a:t>
              </a:r>
            </a:p>
          </p:txBody>
        </p:sp>
        <p:sp>
          <p:nvSpPr>
            <p:cNvPr id="54" name="TextBox 54"/>
            <p:cNvSpPr txBox="1"/>
            <p:nvPr/>
          </p:nvSpPr>
          <p:spPr>
            <a:xfrm>
              <a:off x="9135618" y="2631758"/>
              <a:ext cx="189340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BLE 5m 근접 감지</a:t>
              </a:r>
            </a:p>
          </p:txBody>
        </p:sp>
        <p:sp>
          <p:nvSpPr>
            <p:cNvPr id="55" name="TextBox 55"/>
            <p:cNvSpPr txBox="1"/>
            <p:nvPr/>
          </p:nvSpPr>
          <p:spPr>
            <a:xfrm>
              <a:off x="9139047" y="2990374"/>
              <a:ext cx="1138626"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오프라인 현장 연결</a:t>
              </a:r>
            </a:p>
          </p:txBody>
        </p:sp>
        <p:sp>
          <p:nvSpPr>
            <p:cNvPr id="56" name="Line 56"/>
            <p:cNvSpPr/>
            <p:nvPr/>
          </p:nvSpPr>
          <p:spPr>
            <a:xfrm>
              <a:off x="9144000" y="3286125"/>
              <a:ext cx="2095500" cy="9525"/>
            </a:xfrm>
            <a:custGeom>
              <a:avLst/>
              <a:gdLst/>
              <a:ahLst/>
              <a:cxnLst/>
              <a:rect l="l" t="t" r="r" b="b"/>
              <a:pathLst>
                <a:path w="2095500" h="9525">
                  <a:moveTo>
                    <a:pt x="0" y="0"/>
                  </a:moveTo>
                  <a:lnTo>
                    <a:pt x="2095500" y="0"/>
                  </a:lnTo>
                </a:path>
              </a:pathLst>
            </a:custGeom>
            <a:noFill/>
            <a:ln w="9525">
              <a:solidFill>
                <a:srgbClr val="1F2937"/>
              </a:solidFill>
            </a:ln>
          </p:spPr>
        </p:sp>
        <p:sp>
          <p:nvSpPr>
            <p:cNvPr id="57" name="TextBox 57"/>
            <p:cNvSpPr txBox="1"/>
            <p:nvPr/>
          </p:nvSpPr>
          <p:spPr>
            <a:xfrm>
              <a:off x="9138285" y="3450431"/>
              <a:ext cx="1876594"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5m 반경 내 마주칠 때만 핑</a:t>
              </a:r>
            </a:p>
          </p:txBody>
        </p:sp>
        <p:sp>
          <p:nvSpPr>
            <p:cNvPr id="58" name="TextBox 58"/>
            <p:cNvSpPr txBox="1"/>
            <p:nvPr/>
          </p:nvSpPr>
          <p:spPr>
            <a:xfrm>
              <a:off x="9138285" y="3736181"/>
              <a:ext cx="2178293"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1.5초 접점 대화 시트 자동 팝업</a:t>
              </a:r>
            </a:p>
          </p:txBody>
        </p:sp>
        <p:sp>
          <p:nvSpPr>
            <p:cNvPr id="59" name="TextBox 59"/>
            <p:cNvSpPr txBox="1"/>
            <p:nvPr/>
          </p:nvSpPr>
          <p:spPr>
            <a:xfrm>
              <a:off x="9138285" y="4021931"/>
              <a:ext cx="2228350"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대화 유도 첫마디 스크립트 제공</a:t>
              </a:r>
            </a:p>
          </p:txBody>
        </p:sp>
        <p:sp>
          <p:nvSpPr>
            <p:cNvPr id="60" name="TextBox 60"/>
            <p:cNvSpPr txBox="1"/>
            <p:nvPr/>
          </p:nvSpPr>
          <p:spPr>
            <a:xfrm>
              <a:off x="9139047" y="4323874"/>
              <a:ext cx="1607919"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현장 대화 성공률 65% 달성</a:t>
              </a:r>
            </a:p>
          </p:txBody>
        </p:sp>
      </p:grpSp>
      <p:grpSp>
        <p:nvGrpSpPr>
          <p:cNvPr id="65" name="bottom-takeaway"/>
          <p:cNvGrpSpPr/>
          <p:nvPr/>
        </p:nvGrpSpPr>
        <p:grpSpPr>
          <a:xfrm>
            <a:off x="762000" y="5762625"/>
            <a:ext cx="10668000" cy="552450"/>
            <a:chOff x="762000" y="5762625"/>
            <a:chExt cx="10668000" cy="552450"/>
          </a:xfrm>
        </p:grpSpPr>
        <p:sp>
          <p:nvSpPr>
            <p:cNvPr id="62" name="Rectangle 62"/>
            <p:cNvSpPr/>
            <p:nvPr/>
          </p:nvSpPr>
          <p:spPr>
            <a:xfrm>
              <a:off x="762000" y="5762625"/>
              <a:ext cx="10668000" cy="552450"/>
            </a:xfrm>
            <a:prstGeom prst="roundRect">
              <a:avLst>
                <a:gd name="adj" fmla="val 17241"/>
              </a:avLst>
            </a:prstGeom>
            <a:solidFill>
              <a:srgbClr val="131B2E"/>
            </a:solidFill>
            <a:ln w="9525">
              <a:solidFill>
                <a:schemeClr val="accent1"/>
              </a:solidFill>
            </a:ln>
          </p:spPr>
        </p:sp>
        <p:sp>
          <p:nvSpPr>
            <p:cNvPr id="63" name="Ellipse 63"/>
            <p:cNvSpPr/>
            <p:nvPr/>
          </p:nvSpPr>
          <p:spPr>
            <a:xfrm>
              <a:off x="981075" y="5972175"/>
              <a:ext cx="133350" cy="133350"/>
            </a:xfrm>
            <a:prstGeom prst="ellipse">
              <a:avLst/>
            </a:prstGeom>
            <a:solidFill>
              <a:schemeClr val="accent1"/>
            </a:solidFill>
            <a:ln>
              <a:noFill/>
            </a:ln>
          </p:spPr>
        </p:sp>
        <p:sp>
          <p:nvSpPr>
            <p:cNvPr id="64" name="TextBox 64"/>
            <p:cNvSpPr txBox="1"/>
            <p:nvPr/>
          </p:nvSpPr>
          <p:spPr>
            <a:xfrm>
              <a:off x="1232154" y="5956935"/>
              <a:ext cx="6716688"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핵심 성과: 설치 0초 · 프로필 30초 · 대화 시작 1.5초 — 네트워킹의 모든 마찰을 제거했습니다.</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9053789" cy="962406"/>
            <a:chOff x="749808" y="428625"/>
            <a:chExt cx="9053789" cy="962406"/>
          </a:xfrm>
        </p:grpSpPr>
        <p:sp>
          <p:nvSpPr>
            <p:cNvPr id="2" name="Rectangle 2"/>
            <p:cNvSpPr/>
            <p:nvPr/>
          </p:nvSpPr>
          <p:spPr>
            <a:xfrm>
              <a:off x="762000" y="428625"/>
              <a:ext cx="1714500" cy="247650"/>
            </a:xfrm>
            <a:prstGeom prst="roundRect">
              <a:avLst>
                <a:gd name="adj" fmla="val 50000"/>
              </a:avLst>
            </a:prstGeom>
            <a:solidFill>
              <a:schemeClr val="accent5"/>
            </a:solidFill>
            <a:ln w="11430">
              <a:solidFill>
                <a:schemeClr val="accent3"/>
              </a:solidFill>
            </a:ln>
          </p:spPr>
        </p:sp>
        <p:sp>
          <p:nvSpPr>
            <p:cNvPr id="3" name="TextBox 3"/>
            <p:cNvSpPr txBox="1"/>
            <p:nvPr/>
          </p:nvSpPr>
          <p:spPr>
            <a:xfrm>
              <a:off x="764640" y="485299"/>
              <a:ext cx="1709220" cy="190690"/>
            </a:xfrm>
            <a:prstGeom prst="rect">
              <a:avLst/>
            </a:prstGeom>
            <a:noFill/>
            <a:ln>
              <a:noFill/>
            </a:ln>
          </p:spPr>
          <p:txBody>
            <a:bodyPr wrap="none" lIns="0" tIns="0" rIns="0" bIns="0" anchor="t" anchorCtr="0">
              <a:spAutoFit/>
            </a:bodyPr>
            <a:lstStyle/>
            <a:p>
              <a:pPr algn="ctr"/>
              <a:r>
                <a:rPr lang="en-US" sz="980" b="1" spc="75" dirty="0">
                  <a:solidFill>
                    <a:schemeClr val="accent3"/>
                  </a:solidFill>
                  <a:latin typeface="+mn-lt"/>
                  <a:ea typeface="+mn-ea"/>
                  <a:cs typeface="+mn-cs"/>
                </a:rPr>
                <a:t>03. CORE ALGORITHM</a:t>
              </a:r>
            </a:p>
          </p:txBody>
        </p:sp>
        <p:sp>
          <p:nvSpPr>
            <p:cNvPr id="4" name="TextBox 4"/>
            <p:cNvSpPr txBox="1"/>
            <p:nvPr/>
          </p:nvSpPr>
          <p:spPr>
            <a:xfrm>
              <a:off x="749808" y="741045"/>
              <a:ext cx="9053789"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왜 상보성인가? 0개 공통 단어가 100% 최적의 매칭을 만듭니다</a:t>
              </a:r>
            </a:p>
          </p:txBody>
        </p:sp>
        <p:sp>
          <p:nvSpPr>
            <p:cNvPr id="5" name="TextBox 5"/>
            <p:cNvSpPr txBox="1"/>
            <p:nvPr/>
          </p:nvSpPr>
          <p:spPr>
            <a:xfrm>
              <a:off x="755904" y="1156335"/>
              <a:ext cx="7694772"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관심사가 같은 사람끼리는 할 말이 없지만, 내 고민을 해결해줄 수 있는 사람과는 20분간 대화가 이어집니다.</a:t>
              </a:r>
            </a:p>
          </p:txBody>
        </p:sp>
      </p:grpSp>
      <p:grpSp>
        <p:nvGrpSpPr>
          <p:cNvPr id="37" name="asymmetric-matrix"/>
          <p:cNvGrpSpPr/>
          <p:nvPr/>
        </p:nvGrpSpPr>
        <p:grpSpPr>
          <a:xfrm>
            <a:off x="762000" y="1571625"/>
            <a:ext cx="10668000" cy="4000500"/>
            <a:chOff x="762000" y="1571625"/>
            <a:chExt cx="10668000" cy="4000500"/>
          </a:xfrm>
        </p:grpSpPr>
        <p:sp>
          <p:nvSpPr>
            <p:cNvPr id="7" name="Rectangle 7"/>
            <p:cNvSpPr/>
            <p:nvPr/>
          </p:nvSpPr>
          <p:spPr>
            <a:xfrm>
              <a:off x="762000" y="1571625"/>
              <a:ext cx="4953000" cy="4000500"/>
            </a:xfrm>
            <a:prstGeom prst="roundRect">
              <a:avLst>
                <a:gd name="adj" fmla="val 3333"/>
              </a:avLst>
            </a:prstGeom>
            <a:solidFill>
              <a:schemeClr val="accent5"/>
            </a:solidFill>
            <a:ln w="14288">
              <a:solidFill>
                <a:srgbClr val="1F2937"/>
              </a:solidFill>
            </a:ln>
          </p:spPr>
        </p:sp>
        <p:sp>
          <p:nvSpPr>
            <p:cNvPr id="8" name="Rectangle 8"/>
            <p:cNvSpPr/>
            <p:nvPr/>
          </p:nvSpPr>
          <p:spPr>
            <a:xfrm>
              <a:off x="762000" y="1571625"/>
              <a:ext cx="4953000" cy="47625"/>
            </a:xfrm>
            <a:prstGeom prst="roundRect">
              <a:avLst>
                <a:gd name="adj" fmla="val 50000"/>
              </a:avLst>
            </a:prstGeom>
            <a:solidFill>
              <a:srgbClr val="F87171"/>
            </a:solidFill>
            <a:ln>
              <a:noFill/>
            </a:ln>
          </p:spPr>
        </p:sp>
        <p:sp>
          <p:nvSpPr>
            <p:cNvPr id="9" name="Rectangle 9"/>
            <p:cNvSpPr/>
            <p:nvPr/>
          </p:nvSpPr>
          <p:spPr>
            <a:xfrm>
              <a:off x="1047750" y="1857375"/>
              <a:ext cx="1428750" cy="266700"/>
            </a:xfrm>
            <a:prstGeom prst="roundRect">
              <a:avLst>
                <a:gd name="adj" fmla="val 21429"/>
              </a:avLst>
            </a:prstGeom>
            <a:solidFill>
              <a:srgbClr val="1E293B"/>
            </a:solidFill>
            <a:ln>
              <a:noFill/>
            </a:ln>
          </p:spPr>
        </p:sp>
        <p:sp>
          <p:nvSpPr>
            <p:cNvPr id="10" name="TextBox 10"/>
            <p:cNvSpPr txBox="1"/>
            <p:nvPr/>
          </p:nvSpPr>
          <p:spPr>
            <a:xfrm>
              <a:off x="1185672" y="1933099"/>
              <a:ext cx="1219207" cy="190690"/>
            </a:xfrm>
            <a:prstGeom prst="rect">
              <a:avLst/>
            </a:prstGeom>
            <a:noFill/>
            <a:ln>
              <a:noFill/>
            </a:ln>
          </p:spPr>
          <p:txBody>
            <a:bodyPr wrap="none" lIns="0" tIns="0" rIns="0" bIns="0" anchor="t" anchorCtr="0">
              <a:spAutoFit/>
            </a:bodyPr>
            <a:lstStyle/>
            <a:p>
              <a:pPr algn="l"/>
              <a:r>
                <a:rPr lang="ko-KR" sz="980" b="1" dirty="0">
                  <a:solidFill>
                    <a:srgbClr val="F87171"/>
                  </a:solidFill>
                  <a:latin typeface="+mn-lt"/>
                  <a:ea typeface="+mn-ea"/>
                  <a:cs typeface="+mn-cs"/>
                </a:rPr>
                <a:t>기존 방식: 대칭 매칭</a:t>
              </a:r>
            </a:p>
          </p:txBody>
        </p:sp>
        <p:sp>
          <p:nvSpPr>
            <p:cNvPr id="11" name="TextBox 11"/>
            <p:cNvSpPr txBox="1"/>
            <p:nvPr/>
          </p:nvSpPr>
          <p:spPr>
            <a:xfrm>
              <a:off x="1039368" y="2250758"/>
              <a:ext cx="2423111"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단순 키워드 일치의 실패</a:t>
              </a:r>
            </a:p>
          </p:txBody>
        </p:sp>
        <p:sp>
          <p:nvSpPr>
            <p:cNvPr id="12" name="Rectangle 12"/>
            <p:cNvSpPr/>
            <p:nvPr/>
          </p:nvSpPr>
          <p:spPr>
            <a:xfrm>
              <a:off x="1047750" y="2619375"/>
              <a:ext cx="4381500" cy="904875"/>
            </a:xfrm>
            <a:prstGeom prst="roundRect">
              <a:avLst>
                <a:gd name="adj" fmla="val 8421"/>
              </a:avLst>
            </a:prstGeom>
            <a:solidFill>
              <a:srgbClr val="1E293B"/>
            </a:solidFill>
            <a:ln w="9525">
              <a:solidFill>
                <a:srgbClr val="2D3748"/>
              </a:solidFill>
            </a:ln>
          </p:spPr>
        </p:sp>
        <p:sp>
          <p:nvSpPr>
            <p:cNvPr id="13" name="TextBox 13"/>
            <p:cNvSpPr txBox="1"/>
            <p:nvPr/>
          </p:nvSpPr>
          <p:spPr>
            <a:xfrm>
              <a:off x="1232154" y="2775585"/>
              <a:ext cx="2916845" cy="520446"/>
            </a:xfrm>
            <a:prstGeom prst="rect">
              <a:avLst/>
            </a:prstGeom>
            <a:noFill/>
            <a:ln>
              <a:noFill/>
            </a:ln>
          </p:spPr>
          <p:txBody>
            <a:bodyPr wrap="none" lIns="0" tIns="0" rIns="0" bIns="0" anchor="t" anchorCtr="0">
              <a:spAutoFit/>
            </a:bodyPr>
            <a:lstStyle/>
            <a:p>
              <a:pPr algn="l">
                <a:lnSpc>
                  <a:spcPts val="2250"/>
                </a:lnSpc>
              </a:pPr>
              <a:r>
                <a:rPr lang="ko-KR" sz="1200" b="1" dirty="0">
                  <a:solidFill>
                    <a:srgbClr val="FFFFFF"/>
                  </a:solidFill>
                  <a:latin typeface="+mn-lt"/>
                  <a:ea typeface="+mn-ea"/>
                  <a:cs typeface="+mn-cs"/>
                </a:rPr>
                <a:t>참가자 A (지원) : "FastAPI 백엔드 개발자"</a:t>
              </a:r>
              <a:br/>
              <a:r>
                <a:rPr lang="ko-KR" sz="1200" b="1" dirty="0">
                  <a:solidFill>
                    <a:srgbClr val="FFFFFF"/>
                  </a:solidFill>
                  <a:latin typeface="+mn-lt"/>
                  <a:ea typeface="+mn-ea"/>
                  <a:cs typeface="+mn-cs"/>
                </a:rPr>
                <a:t>참가자 B (태현) : "FastAPI 백엔드 개발자"</a:t>
              </a:r>
            </a:p>
          </p:txBody>
        </p:sp>
        <p:sp>
          <p:nvSpPr>
            <p:cNvPr id="14" name="TextBox 14"/>
            <p:cNvSpPr txBox="1"/>
            <p:nvPr/>
          </p:nvSpPr>
          <p:spPr>
            <a:xfrm>
              <a:off x="1233297" y="3323749"/>
              <a:ext cx="1681297" cy="190690"/>
            </a:xfrm>
            <a:prstGeom prst="rect">
              <a:avLst/>
            </a:prstGeom>
            <a:noFill/>
            <a:ln>
              <a:noFill/>
            </a:ln>
          </p:spPr>
          <p:txBody>
            <a:bodyPr wrap="none" lIns="0" tIns="0" rIns="0" bIns="0" anchor="t" anchorCtr="0">
              <a:spAutoFit/>
            </a:bodyPr>
            <a:lstStyle/>
            <a:p>
              <a:pPr algn="l"/>
              <a:r>
                <a:rPr lang="ko-KR" sz="980" b="1" dirty="0">
                  <a:solidFill>
                    <a:srgbClr val="F87171"/>
                  </a:solidFill>
                  <a:latin typeface="+mn-lt"/>
                  <a:ea typeface="+mn-ea"/>
                  <a:cs typeface="+mn-cs"/>
                </a:rPr>
                <a:t>→ 키워드 일치도 100% 매칭</a:t>
              </a:r>
            </a:p>
          </p:txBody>
        </p:sp>
        <p:sp>
          <p:nvSpPr>
            <p:cNvPr id="15" name="TextBox 15"/>
            <p:cNvSpPr txBox="1"/>
            <p:nvPr/>
          </p:nvSpPr>
          <p:spPr>
            <a:xfrm>
              <a:off x="1041654" y="3728085"/>
              <a:ext cx="1707467" cy="234696"/>
            </a:xfrm>
            <a:prstGeom prst="rect">
              <a:avLst/>
            </a:prstGeom>
            <a:noFill/>
            <a:ln>
              <a:noFill/>
            </a:ln>
          </p:spPr>
          <p:txBody>
            <a:bodyPr wrap="none" lIns="0" tIns="0" rIns="0" bIns="0" anchor="t" anchorCtr="0">
              <a:spAutoFit/>
            </a:bodyPr>
            <a:lstStyle/>
            <a:p>
              <a:pPr algn="l"/>
              <a:r>
                <a:rPr lang="ko-KR" sz="1200" b="1" dirty="0">
                  <a:solidFill>
                    <a:srgbClr val="F87171"/>
                  </a:solidFill>
                  <a:latin typeface="+mn-lt"/>
                  <a:ea typeface="+mn-ea"/>
                  <a:cs typeface="+mn-cs"/>
                </a:rPr>
                <a:t>현장 대화 결과: 실패 ❌</a:t>
              </a:r>
            </a:p>
          </p:txBody>
        </p:sp>
        <p:sp>
          <p:nvSpPr>
            <p:cNvPr id="16" name="TextBox 16"/>
            <p:cNvSpPr txBox="1"/>
            <p:nvPr/>
          </p:nvSpPr>
          <p:spPr>
            <a:xfrm>
              <a:off x="1042035" y="4021931"/>
              <a:ext cx="2840923" cy="220028"/>
            </a:xfrm>
            <a:prstGeom prst="rect">
              <a:avLst/>
            </a:prstGeom>
            <a:noFill/>
            <a:ln>
              <a:noFill/>
            </a:ln>
          </p:spPr>
          <p:txBody>
            <a:bodyPr wrap="none" lIns="0" tIns="0" rIns="0" bIns="0" anchor="t" anchorCtr="0">
              <a:spAutoFit/>
            </a:bodyPr>
            <a:lstStyle/>
            <a:p>
              <a:pPr algn="l"/>
              <a:r>
                <a:rPr lang="ko-KR" sz="1120" dirty="0">
                  <a:solidFill>
                    <a:schemeClr val="dk1"/>
                  </a:solidFill>
                  <a:latin typeface="+mn-lt"/>
                  <a:ea typeface="+mn-ea"/>
                  <a:cs typeface="+mn-cs"/>
                </a:rPr>
                <a:t>"어... 저도 백엔드 하는데 어떤 거 쓰세요?"</a:t>
              </a:r>
            </a:p>
          </p:txBody>
        </p:sp>
        <p:sp>
          <p:nvSpPr>
            <p:cNvPr id="17" name="TextBox 17"/>
            <p:cNvSpPr txBox="1"/>
            <p:nvPr/>
          </p:nvSpPr>
          <p:spPr>
            <a:xfrm>
              <a:off x="1042035" y="4307681"/>
              <a:ext cx="3602328" cy="220028"/>
            </a:xfrm>
            <a:prstGeom prst="rect">
              <a:avLst/>
            </a:prstGeom>
            <a:noFill/>
            <a:ln>
              <a:noFill/>
            </a:ln>
          </p:spPr>
          <p:txBody>
            <a:bodyPr wrap="none" lIns="0" tIns="0" rIns="0" bIns="0" anchor="t" anchorCtr="0">
              <a:spAutoFit/>
            </a:bodyPr>
            <a:lstStyle/>
            <a:p>
              <a:pPr algn="l"/>
              <a:r>
                <a:rPr lang="ko-KR" sz="1120" dirty="0">
                  <a:solidFill>
                    <a:schemeClr val="dk1"/>
                  </a:solidFill>
                  <a:latin typeface="+mn-lt"/>
                  <a:ea typeface="+mn-ea"/>
                  <a:cs typeface="+mn-cs"/>
                </a:rPr>
                <a:t>"아 네... FastAPI 써요." → (어색한 침묵 30초 후 이탈)</a:t>
              </a:r>
            </a:p>
          </p:txBody>
        </p:sp>
        <p:sp>
          <p:nvSpPr>
            <p:cNvPr id="18" name="Rectangle 18"/>
            <p:cNvSpPr/>
            <p:nvPr/>
          </p:nvSpPr>
          <p:spPr>
            <a:xfrm>
              <a:off x="1047750" y="4714875"/>
              <a:ext cx="4381500" cy="666750"/>
            </a:xfrm>
            <a:prstGeom prst="roundRect">
              <a:avLst>
                <a:gd name="adj" fmla="val 11429"/>
              </a:avLst>
            </a:prstGeom>
            <a:solidFill>
              <a:srgbClr val="18141D"/>
            </a:solidFill>
            <a:ln w="9525">
              <a:solidFill>
                <a:srgbClr val="37202B"/>
              </a:solidFill>
            </a:ln>
          </p:spPr>
        </p:sp>
        <p:sp>
          <p:nvSpPr>
            <p:cNvPr id="19" name="TextBox 19"/>
            <p:cNvSpPr txBox="1"/>
            <p:nvPr/>
          </p:nvSpPr>
          <p:spPr>
            <a:xfrm>
              <a:off x="1232535" y="4879181"/>
              <a:ext cx="2579945" cy="220028"/>
            </a:xfrm>
            <a:prstGeom prst="rect">
              <a:avLst/>
            </a:prstGeom>
            <a:noFill/>
            <a:ln>
              <a:noFill/>
            </a:ln>
          </p:spPr>
          <p:txBody>
            <a:bodyPr wrap="none" lIns="0" tIns="0" rIns="0" bIns="0" anchor="t" anchorCtr="0">
              <a:spAutoFit/>
            </a:bodyPr>
            <a:lstStyle/>
            <a:p>
              <a:pPr algn="l"/>
              <a:r>
                <a:rPr lang="ko-KR" sz="1120" b="1" dirty="0">
                  <a:solidFill>
                    <a:srgbClr val="F87171"/>
                  </a:solidFill>
                  <a:latin typeface="+mn-lt"/>
                  <a:ea typeface="+mn-ea"/>
                  <a:cs typeface="+mn-cs"/>
                </a:rPr>
                <a:t>실패 원인: 동질성(Homophily)의 함정</a:t>
              </a:r>
            </a:p>
          </p:txBody>
        </p:sp>
        <p:sp>
          <p:nvSpPr>
            <p:cNvPr id="20" name="TextBox 20"/>
            <p:cNvSpPr txBox="1"/>
            <p:nvPr/>
          </p:nvSpPr>
          <p:spPr>
            <a:xfrm>
              <a:off x="1233297" y="5114449"/>
              <a:ext cx="3637941"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같은 관심사여도 서로에게 줄 수 있는 구체적 교류 가치가 없음</a:t>
              </a:r>
            </a:p>
          </p:txBody>
        </p:sp>
        <p:sp>
          <p:nvSpPr>
            <p:cNvPr id="21" name="Ellipse 21"/>
            <p:cNvSpPr/>
            <p:nvPr/>
          </p:nvSpPr>
          <p:spPr>
            <a:xfrm>
              <a:off x="5829300" y="3305175"/>
              <a:ext cx="533400" cy="533400"/>
            </a:xfrm>
            <a:prstGeom prst="ellipse">
              <a:avLst/>
            </a:prstGeom>
            <a:solidFill>
              <a:srgbClr val="1E293B"/>
            </a:solidFill>
            <a:ln w="19050">
              <a:solidFill>
                <a:schemeClr val="accent3"/>
              </a:solidFill>
            </a:ln>
          </p:spPr>
        </p:sp>
        <p:sp>
          <p:nvSpPr>
            <p:cNvPr id="22" name="TextBox 22"/>
            <p:cNvSpPr txBox="1"/>
            <p:nvPr/>
          </p:nvSpPr>
          <p:spPr>
            <a:xfrm>
              <a:off x="5961062" y="3492818"/>
              <a:ext cx="269876"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VS</a:t>
              </a:r>
            </a:p>
          </p:txBody>
        </p:sp>
        <p:sp>
          <p:nvSpPr>
            <p:cNvPr id="23" name="Rectangle 23"/>
            <p:cNvSpPr/>
            <p:nvPr/>
          </p:nvSpPr>
          <p:spPr>
            <a:xfrm>
              <a:off x="6477000" y="1571625"/>
              <a:ext cx="4953000" cy="4000500"/>
            </a:xfrm>
            <a:prstGeom prst="roundRect">
              <a:avLst>
                <a:gd name="adj" fmla="val 3333"/>
              </a:avLst>
            </a:prstGeom>
            <a:solidFill>
              <a:schemeClr val="accent5"/>
            </a:solidFill>
            <a:ln w="14288">
              <a:solidFill>
                <a:srgbClr val="1F2937"/>
              </a:solidFill>
            </a:ln>
          </p:spPr>
        </p:sp>
        <p:sp>
          <p:nvSpPr>
            <p:cNvPr id="24" name="Rectangle 24"/>
            <p:cNvSpPr/>
            <p:nvPr/>
          </p:nvSpPr>
          <p:spPr>
            <a:xfrm>
              <a:off x="6477000" y="1571625"/>
              <a:ext cx="4953000" cy="47625"/>
            </a:xfrm>
            <a:prstGeom prst="roundRect">
              <a:avLst>
                <a:gd name="adj" fmla="val 50000"/>
              </a:avLst>
            </a:prstGeom>
            <a:solidFill>
              <a:schemeClr val="accent1"/>
            </a:solidFill>
            <a:ln>
              <a:noFill/>
            </a:ln>
          </p:spPr>
        </p:sp>
        <p:sp>
          <p:nvSpPr>
            <p:cNvPr id="25" name="Rectangle 25"/>
            <p:cNvSpPr/>
            <p:nvPr/>
          </p:nvSpPr>
          <p:spPr>
            <a:xfrm>
              <a:off x="6762750" y="1857375"/>
              <a:ext cx="1428750" cy="266700"/>
            </a:xfrm>
            <a:prstGeom prst="roundRect">
              <a:avLst>
                <a:gd name="adj" fmla="val 21429"/>
              </a:avLst>
            </a:prstGeom>
            <a:solidFill>
              <a:srgbClr val="1E293B"/>
            </a:solidFill>
            <a:ln>
              <a:noFill/>
            </a:ln>
          </p:spPr>
        </p:sp>
        <p:sp>
          <p:nvSpPr>
            <p:cNvPr id="26" name="TextBox 26"/>
            <p:cNvSpPr txBox="1"/>
            <p:nvPr/>
          </p:nvSpPr>
          <p:spPr>
            <a:xfrm>
              <a:off x="6900672" y="1933099"/>
              <a:ext cx="1451027"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Bside 혁신: 상보성 매칭</a:t>
              </a:r>
            </a:p>
          </p:txBody>
        </p:sp>
        <p:sp>
          <p:nvSpPr>
            <p:cNvPr id="27" name="TextBox 27"/>
            <p:cNvSpPr txBox="1"/>
            <p:nvPr/>
          </p:nvSpPr>
          <p:spPr>
            <a:xfrm>
              <a:off x="6754368" y="2250758"/>
              <a:ext cx="2365921"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Need-Give 비대칭 결합</a:t>
              </a:r>
            </a:p>
          </p:txBody>
        </p:sp>
        <p:sp>
          <p:nvSpPr>
            <p:cNvPr id="28" name="Rectangle 28"/>
            <p:cNvSpPr/>
            <p:nvPr/>
          </p:nvSpPr>
          <p:spPr>
            <a:xfrm>
              <a:off x="6762750" y="2619375"/>
              <a:ext cx="4381500" cy="904875"/>
            </a:xfrm>
            <a:prstGeom prst="roundRect">
              <a:avLst>
                <a:gd name="adj" fmla="val 8421"/>
              </a:avLst>
            </a:prstGeom>
            <a:solidFill>
              <a:srgbClr val="1E293B"/>
            </a:solidFill>
            <a:ln w="9525">
              <a:solidFill>
                <a:srgbClr val="2D3748"/>
              </a:solidFill>
            </a:ln>
          </p:spPr>
        </p:sp>
        <p:sp>
          <p:nvSpPr>
            <p:cNvPr id="29" name="TextBox 29"/>
            <p:cNvSpPr txBox="1"/>
            <p:nvPr/>
          </p:nvSpPr>
          <p:spPr>
            <a:xfrm>
              <a:off x="6947154" y="2775585"/>
              <a:ext cx="4008912" cy="520446"/>
            </a:xfrm>
            <a:prstGeom prst="rect">
              <a:avLst/>
            </a:prstGeom>
            <a:noFill/>
            <a:ln>
              <a:noFill/>
            </a:ln>
          </p:spPr>
          <p:txBody>
            <a:bodyPr wrap="none" lIns="0" tIns="0" rIns="0" bIns="0" anchor="t" anchorCtr="0">
              <a:spAutoFit/>
            </a:bodyPr>
            <a:lstStyle/>
            <a:p>
              <a:pPr algn="l">
                <a:lnSpc>
                  <a:spcPts val="2250"/>
                </a:lnSpc>
              </a:pPr>
              <a:r>
                <a:rPr lang="ko-KR" sz="1200" b="1" dirty="0">
                  <a:solidFill>
                    <a:srgbClr val="FFFFFF"/>
                  </a:solidFill>
                  <a:latin typeface="+mn-lt"/>
                  <a:ea typeface="+mn-ea"/>
                  <a:cs typeface="+mn-cs"/>
                </a:rPr>
                <a:t>참가자 A (지원) : [고민] "실시간 소켓 세션 튜닝"</a:t>
              </a:r>
              <a:br/>
              <a:r>
                <a:rPr lang="ko-KR" sz="1200" b="1" dirty="0">
                  <a:solidFill>
                    <a:srgbClr val="FFFFFF"/>
                  </a:solidFill>
                  <a:latin typeface="+mn-lt"/>
                  <a:ea typeface="+mn-ea"/>
                  <a:cs typeface="+mn-cs"/>
                </a:rPr>
                <a:t>참가자 C (민서) : [역량] "Go/FastAPI 소켓 튜닝 경험 다수"</a:t>
              </a:r>
            </a:p>
          </p:txBody>
        </p:sp>
        <p:sp>
          <p:nvSpPr>
            <p:cNvPr id="30" name="TextBox 30"/>
            <p:cNvSpPr txBox="1"/>
            <p:nvPr/>
          </p:nvSpPr>
          <p:spPr>
            <a:xfrm>
              <a:off x="6948297" y="3323749"/>
              <a:ext cx="2988865"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 공통 키워드 0개이지만 완벽한 Need-Give 일치!</a:t>
              </a:r>
            </a:p>
          </p:txBody>
        </p:sp>
        <p:sp>
          <p:nvSpPr>
            <p:cNvPr id="31" name="TextBox 31"/>
            <p:cNvSpPr txBox="1"/>
            <p:nvPr/>
          </p:nvSpPr>
          <p:spPr>
            <a:xfrm>
              <a:off x="6756654" y="3728085"/>
              <a:ext cx="3080753"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현장 대화 결과: 성공 ✅ (상보성 지수 96%)</a:t>
              </a:r>
            </a:p>
          </p:txBody>
        </p:sp>
        <p:sp>
          <p:nvSpPr>
            <p:cNvPr id="32" name="TextBox 32"/>
            <p:cNvSpPr txBox="1"/>
            <p:nvPr/>
          </p:nvSpPr>
          <p:spPr>
            <a:xfrm>
              <a:off x="6757035" y="4021931"/>
              <a:ext cx="3377016" cy="220028"/>
            </a:xfrm>
            <a:prstGeom prst="rect">
              <a:avLst/>
            </a:prstGeom>
            <a:noFill/>
            <a:ln>
              <a:noFill/>
            </a:ln>
          </p:spPr>
          <p:txBody>
            <a:bodyPr wrap="none" lIns="0" tIns="0" rIns="0" bIns="0" anchor="t" anchorCtr="0">
              <a:spAutoFit/>
            </a:bodyPr>
            <a:lstStyle/>
            <a:p>
              <a:pPr algn="l"/>
              <a:r>
                <a:rPr lang="ko-KR" sz="1120" dirty="0">
                  <a:solidFill>
                    <a:schemeClr val="dk1"/>
                  </a:solidFill>
                  <a:latin typeface="+mn-lt"/>
                  <a:ea typeface="+mn-ea"/>
                  <a:cs typeface="+mn-cs"/>
                </a:rPr>
                <a:t>"민서 님! 웹소켓 튜닝 경험 있으시죠? 저희 지금..."</a:t>
              </a:r>
            </a:p>
          </p:txBody>
        </p:sp>
        <p:sp>
          <p:nvSpPr>
            <p:cNvPr id="33" name="TextBox 33"/>
            <p:cNvSpPr txBox="1"/>
            <p:nvPr/>
          </p:nvSpPr>
          <p:spPr>
            <a:xfrm>
              <a:off x="6757035" y="4307681"/>
              <a:ext cx="4306691" cy="220028"/>
            </a:xfrm>
            <a:prstGeom prst="rect">
              <a:avLst/>
            </a:prstGeom>
            <a:noFill/>
            <a:ln>
              <a:noFill/>
            </a:ln>
          </p:spPr>
          <p:txBody>
            <a:bodyPr wrap="none" lIns="0" tIns="0" rIns="0" bIns="0" anchor="t" anchorCtr="0">
              <a:spAutoFit/>
            </a:bodyPr>
            <a:lstStyle/>
            <a:p>
              <a:pPr algn="l"/>
              <a:r>
                <a:rPr lang="ko-KR" sz="1120" dirty="0">
                  <a:solidFill>
                    <a:schemeClr val="dk1"/>
                  </a:solidFill>
                  <a:latin typeface="+mn-lt"/>
                  <a:ea typeface="+mn-ea"/>
                  <a:cs typeface="+mn-cs"/>
                </a:rPr>
                <a:t>"아 그거 이벤트 루프 블로킹 때문일 거예요! 제가 알려드릴게요."</a:t>
              </a:r>
            </a:p>
          </p:txBody>
        </p:sp>
        <p:sp>
          <p:nvSpPr>
            <p:cNvPr id="34" name="Rectangle 34"/>
            <p:cNvSpPr/>
            <p:nvPr/>
          </p:nvSpPr>
          <p:spPr>
            <a:xfrm>
              <a:off x="6762750" y="4714875"/>
              <a:ext cx="4381500" cy="666750"/>
            </a:xfrm>
            <a:prstGeom prst="roundRect">
              <a:avLst>
                <a:gd name="adj" fmla="val 11429"/>
              </a:avLst>
            </a:prstGeom>
            <a:solidFill>
              <a:srgbClr val="13241F"/>
            </a:solidFill>
            <a:ln w="9525">
              <a:solidFill>
                <a:srgbClr val="1F4D3C"/>
              </a:solidFill>
            </a:ln>
          </p:spPr>
        </p:sp>
        <p:sp>
          <p:nvSpPr>
            <p:cNvPr id="35" name="TextBox 35"/>
            <p:cNvSpPr txBox="1"/>
            <p:nvPr/>
          </p:nvSpPr>
          <p:spPr>
            <a:xfrm>
              <a:off x="6947535" y="4879181"/>
              <a:ext cx="3224755" cy="220028"/>
            </a:xfrm>
            <a:prstGeom prst="rect">
              <a:avLst/>
            </a:prstGeom>
            <a:noFill/>
            <a:ln>
              <a:noFill/>
            </a:ln>
          </p:spPr>
          <p:txBody>
            <a:bodyPr wrap="none" lIns="0" tIns="0" rIns="0" bIns="0" anchor="t" anchorCtr="0">
              <a:spAutoFit/>
            </a:bodyPr>
            <a:lstStyle/>
            <a:p>
              <a:pPr algn="l"/>
              <a:r>
                <a:rPr lang="ko-KR" sz="1120" b="1" dirty="0">
                  <a:solidFill>
                    <a:schemeClr val="accent1"/>
                  </a:solidFill>
                  <a:latin typeface="+mn-lt"/>
                  <a:ea typeface="+mn-ea"/>
                  <a:cs typeface="+mn-cs"/>
                </a:rPr>
                <a:t>성공 원인: 상보적 보완 가치(Complementarity)</a:t>
              </a:r>
            </a:p>
          </p:txBody>
        </p:sp>
        <p:sp>
          <p:nvSpPr>
            <p:cNvPr id="36" name="TextBox 36"/>
            <p:cNvSpPr txBox="1"/>
            <p:nvPr/>
          </p:nvSpPr>
          <p:spPr>
            <a:xfrm>
              <a:off x="6948297" y="5114449"/>
              <a:ext cx="3652770"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대화의 첫 마디가 명확한 고민 해결로 연결되어 20분 이상 몰입</a:t>
              </a:r>
            </a:p>
          </p:txBody>
        </p:sp>
      </p:grpSp>
      <p:grpSp>
        <p:nvGrpSpPr>
          <p:cNvPr id="45" name="bottom-algorithm-chips"/>
          <p:cNvGrpSpPr/>
          <p:nvPr/>
        </p:nvGrpSpPr>
        <p:grpSpPr>
          <a:xfrm>
            <a:off x="762000" y="5762625"/>
            <a:ext cx="10668000" cy="552450"/>
            <a:chOff x="762000" y="5762625"/>
            <a:chExt cx="10668000" cy="552450"/>
          </a:xfrm>
        </p:grpSpPr>
        <p:sp>
          <p:nvSpPr>
            <p:cNvPr id="38" name="Rectangle 38"/>
            <p:cNvSpPr/>
            <p:nvPr/>
          </p:nvSpPr>
          <p:spPr>
            <a:xfrm>
              <a:off x="762000" y="5762625"/>
              <a:ext cx="10668000" cy="552450"/>
            </a:xfrm>
            <a:prstGeom prst="roundRect">
              <a:avLst>
                <a:gd name="adj" fmla="val 17241"/>
              </a:avLst>
            </a:prstGeom>
            <a:solidFill>
              <a:srgbClr val="131B2E"/>
            </a:solidFill>
            <a:ln w="9525">
              <a:solidFill>
                <a:schemeClr val="accent3"/>
              </a:solidFill>
            </a:ln>
          </p:spPr>
        </p:sp>
        <p:sp>
          <p:nvSpPr>
            <p:cNvPr id="39" name="TextBox 39"/>
            <p:cNvSpPr txBox="1"/>
            <p:nvPr/>
          </p:nvSpPr>
          <p:spPr>
            <a:xfrm>
              <a:off x="1041654" y="5956935"/>
              <a:ext cx="1080127" cy="234696"/>
            </a:xfrm>
            <a:prstGeom prst="rect">
              <a:avLst/>
            </a:prstGeom>
            <a:noFill/>
            <a:ln>
              <a:noFill/>
            </a:ln>
          </p:spPr>
          <p:txBody>
            <a:bodyPr wrap="none" lIns="0" tIns="0" rIns="0" bIns="0" anchor="t" anchorCtr="0">
              <a:spAutoFit/>
            </a:bodyPr>
            <a:lstStyle/>
            <a:p>
              <a:pPr algn="l"/>
              <a:r>
                <a:rPr lang="ko-KR" sz="1200" b="1" dirty="0">
                  <a:solidFill>
                    <a:schemeClr val="accent3"/>
                  </a:solidFill>
                  <a:latin typeface="+mn-lt"/>
                  <a:ea typeface="+mn-ea"/>
                  <a:cs typeface="+mn-cs"/>
                </a:rPr>
                <a:t>알고리즘 엔진:</a:t>
              </a:r>
            </a:p>
          </p:txBody>
        </p:sp>
        <p:sp>
          <p:nvSpPr>
            <p:cNvPr id="40" name="TextBox 40"/>
            <p:cNvSpPr txBox="1"/>
            <p:nvPr/>
          </p:nvSpPr>
          <p:spPr>
            <a:xfrm>
              <a:off x="2185035" y="5965031"/>
              <a:ext cx="2074774" cy="220028"/>
            </a:xfrm>
            <a:prstGeom prst="rect">
              <a:avLst/>
            </a:prstGeom>
            <a:noFill/>
            <a:ln>
              <a:noFill/>
            </a:ln>
          </p:spPr>
          <p:txBody>
            <a:bodyPr wrap="none" lIns="0" tIns="0" rIns="0" bIns="0" anchor="t" anchorCtr="0">
              <a:spAutoFit/>
            </a:bodyPr>
            <a:lstStyle/>
            <a:p>
              <a:pPr algn="l"/>
              <a:r>
                <a:rPr lang="ko-KR" sz="1120" dirty="0">
                  <a:solidFill>
                    <a:srgbClr val="FFFFFF"/>
                  </a:solidFill>
                  <a:latin typeface="+mn-lt"/>
                  <a:ea typeface="+mn-ea"/>
                  <a:cs typeface="+mn-cs"/>
                </a:rPr>
                <a:t>Need-Give 비대칭 벡터 임베딩</a:t>
              </a:r>
            </a:p>
          </p:txBody>
        </p:sp>
        <p:sp>
          <p:nvSpPr>
            <p:cNvPr id="41" name="TextBox 41"/>
            <p:cNvSpPr txBox="1"/>
            <p:nvPr/>
          </p:nvSpPr>
          <p:spPr>
            <a:xfrm>
              <a:off x="4756785" y="5965031"/>
              <a:ext cx="61638" cy="220028"/>
            </a:xfrm>
            <a:prstGeom prst="rect">
              <a:avLst/>
            </a:prstGeom>
            <a:noFill/>
            <a:ln>
              <a:noFill/>
            </a:ln>
          </p:spPr>
          <p:txBody>
            <a:bodyPr wrap="none" lIns="0" tIns="0" rIns="0" bIns="0" anchor="t" anchorCtr="0">
              <a:spAutoFit/>
            </a:bodyPr>
            <a:lstStyle/>
            <a:p>
              <a:pPr algn="l"/>
              <a:r>
                <a:rPr lang="ko-KR" sz="1120" dirty="0">
                  <a:solidFill>
                    <a:schemeClr val="accent6"/>
                  </a:solidFill>
                  <a:latin typeface="+mn-lt"/>
                  <a:ea typeface="+mn-ea"/>
                  <a:cs typeface="+mn-cs"/>
                </a:rPr>
                <a:t>·</a:t>
              </a:r>
            </a:p>
          </p:txBody>
        </p:sp>
        <p:sp>
          <p:nvSpPr>
            <p:cNvPr id="42" name="TextBox 42"/>
            <p:cNvSpPr txBox="1"/>
            <p:nvPr/>
          </p:nvSpPr>
          <p:spPr>
            <a:xfrm>
              <a:off x="4947285" y="5965031"/>
              <a:ext cx="2721298" cy="220028"/>
            </a:xfrm>
            <a:prstGeom prst="rect">
              <a:avLst/>
            </a:prstGeom>
            <a:noFill/>
            <a:ln>
              <a:noFill/>
            </a:ln>
          </p:spPr>
          <p:txBody>
            <a:bodyPr wrap="none" lIns="0" tIns="0" rIns="0" bIns="0" anchor="t" anchorCtr="0">
              <a:spAutoFit/>
            </a:bodyPr>
            <a:lstStyle/>
            <a:p>
              <a:pPr algn="l"/>
              <a:r>
                <a:rPr lang="ko-KR" sz="1120" dirty="0">
                  <a:solidFill>
                    <a:srgbClr val="FFFFFF"/>
                  </a:solidFill>
                  <a:latin typeface="+mn-lt"/>
                  <a:ea typeface="+mn-ea"/>
                  <a:cs typeface="+mn-cs"/>
                </a:rPr>
                <a:t>코사인 유사도 + 도메인 가중치 매트릭스</a:t>
              </a:r>
            </a:p>
          </p:txBody>
        </p:sp>
        <p:sp>
          <p:nvSpPr>
            <p:cNvPr id="43" name="TextBox 43"/>
            <p:cNvSpPr txBox="1"/>
            <p:nvPr/>
          </p:nvSpPr>
          <p:spPr>
            <a:xfrm>
              <a:off x="8185785" y="5965031"/>
              <a:ext cx="61638" cy="220028"/>
            </a:xfrm>
            <a:prstGeom prst="rect">
              <a:avLst/>
            </a:prstGeom>
            <a:noFill/>
            <a:ln>
              <a:noFill/>
            </a:ln>
          </p:spPr>
          <p:txBody>
            <a:bodyPr wrap="none" lIns="0" tIns="0" rIns="0" bIns="0" anchor="t" anchorCtr="0">
              <a:spAutoFit/>
            </a:bodyPr>
            <a:lstStyle/>
            <a:p>
              <a:pPr algn="l"/>
              <a:r>
                <a:rPr lang="ko-KR" sz="1120" dirty="0">
                  <a:solidFill>
                    <a:schemeClr val="accent6"/>
                  </a:solidFill>
                  <a:latin typeface="+mn-lt"/>
                  <a:ea typeface="+mn-ea"/>
                  <a:cs typeface="+mn-cs"/>
                </a:rPr>
                <a:t>·</a:t>
              </a:r>
            </a:p>
          </p:txBody>
        </p:sp>
        <p:sp>
          <p:nvSpPr>
            <p:cNvPr id="44" name="TextBox 44"/>
            <p:cNvSpPr txBox="1"/>
            <p:nvPr/>
          </p:nvSpPr>
          <p:spPr>
            <a:xfrm>
              <a:off x="8376285" y="5965031"/>
              <a:ext cx="2238611" cy="220028"/>
            </a:xfrm>
            <a:prstGeom prst="rect">
              <a:avLst/>
            </a:prstGeom>
            <a:noFill/>
            <a:ln>
              <a:noFill/>
            </a:ln>
          </p:spPr>
          <p:txBody>
            <a:bodyPr wrap="none" lIns="0" tIns="0" rIns="0" bIns="0" anchor="t" anchorCtr="0">
              <a:spAutoFit/>
            </a:bodyPr>
            <a:lstStyle/>
            <a:p>
              <a:pPr algn="l"/>
              <a:r>
                <a:rPr lang="ko-KR" sz="1120" b="1" dirty="0">
                  <a:solidFill>
                    <a:schemeClr val="accent1"/>
                  </a:solidFill>
                  <a:latin typeface="+mn-lt"/>
                  <a:ea typeface="+mn-ea"/>
                  <a:cs typeface="+mn-cs"/>
                </a:rPr>
                <a:t>FastAPI 인메모리 연산 (&lt; 50ms)</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7258324" cy="962406"/>
            <a:chOff x="749808" y="428625"/>
            <a:chExt cx="7258324" cy="962406"/>
          </a:xfrm>
        </p:grpSpPr>
        <p:sp>
          <p:nvSpPr>
            <p:cNvPr id="2" name="Rectangle 2"/>
            <p:cNvSpPr/>
            <p:nvPr/>
          </p:nvSpPr>
          <p:spPr>
            <a:xfrm>
              <a:off x="762000" y="428625"/>
              <a:ext cx="1524000" cy="247650"/>
            </a:xfrm>
            <a:prstGeom prst="roundRect">
              <a:avLst>
                <a:gd name="adj" fmla="val 50000"/>
              </a:avLst>
            </a:prstGeom>
            <a:solidFill>
              <a:schemeClr val="accent5"/>
            </a:solidFill>
            <a:ln w="11430">
              <a:solidFill>
                <a:schemeClr val="accent2"/>
              </a:solidFill>
            </a:ln>
          </p:spPr>
        </p:sp>
        <p:sp>
          <p:nvSpPr>
            <p:cNvPr id="3" name="TextBox 3"/>
            <p:cNvSpPr txBox="1"/>
            <p:nvPr/>
          </p:nvSpPr>
          <p:spPr>
            <a:xfrm>
              <a:off x="792299" y="485299"/>
              <a:ext cx="1463402" cy="190690"/>
            </a:xfrm>
            <a:prstGeom prst="rect">
              <a:avLst/>
            </a:prstGeom>
            <a:noFill/>
            <a:ln>
              <a:noFill/>
            </a:ln>
          </p:spPr>
          <p:txBody>
            <a:bodyPr wrap="none" lIns="0" tIns="0" rIns="0" bIns="0" anchor="t" anchorCtr="0">
              <a:spAutoFit/>
            </a:bodyPr>
            <a:lstStyle/>
            <a:p>
              <a:pPr algn="ctr"/>
              <a:r>
                <a:rPr lang="en-US" sz="980" b="1" spc="75" dirty="0">
                  <a:solidFill>
                    <a:schemeClr val="accent2"/>
                  </a:solidFill>
                  <a:latin typeface="+mn-lt"/>
                  <a:ea typeface="+mn-ea"/>
                  <a:cs typeface="+mn-cs"/>
                </a:rPr>
                <a:t>04. SERVICE FLOW</a:t>
              </a:r>
            </a:p>
          </p:txBody>
        </p:sp>
        <p:sp>
          <p:nvSpPr>
            <p:cNvPr id="4" name="TextBox 4"/>
            <p:cNvSpPr txBox="1"/>
            <p:nvPr/>
          </p:nvSpPr>
          <p:spPr>
            <a:xfrm>
              <a:off x="749808" y="741045"/>
              <a:ext cx="7258324"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현장에서 경험하는 1.5초의 마법: 실제 서비스 흐름</a:t>
              </a:r>
            </a:p>
          </p:txBody>
        </p:sp>
        <p:sp>
          <p:nvSpPr>
            <p:cNvPr id="5" name="TextBox 5"/>
            <p:cNvSpPr txBox="1"/>
            <p:nvPr/>
          </p:nvSpPr>
          <p:spPr>
            <a:xfrm>
              <a:off x="755904" y="1156335"/>
              <a:ext cx="6903082"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QR 스캔부터 상보적 파트너와의 오프라인 조우까지, 모바일 브라우저에서 매끄럽게 연결됩니다.</a:t>
              </a:r>
            </a:p>
          </p:txBody>
        </p:sp>
      </p:grpSp>
      <p:grpSp>
        <p:nvGrpSpPr>
          <p:cNvPr id="73" name="flow-cards"/>
          <p:cNvGrpSpPr/>
          <p:nvPr/>
        </p:nvGrpSpPr>
        <p:grpSpPr>
          <a:xfrm>
            <a:off x="762000" y="1619250"/>
            <a:ext cx="10668000" cy="3905250"/>
            <a:chOff x="762000" y="1619250"/>
            <a:chExt cx="10668000" cy="3905250"/>
          </a:xfrm>
        </p:grpSpPr>
        <p:sp>
          <p:nvSpPr>
            <p:cNvPr id="7" name="Rectangle 7"/>
            <p:cNvSpPr/>
            <p:nvPr/>
          </p:nvSpPr>
          <p:spPr>
            <a:xfrm>
              <a:off x="762000" y="1619250"/>
              <a:ext cx="2476500" cy="3905250"/>
            </a:xfrm>
            <a:prstGeom prst="roundRect">
              <a:avLst>
                <a:gd name="adj" fmla="val 5385"/>
              </a:avLst>
            </a:prstGeom>
            <a:solidFill>
              <a:schemeClr val="accent5"/>
            </a:solidFill>
            <a:ln w="14288">
              <a:solidFill>
                <a:srgbClr val="1F2937"/>
              </a:solidFill>
            </a:ln>
          </p:spPr>
        </p:sp>
        <p:sp>
          <p:nvSpPr>
            <p:cNvPr id="8" name="Rectangle 8"/>
            <p:cNvSpPr/>
            <p:nvPr/>
          </p:nvSpPr>
          <p:spPr>
            <a:xfrm>
              <a:off x="762000" y="1619250"/>
              <a:ext cx="2476500" cy="38100"/>
            </a:xfrm>
            <a:prstGeom prst="roundRect">
              <a:avLst>
                <a:gd name="adj" fmla="val 50000"/>
              </a:avLst>
            </a:prstGeom>
            <a:solidFill>
              <a:schemeClr val="accent1"/>
            </a:solidFill>
            <a:ln>
              <a:noFill/>
            </a:ln>
          </p:spPr>
        </p:sp>
        <p:sp>
          <p:nvSpPr>
            <p:cNvPr id="9" name="TextBox 9"/>
            <p:cNvSpPr txBox="1"/>
            <p:nvPr/>
          </p:nvSpPr>
          <p:spPr>
            <a:xfrm>
              <a:off x="947547" y="1847374"/>
              <a:ext cx="1207775"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STEP 1 · 입장 (3초)</a:t>
              </a:r>
            </a:p>
          </p:txBody>
        </p:sp>
        <p:sp>
          <p:nvSpPr>
            <p:cNvPr id="10" name="TextBox 10"/>
            <p:cNvSpPr txBox="1"/>
            <p:nvPr/>
          </p:nvSpPr>
          <p:spPr>
            <a:xfrm>
              <a:off x="944880" y="2076450"/>
              <a:ext cx="1540942"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초경량 게이트 폼</a:t>
              </a:r>
            </a:p>
          </p:txBody>
        </p:sp>
        <p:sp>
          <p:nvSpPr>
            <p:cNvPr id="11" name="Rectangle 11"/>
            <p:cNvSpPr/>
            <p:nvPr/>
          </p:nvSpPr>
          <p:spPr>
            <a:xfrm>
              <a:off x="952500" y="2428875"/>
              <a:ext cx="2095500" cy="2000250"/>
            </a:xfrm>
            <a:prstGeom prst="roundRect">
              <a:avLst>
                <a:gd name="adj" fmla="val 3810"/>
              </a:avLst>
            </a:prstGeom>
            <a:solidFill>
              <a:srgbClr val="1E293B"/>
            </a:solidFill>
            <a:ln w="9525">
              <a:solidFill>
                <a:srgbClr val="334155"/>
              </a:solidFill>
            </a:ln>
          </p:spPr>
        </p:sp>
        <p:sp>
          <p:nvSpPr>
            <p:cNvPr id="12" name="Rectangle 12"/>
            <p:cNvSpPr/>
            <p:nvPr/>
          </p:nvSpPr>
          <p:spPr>
            <a:xfrm>
              <a:off x="1095375" y="2619375"/>
              <a:ext cx="1809750" cy="247650"/>
            </a:xfrm>
            <a:prstGeom prst="roundRect">
              <a:avLst>
                <a:gd name="adj" fmla="val 15385"/>
              </a:avLst>
            </a:prstGeom>
            <a:solidFill>
              <a:srgbClr val="0F172A"/>
            </a:solidFill>
            <a:ln>
              <a:noFill/>
            </a:ln>
          </p:spPr>
        </p:sp>
        <p:sp>
          <p:nvSpPr>
            <p:cNvPr id="13" name="TextBox 13"/>
            <p:cNvSpPr txBox="1"/>
            <p:nvPr/>
          </p:nvSpPr>
          <p:spPr>
            <a:xfrm>
              <a:off x="1185672" y="2685574"/>
              <a:ext cx="1263139"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이름: 이지원 (백엔드)</a:t>
              </a:r>
            </a:p>
          </p:txBody>
        </p:sp>
        <p:sp>
          <p:nvSpPr>
            <p:cNvPr id="14" name="Rectangle 14"/>
            <p:cNvSpPr/>
            <p:nvPr/>
          </p:nvSpPr>
          <p:spPr>
            <a:xfrm>
              <a:off x="1095375" y="3000375"/>
              <a:ext cx="1809750" cy="381000"/>
            </a:xfrm>
            <a:prstGeom prst="roundRect">
              <a:avLst>
                <a:gd name="adj" fmla="val 10000"/>
              </a:avLst>
            </a:prstGeom>
            <a:solidFill>
              <a:srgbClr val="0F172A"/>
            </a:solidFill>
            <a:ln>
              <a:noFill/>
            </a:ln>
          </p:spPr>
        </p:sp>
        <p:sp>
          <p:nvSpPr>
            <p:cNvPr id="15" name="TextBox 15"/>
            <p:cNvSpPr txBox="1"/>
            <p:nvPr/>
          </p:nvSpPr>
          <p:spPr>
            <a:xfrm>
              <a:off x="1185672" y="3066574"/>
              <a:ext cx="1211925" cy="190690"/>
            </a:xfrm>
            <a:prstGeom prst="rect">
              <a:avLst/>
            </a:prstGeom>
            <a:noFill/>
            <a:ln>
              <a:noFill/>
            </a:ln>
          </p:spPr>
          <p:txBody>
            <a:bodyPr wrap="none" lIns="0" tIns="0" rIns="0" bIns="0" anchor="t" anchorCtr="0">
              <a:spAutoFit/>
            </a:bodyPr>
            <a:lstStyle/>
            <a:p>
              <a:pPr algn="l"/>
              <a:r>
                <a:rPr lang="ko-KR" sz="980" dirty="0">
                  <a:solidFill>
                    <a:schemeClr val="accent1"/>
                  </a:solidFill>
                  <a:latin typeface="+mn-lt"/>
                  <a:ea typeface="+mn-ea"/>
                  <a:cs typeface="+mn-cs"/>
                </a:rPr>
                <a:t>고민: 소켓 세션 튜닝</a:t>
              </a:r>
            </a:p>
          </p:txBody>
        </p:sp>
        <p:sp>
          <p:nvSpPr>
            <p:cNvPr id="16" name="Rectangle 16"/>
            <p:cNvSpPr/>
            <p:nvPr/>
          </p:nvSpPr>
          <p:spPr>
            <a:xfrm>
              <a:off x="1095375" y="3524250"/>
              <a:ext cx="1809750" cy="247650"/>
            </a:xfrm>
            <a:prstGeom prst="roundRect">
              <a:avLst>
                <a:gd name="adj" fmla="val 15385"/>
              </a:avLst>
            </a:prstGeom>
            <a:solidFill>
              <a:srgbClr val="0F172A"/>
            </a:solidFill>
            <a:ln>
              <a:noFill/>
            </a:ln>
          </p:spPr>
        </p:sp>
        <p:sp>
          <p:nvSpPr>
            <p:cNvPr id="17" name="TextBox 17"/>
            <p:cNvSpPr txBox="1"/>
            <p:nvPr/>
          </p:nvSpPr>
          <p:spPr>
            <a:xfrm>
              <a:off x="1185672" y="3590449"/>
              <a:ext cx="132266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역량: FastAPI, Python</a:t>
              </a:r>
            </a:p>
          </p:txBody>
        </p:sp>
        <p:sp>
          <p:nvSpPr>
            <p:cNvPr id="18" name="Rectangle 18"/>
            <p:cNvSpPr/>
            <p:nvPr/>
          </p:nvSpPr>
          <p:spPr>
            <a:xfrm>
              <a:off x="1095375" y="3952875"/>
              <a:ext cx="1809750" cy="323850"/>
            </a:xfrm>
            <a:prstGeom prst="roundRect">
              <a:avLst>
                <a:gd name="adj" fmla="val 17647"/>
              </a:avLst>
            </a:prstGeom>
            <a:solidFill>
              <a:schemeClr val="accent1"/>
            </a:solidFill>
            <a:ln>
              <a:noFill/>
            </a:ln>
          </p:spPr>
        </p:sp>
        <p:sp>
          <p:nvSpPr>
            <p:cNvPr id="19" name="TextBox 19"/>
            <p:cNvSpPr txBox="1"/>
            <p:nvPr/>
          </p:nvSpPr>
          <p:spPr>
            <a:xfrm>
              <a:off x="1441887" y="4057174"/>
              <a:ext cx="1116726" cy="190690"/>
            </a:xfrm>
            <a:prstGeom prst="rect">
              <a:avLst/>
            </a:prstGeom>
            <a:noFill/>
            <a:ln>
              <a:noFill/>
            </a:ln>
          </p:spPr>
          <p:txBody>
            <a:bodyPr wrap="none" lIns="0" tIns="0" rIns="0" bIns="0" anchor="t" anchorCtr="0">
              <a:spAutoFit/>
            </a:bodyPr>
            <a:lstStyle/>
            <a:p>
              <a:pPr algn="ctr"/>
              <a:r>
                <a:rPr lang="ko-KR" sz="980" b="1" dirty="0">
                  <a:solidFill>
                    <a:srgbClr val="090D16"/>
                  </a:solidFill>
                  <a:latin typeface="+mn-lt"/>
                  <a:ea typeface="+mn-ea"/>
                  <a:cs typeface="+mn-cs"/>
                </a:rPr>
                <a:t>3초 만에 입장 완료</a:t>
              </a:r>
            </a:p>
          </p:txBody>
        </p:sp>
        <p:sp>
          <p:nvSpPr>
            <p:cNvPr id="20" name="TextBox 20"/>
            <p:cNvSpPr txBox="1"/>
            <p:nvPr/>
          </p:nvSpPr>
          <p:spPr>
            <a:xfrm>
              <a:off x="947547" y="4609624"/>
              <a:ext cx="1607708" cy="190690"/>
            </a:xfrm>
            <a:prstGeom prst="rect">
              <a:avLst/>
            </a:prstGeom>
            <a:noFill/>
            <a:ln>
              <a:noFill/>
            </a:ln>
          </p:spPr>
          <p:txBody>
            <a:bodyPr wrap="none" lIns="0" tIns="0" rIns="0" bIns="0" anchor="t" anchorCtr="0">
              <a:spAutoFit/>
            </a:bodyPr>
            <a:lstStyle/>
            <a:p>
              <a:pPr algn="l"/>
              <a:r>
                <a:rPr lang="ko-KR" sz="980" b="1" dirty="0">
                  <a:solidFill>
                    <a:schemeClr val="dk1"/>
                  </a:solidFill>
                  <a:latin typeface="+mn-lt"/>
                  <a:ea typeface="+mn-ea"/>
                  <a:cs typeface="+mn-cs"/>
                </a:rPr>
                <a:t>로그인/가입 없이 즉시 참여</a:t>
              </a:r>
            </a:p>
          </p:txBody>
        </p:sp>
        <p:sp>
          <p:nvSpPr>
            <p:cNvPr id="21" name="TextBox 21"/>
            <p:cNvSpPr txBox="1"/>
            <p:nvPr/>
          </p:nvSpPr>
          <p:spPr>
            <a:xfrm>
              <a:off x="947547" y="4847749"/>
              <a:ext cx="1626792"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PWA 캐시로 오프라인 구동</a:t>
              </a:r>
            </a:p>
          </p:txBody>
        </p:sp>
        <p:sp>
          <p:nvSpPr>
            <p:cNvPr id="22" name="TextBox 22"/>
            <p:cNvSpPr txBox="1"/>
            <p:nvPr/>
          </p:nvSpPr>
          <p:spPr>
            <a:xfrm>
              <a:off x="947547" y="5085874"/>
              <a:ext cx="1307414"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작성 완료율 91% 기록</a:t>
              </a:r>
            </a:p>
          </p:txBody>
        </p:sp>
        <p:sp>
          <p:nvSpPr>
            <p:cNvPr id="23" name="Rectangle 23"/>
            <p:cNvSpPr/>
            <p:nvPr/>
          </p:nvSpPr>
          <p:spPr>
            <a:xfrm>
              <a:off x="3486150" y="1619250"/>
              <a:ext cx="2476500" cy="3905250"/>
            </a:xfrm>
            <a:prstGeom prst="roundRect">
              <a:avLst>
                <a:gd name="adj" fmla="val 5385"/>
              </a:avLst>
            </a:prstGeom>
            <a:solidFill>
              <a:schemeClr val="accent5"/>
            </a:solidFill>
            <a:ln w="14288">
              <a:solidFill>
                <a:srgbClr val="1F2937"/>
              </a:solidFill>
            </a:ln>
          </p:spPr>
        </p:sp>
        <p:sp>
          <p:nvSpPr>
            <p:cNvPr id="24" name="Rectangle 24"/>
            <p:cNvSpPr/>
            <p:nvPr/>
          </p:nvSpPr>
          <p:spPr>
            <a:xfrm>
              <a:off x="3486150" y="1619250"/>
              <a:ext cx="2476500" cy="38100"/>
            </a:xfrm>
            <a:prstGeom prst="roundRect">
              <a:avLst>
                <a:gd name="adj" fmla="val 50000"/>
              </a:avLst>
            </a:prstGeom>
            <a:solidFill>
              <a:schemeClr val="accent2"/>
            </a:solidFill>
            <a:ln>
              <a:noFill/>
            </a:ln>
          </p:spPr>
        </p:sp>
        <p:sp>
          <p:nvSpPr>
            <p:cNvPr id="25" name="TextBox 25"/>
            <p:cNvSpPr txBox="1"/>
            <p:nvPr/>
          </p:nvSpPr>
          <p:spPr>
            <a:xfrm>
              <a:off x="3671697" y="1847374"/>
              <a:ext cx="1398252"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STEP 2 · 탐색 (실시간)</a:t>
              </a:r>
            </a:p>
          </p:txBody>
        </p:sp>
        <p:sp>
          <p:nvSpPr>
            <p:cNvPr id="26" name="TextBox 26"/>
            <p:cNvSpPr txBox="1"/>
            <p:nvPr/>
          </p:nvSpPr>
          <p:spPr>
            <a:xfrm>
              <a:off x="3669030" y="2076450"/>
              <a:ext cx="1540942"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현장 실시간 로비</a:t>
              </a:r>
            </a:p>
          </p:txBody>
        </p:sp>
        <p:sp>
          <p:nvSpPr>
            <p:cNvPr id="27" name="Rectangle 27"/>
            <p:cNvSpPr/>
            <p:nvPr/>
          </p:nvSpPr>
          <p:spPr>
            <a:xfrm>
              <a:off x="3676650" y="2428875"/>
              <a:ext cx="2095500" cy="2000250"/>
            </a:xfrm>
            <a:prstGeom prst="roundRect">
              <a:avLst>
                <a:gd name="adj" fmla="val 3810"/>
              </a:avLst>
            </a:prstGeom>
            <a:solidFill>
              <a:srgbClr val="1E293B"/>
            </a:solidFill>
            <a:ln w="9525">
              <a:solidFill>
                <a:srgbClr val="334155"/>
              </a:solidFill>
            </a:ln>
          </p:spPr>
        </p:sp>
        <p:sp>
          <p:nvSpPr>
            <p:cNvPr id="28" name="Rectangle 28"/>
            <p:cNvSpPr/>
            <p:nvPr/>
          </p:nvSpPr>
          <p:spPr>
            <a:xfrm>
              <a:off x="3819525" y="2571750"/>
              <a:ext cx="1809750" cy="266700"/>
            </a:xfrm>
            <a:prstGeom prst="roundRect">
              <a:avLst>
                <a:gd name="adj" fmla="val 14286"/>
              </a:avLst>
            </a:prstGeom>
            <a:solidFill>
              <a:srgbClr val="0F172A"/>
            </a:solidFill>
            <a:ln>
              <a:noFill/>
            </a:ln>
          </p:spPr>
        </p:sp>
        <p:sp>
          <p:nvSpPr>
            <p:cNvPr id="29" name="Ellipse 29"/>
            <p:cNvSpPr/>
            <p:nvPr/>
          </p:nvSpPr>
          <p:spPr>
            <a:xfrm>
              <a:off x="3914775" y="2667000"/>
              <a:ext cx="76200" cy="76200"/>
            </a:xfrm>
            <a:prstGeom prst="ellipse">
              <a:avLst/>
            </a:prstGeom>
            <a:solidFill>
              <a:schemeClr val="accent1"/>
            </a:solidFill>
            <a:ln>
              <a:noFill/>
            </a:ln>
          </p:spPr>
        </p:sp>
        <p:sp>
          <p:nvSpPr>
            <p:cNvPr id="30" name="TextBox 30"/>
            <p:cNvSpPr txBox="1"/>
            <p:nvPr/>
          </p:nvSpPr>
          <p:spPr>
            <a:xfrm>
              <a:off x="4071747" y="2647474"/>
              <a:ext cx="1322032" cy="190690"/>
            </a:xfrm>
            <a:prstGeom prst="rect">
              <a:avLst/>
            </a:prstGeom>
            <a:noFill/>
            <a:ln>
              <a:noFill/>
            </a:ln>
          </p:spPr>
          <p:txBody>
            <a:bodyPr wrap="none" lIns="0" tIns="0" rIns="0" bIns="0" anchor="t" anchorCtr="0">
              <a:spAutoFit/>
            </a:bodyPr>
            <a:lstStyle/>
            <a:p>
              <a:pPr algn="l"/>
              <a:r>
                <a:rPr lang="ko-KR" sz="980" b="1" dirty="0">
                  <a:solidFill>
                    <a:srgbClr val="FFFFFF"/>
                  </a:solidFill>
                  <a:latin typeface="+mn-lt"/>
                  <a:ea typeface="+mn-ea"/>
                  <a:cs typeface="+mn-cs"/>
                </a:rPr>
                <a:t>현재 참여자 46명 접속</a:t>
              </a:r>
            </a:p>
          </p:txBody>
        </p:sp>
        <p:sp>
          <p:nvSpPr>
            <p:cNvPr id="31" name="Rectangle 31"/>
            <p:cNvSpPr/>
            <p:nvPr/>
          </p:nvSpPr>
          <p:spPr>
            <a:xfrm>
              <a:off x="3819525" y="2933700"/>
              <a:ext cx="1809750" cy="428625"/>
            </a:xfrm>
            <a:prstGeom prst="roundRect">
              <a:avLst>
                <a:gd name="adj" fmla="val 8889"/>
              </a:avLst>
            </a:prstGeom>
            <a:solidFill>
              <a:srgbClr val="13241F"/>
            </a:solidFill>
            <a:ln w="9525">
              <a:solidFill>
                <a:srgbClr val="1F4D3C"/>
              </a:solidFill>
            </a:ln>
          </p:spPr>
        </p:sp>
        <p:sp>
          <p:nvSpPr>
            <p:cNvPr id="32" name="TextBox 32"/>
            <p:cNvSpPr txBox="1"/>
            <p:nvPr/>
          </p:nvSpPr>
          <p:spPr>
            <a:xfrm>
              <a:off x="3947922" y="3009424"/>
              <a:ext cx="1154332"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강민서 (Go/인프라)</a:t>
              </a:r>
            </a:p>
          </p:txBody>
        </p:sp>
        <p:sp>
          <p:nvSpPr>
            <p:cNvPr id="33" name="TextBox 33"/>
            <p:cNvSpPr txBox="1"/>
            <p:nvPr/>
          </p:nvSpPr>
          <p:spPr>
            <a:xfrm>
              <a:off x="3947922" y="3161824"/>
              <a:ext cx="1439342"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상보성 96% 매칭 파트너</a:t>
              </a:r>
            </a:p>
          </p:txBody>
        </p:sp>
        <p:sp>
          <p:nvSpPr>
            <p:cNvPr id="34" name="Rectangle 34"/>
            <p:cNvSpPr/>
            <p:nvPr/>
          </p:nvSpPr>
          <p:spPr>
            <a:xfrm>
              <a:off x="3819525" y="3429000"/>
              <a:ext cx="1809750" cy="428625"/>
            </a:xfrm>
            <a:prstGeom prst="roundRect">
              <a:avLst>
                <a:gd name="adj" fmla="val 8889"/>
              </a:avLst>
            </a:prstGeom>
            <a:solidFill>
              <a:srgbClr val="0F172A"/>
            </a:solidFill>
            <a:ln>
              <a:noFill/>
            </a:ln>
          </p:spPr>
        </p:sp>
        <p:sp>
          <p:nvSpPr>
            <p:cNvPr id="35" name="TextBox 35"/>
            <p:cNvSpPr txBox="1"/>
            <p:nvPr/>
          </p:nvSpPr>
          <p:spPr>
            <a:xfrm>
              <a:off x="3947922" y="3504724"/>
              <a:ext cx="1106591" cy="190690"/>
            </a:xfrm>
            <a:prstGeom prst="rect">
              <a:avLst/>
            </a:prstGeom>
            <a:noFill/>
            <a:ln>
              <a:noFill/>
            </a:ln>
          </p:spPr>
          <p:txBody>
            <a:bodyPr wrap="none" lIns="0" tIns="0" rIns="0" bIns="0" anchor="t" anchorCtr="0">
              <a:spAutoFit/>
            </a:bodyPr>
            <a:lstStyle/>
            <a:p>
              <a:pPr algn="l"/>
              <a:r>
                <a:rPr lang="ko-KR" sz="980" b="1" dirty="0">
                  <a:solidFill>
                    <a:schemeClr val="dk1"/>
                  </a:solidFill>
                  <a:latin typeface="+mn-lt"/>
                  <a:ea typeface="+mn-ea"/>
                  <a:cs typeface="+mn-cs"/>
                </a:rPr>
                <a:t>박준영 (프론트/UI)</a:t>
              </a:r>
            </a:p>
          </p:txBody>
        </p:sp>
        <p:sp>
          <p:nvSpPr>
            <p:cNvPr id="36" name="TextBox 36"/>
            <p:cNvSpPr txBox="1"/>
            <p:nvPr/>
          </p:nvSpPr>
          <p:spPr>
            <a:xfrm>
              <a:off x="3947922" y="3657124"/>
              <a:ext cx="1439342"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상보성 84% 매칭 파트너</a:t>
              </a:r>
            </a:p>
          </p:txBody>
        </p:sp>
        <p:sp>
          <p:nvSpPr>
            <p:cNvPr id="37" name="TextBox 37"/>
            <p:cNvSpPr txBox="1"/>
            <p:nvPr/>
          </p:nvSpPr>
          <p:spPr>
            <a:xfrm>
              <a:off x="3671697" y="4609624"/>
              <a:ext cx="1439130" cy="190690"/>
            </a:xfrm>
            <a:prstGeom prst="rect">
              <a:avLst/>
            </a:prstGeom>
            <a:noFill/>
            <a:ln>
              <a:noFill/>
            </a:ln>
          </p:spPr>
          <p:txBody>
            <a:bodyPr wrap="none" lIns="0" tIns="0" rIns="0" bIns="0" anchor="t" anchorCtr="0">
              <a:spAutoFit/>
            </a:bodyPr>
            <a:lstStyle/>
            <a:p>
              <a:pPr algn="l"/>
              <a:r>
                <a:rPr lang="ko-KR" sz="980" b="1" dirty="0">
                  <a:solidFill>
                    <a:schemeClr val="dk1"/>
                  </a:solidFill>
                  <a:latin typeface="+mn-lt"/>
                  <a:ea typeface="+mn-ea"/>
                  <a:cs typeface="+mn-cs"/>
                </a:rPr>
                <a:t>실시간 상보성 순위 정렬</a:t>
              </a:r>
            </a:p>
          </p:txBody>
        </p:sp>
        <p:sp>
          <p:nvSpPr>
            <p:cNvPr id="38" name="TextBox 38"/>
            <p:cNvSpPr txBox="1"/>
            <p:nvPr/>
          </p:nvSpPr>
          <p:spPr>
            <a:xfrm>
              <a:off x="3671697" y="4847749"/>
              <a:ext cx="177628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내 고민 해결자 상단 자동 배치</a:t>
              </a:r>
            </a:p>
          </p:txBody>
        </p:sp>
        <p:sp>
          <p:nvSpPr>
            <p:cNvPr id="39" name="TextBox 39"/>
            <p:cNvSpPr txBox="1"/>
            <p:nvPr/>
          </p:nvSpPr>
          <p:spPr>
            <a:xfrm>
              <a:off x="3671697" y="5085874"/>
              <a:ext cx="1190104"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현장 접점 37건 생성</a:t>
              </a:r>
            </a:p>
          </p:txBody>
        </p:sp>
        <p:sp>
          <p:nvSpPr>
            <p:cNvPr id="40" name="Rectangle 40"/>
            <p:cNvSpPr/>
            <p:nvPr/>
          </p:nvSpPr>
          <p:spPr>
            <a:xfrm>
              <a:off x="6219825" y="1619250"/>
              <a:ext cx="2476500" cy="3905250"/>
            </a:xfrm>
            <a:prstGeom prst="roundRect">
              <a:avLst>
                <a:gd name="adj" fmla="val 5385"/>
              </a:avLst>
            </a:prstGeom>
            <a:solidFill>
              <a:schemeClr val="accent5"/>
            </a:solidFill>
            <a:ln w="14288">
              <a:solidFill>
                <a:srgbClr val="1F2937"/>
              </a:solidFill>
            </a:ln>
          </p:spPr>
        </p:sp>
        <p:sp>
          <p:nvSpPr>
            <p:cNvPr id="41" name="Rectangle 41"/>
            <p:cNvSpPr/>
            <p:nvPr/>
          </p:nvSpPr>
          <p:spPr>
            <a:xfrm>
              <a:off x="6219825" y="1619250"/>
              <a:ext cx="2476500" cy="38100"/>
            </a:xfrm>
            <a:prstGeom prst="roundRect">
              <a:avLst>
                <a:gd name="adj" fmla="val 50000"/>
              </a:avLst>
            </a:prstGeom>
            <a:solidFill>
              <a:schemeClr val="accent3"/>
            </a:solidFill>
            <a:ln>
              <a:noFill/>
            </a:ln>
          </p:spPr>
        </p:sp>
        <p:sp>
          <p:nvSpPr>
            <p:cNvPr id="42" name="TextBox 42"/>
            <p:cNvSpPr txBox="1"/>
            <p:nvPr/>
          </p:nvSpPr>
          <p:spPr>
            <a:xfrm>
              <a:off x="6405372" y="1847374"/>
              <a:ext cx="1317802"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STEP 3 · 감지 (1.5초)</a:t>
              </a:r>
            </a:p>
          </p:txBody>
        </p:sp>
        <p:sp>
          <p:nvSpPr>
            <p:cNvPr id="43" name="TextBox 43"/>
            <p:cNvSpPr txBox="1"/>
            <p:nvPr/>
          </p:nvSpPr>
          <p:spPr>
            <a:xfrm>
              <a:off x="6402705" y="2076450"/>
              <a:ext cx="1877762"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1.5초 접점 대화 시트</a:t>
              </a:r>
            </a:p>
          </p:txBody>
        </p:sp>
        <p:sp>
          <p:nvSpPr>
            <p:cNvPr id="44" name="Rectangle 44"/>
            <p:cNvSpPr/>
            <p:nvPr/>
          </p:nvSpPr>
          <p:spPr>
            <a:xfrm>
              <a:off x="6410325" y="2428875"/>
              <a:ext cx="2095500" cy="2000250"/>
            </a:xfrm>
            <a:prstGeom prst="roundRect">
              <a:avLst>
                <a:gd name="adj" fmla="val 3810"/>
              </a:avLst>
            </a:prstGeom>
            <a:solidFill>
              <a:srgbClr val="1E293B"/>
            </a:solidFill>
            <a:ln w="11430">
              <a:solidFill>
                <a:schemeClr val="accent3"/>
              </a:solidFill>
            </a:ln>
          </p:spPr>
        </p:sp>
        <p:sp>
          <p:nvSpPr>
            <p:cNvPr id="45" name="Rectangle 45"/>
            <p:cNvSpPr/>
            <p:nvPr/>
          </p:nvSpPr>
          <p:spPr>
            <a:xfrm>
              <a:off x="6553200" y="2571750"/>
              <a:ext cx="1809750" cy="228600"/>
            </a:xfrm>
            <a:prstGeom prst="roundRect">
              <a:avLst>
                <a:gd name="adj" fmla="val 16667"/>
              </a:avLst>
            </a:prstGeom>
            <a:solidFill>
              <a:srgbClr val="241B35"/>
            </a:solidFill>
            <a:ln>
              <a:noFill/>
            </a:ln>
          </p:spPr>
        </p:sp>
        <p:sp>
          <p:nvSpPr>
            <p:cNvPr id="46" name="TextBox 46"/>
            <p:cNvSpPr txBox="1"/>
            <p:nvPr/>
          </p:nvSpPr>
          <p:spPr>
            <a:xfrm>
              <a:off x="6797468" y="2618899"/>
              <a:ext cx="1321214" cy="190690"/>
            </a:xfrm>
            <a:prstGeom prst="rect">
              <a:avLst/>
            </a:prstGeom>
            <a:noFill/>
            <a:ln>
              <a:noFill/>
            </a:ln>
          </p:spPr>
          <p:txBody>
            <a:bodyPr wrap="none" lIns="0" tIns="0" rIns="0" bIns="0" anchor="t" anchorCtr="0">
              <a:spAutoFit/>
            </a:bodyPr>
            <a:lstStyle/>
            <a:p>
              <a:pPr algn="ctr"/>
              <a:r>
                <a:rPr lang="ko-KR" sz="980" b="1" dirty="0">
                  <a:solidFill>
                    <a:schemeClr val="accent3"/>
                  </a:solidFill>
                  <a:latin typeface="+mn-lt"/>
                  <a:ea typeface="+mn-ea"/>
                  <a:cs typeface="+mn-cs"/>
                </a:rPr>
                <a:t>⚡ 5m 이내 조우 감지!</a:t>
              </a:r>
            </a:p>
          </p:txBody>
        </p:sp>
        <p:sp>
          <p:nvSpPr>
            <p:cNvPr id="47" name="TextBox 47"/>
            <p:cNvSpPr txBox="1"/>
            <p:nvPr/>
          </p:nvSpPr>
          <p:spPr>
            <a:xfrm>
              <a:off x="6548247" y="2923699"/>
              <a:ext cx="1402481" cy="190690"/>
            </a:xfrm>
            <a:prstGeom prst="rect">
              <a:avLst/>
            </a:prstGeom>
            <a:noFill/>
            <a:ln>
              <a:noFill/>
            </a:ln>
          </p:spPr>
          <p:txBody>
            <a:bodyPr wrap="none" lIns="0" tIns="0" rIns="0" bIns="0" anchor="t" anchorCtr="0">
              <a:spAutoFit/>
            </a:bodyPr>
            <a:lstStyle/>
            <a:p>
              <a:pPr algn="l"/>
              <a:r>
                <a:rPr lang="ko-KR" sz="980" b="1" dirty="0">
                  <a:solidFill>
                    <a:srgbClr val="FFFFFF"/>
                  </a:solidFill>
                  <a:latin typeface="+mn-lt"/>
                  <a:ea typeface="+mn-ea"/>
                  <a:cs typeface="+mn-cs"/>
                </a:rPr>
                <a:t>민서 님과 마주쳤습니다</a:t>
              </a:r>
            </a:p>
          </p:txBody>
        </p:sp>
        <p:sp>
          <p:nvSpPr>
            <p:cNvPr id="48" name="Rectangle 48"/>
            <p:cNvSpPr/>
            <p:nvPr/>
          </p:nvSpPr>
          <p:spPr>
            <a:xfrm>
              <a:off x="6553200" y="3143250"/>
              <a:ext cx="1809750" cy="523875"/>
            </a:xfrm>
            <a:prstGeom prst="roundRect">
              <a:avLst>
                <a:gd name="adj" fmla="val 7273"/>
              </a:avLst>
            </a:prstGeom>
            <a:solidFill>
              <a:srgbClr val="0F172A"/>
            </a:solidFill>
            <a:ln>
              <a:noFill/>
            </a:ln>
          </p:spPr>
        </p:sp>
        <p:sp>
          <p:nvSpPr>
            <p:cNvPr id="49" name="TextBox 49"/>
            <p:cNvSpPr txBox="1"/>
            <p:nvPr/>
          </p:nvSpPr>
          <p:spPr>
            <a:xfrm>
              <a:off x="6643497" y="3228499"/>
              <a:ext cx="1394381"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 추천 대화 시작 멘트:</a:t>
              </a:r>
            </a:p>
          </p:txBody>
        </p:sp>
        <p:sp>
          <p:nvSpPr>
            <p:cNvPr id="50" name="TextBox 50"/>
            <p:cNvSpPr txBox="1"/>
            <p:nvPr/>
          </p:nvSpPr>
          <p:spPr>
            <a:xfrm>
              <a:off x="6643497" y="3438049"/>
              <a:ext cx="1510820"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"소켓 이벤트 루프 고민..."</a:t>
              </a:r>
            </a:p>
          </p:txBody>
        </p:sp>
        <p:sp>
          <p:nvSpPr>
            <p:cNvPr id="51" name="Rectangle 51"/>
            <p:cNvSpPr/>
            <p:nvPr/>
          </p:nvSpPr>
          <p:spPr>
            <a:xfrm>
              <a:off x="6553200" y="3857625"/>
              <a:ext cx="1809750" cy="323850"/>
            </a:xfrm>
            <a:prstGeom prst="roundRect">
              <a:avLst>
                <a:gd name="adj" fmla="val 17647"/>
              </a:avLst>
            </a:prstGeom>
            <a:solidFill>
              <a:schemeClr val="accent3"/>
            </a:solidFill>
            <a:ln>
              <a:noFill/>
            </a:ln>
          </p:spPr>
        </p:sp>
        <p:sp>
          <p:nvSpPr>
            <p:cNvPr id="52" name="TextBox 52"/>
            <p:cNvSpPr txBox="1"/>
            <p:nvPr/>
          </p:nvSpPr>
          <p:spPr>
            <a:xfrm>
              <a:off x="6826505" y="3961924"/>
              <a:ext cx="1263139" cy="190690"/>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인사 건네기 (핑 전송)</a:t>
              </a:r>
            </a:p>
          </p:txBody>
        </p:sp>
        <p:sp>
          <p:nvSpPr>
            <p:cNvPr id="53" name="TextBox 53"/>
            <p:cNvSpPr txBox="1"/>
            <p:nvPr/>
          </p:nvSpPr>
          <p:spPr>
            <a:xfrm>
              <a:off x="6405372" y="4609624"/>
              <a:ext cx="1439130" cy="190690"/>
            </a:xfrm>
            <a:prstGeom prst="rect">
              <a:avLst/>
            </a:prstGeom>
            <a:noFill/>
            <a:ln>
              <a:noFill/>
            </a:ln>
          </p:spPr>
          <p:txBody>
            <a:bodyPr wrap="none" lIns="0" tIns="0" rIns="0" bIns="0" anchor="t" anchorCtr="0">
              <a:spAutoFit/>
            </a:bodyPr>
            <a:lstStyle/>
            <a:p>
              <a:pPr algn="l"/>
              <a:r>
                <a:rPr lang="ko-KR" sz="980" b="1" dirty="0">
                  <a:solidFill>
                    <a:schemeClr val="dk1"/>
                  </a:solidFill>
                  <a:latin typeface="+mn-lt"/>
                  <a:ea typeface="+mn-ea"/>
                  <a:cs typeface="+mn-cs"/>
                </a:rPr>
                <a:t>첫마디 어색함 완벽 제거</a:t>
              </a:r>
            </a:p>
          </p:txBody>
        </p:sp>
        <p:sp>
          <p:nvSpPr>
            <p:cNvPr id="54" name="TextBox 54"/>
            <p:cNvSpPr txBox="1"/>
            <p:nvPr/>
          </p:nvSpPr>
          <p:spPr>
            <a:xfrm>
              <a:off x="6405372" y="4847749"/>
              <a:ext cx="1702986"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상대방의 관심사와 즉시 연결</a:t>
              </a:r>
            </a:p>
          </p:txBody>
        </p:sp>
        <p:sp>
          <p:nvSpPr>
            <p:cNvPr id="55" name="TextBox 55"/>
            <p:cNvSpPr txBox="1"/>
            <p:nvPr/>
          </p:nvSpPr>
          <p:spPr>
            <a:xfrm>
              <a:off x="6405372" y="5085874"/>
              <a:ext cx="1116937"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대화 성사율 64.8%</a:t>
              </a:r>
            </a:p>
          </p:txBody>
        </p:sp>
        <p:sp>
          <p:nvSpPr>
            <p:cNvPr id="56" name="Rectangle 56"/>
            <p:cNvSpPr/>
            <p:nvPr/>
          </p:nvSpPr>
          <p:spPr>
            <a:xfrm>
              <a:off x="8953500" y="1619250"/>
              <a:ext cx="2476500" cy="3905250"/>
            </a:xfrm>
            <a:prstGeom prst="roundRect">
              <a:avLst>
                <a:gd name="adj" fmla="val 5385"/>
              </a:avLst>
            </a:prstGeom>
            <a:solidFill>
              <a:schemeClr val="accent5"/>
            </a:solidFill>
            <a:ln w="14288">
              <a:solidFill>
                <a:srgbClr val="1F2937"/>
              </a:solidFill>
            </a:ln>
          </p:spPr>
        </p:sp>
        <p:sp>
          <p:nvSpPr>
            <p:cNvPr id="57" name="Rectangle 57"/>
            <p:cNvSpPr/>
            <p:nvPr/>
          </p:nvSpPr>
          <p:spPr>
            <a:xfrm>
              <a:off x="8953500" y="1619250"/>
              <a:ext cx="2476500" cy="38100"/>
            </a:xfrm>
            <a:prstGeom prst="roundRect">
              <a:avLst>
                <a:gd name="adj" fmla="val 50000"/>
              </a:avLst>
            </a:prstGeom>
            <a:solidFill>
              <a:schemeClr val="accent1"/>
            </a:solidFill>
            <a:ln>
              <a:noFill/>
            </a:ln>
          </p:spPr>
        </p:sp>
        <p:sp>
          <p:nvSpPr>
            <p:cNvPr id="58" name="TextBox 58"/>
            <p:cNvSpPr txBox="1"/>
            <p:nvPr/>
          </p:nvSpPr>
          <p:spPr>
            <a:xfrm>
              <a:off x="9139047" y="1847374"/>
              <a:ext cx="1273002"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STEP 4 · 연결 (P2P)</a:t>
              </a:r>
            </a:p>
          </p:txBody>
        </p:sp>
        <p:sp>
          <p:nvSpPr>
            <p:cNvPr id="59" name="TextBox 59"/>
            <p:cNvSpPr txBox="1"/>
            <p:nvPr/>
          </p:nvSpPr>
          <p:spPr>
            <a:xfrm>
              <a:off x="9136380" y="2076450"/>
              <a:ext cx="1566978"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BLE 로컬 레이더</a:t>
              </a:r>
            </a:p>
          </p:txBody>
        </p:sp>
        <p:sp>
          <p:nvSpPr>
            <p:cNvPr id="60" name="Rectangle 60"/>
            <p:cNvSpPr/>
            <p:nvPr/>
          </p:nvSpPr>
          <p:spPr>
            <a:xfrm>
              <a:off x="9144000" y="2428875"/>
              <a:ext cx="2095500" cy="2000250"/>
            </a:xfrm>
            <a:prstGeom prst="roundRect">
              <a:avLst>
                <a:gd name="adj" fmla="val 3810"/>
              </a:avLst>
            </a:prstGeom>
            <a:solidFill>
              <a:srgbClr val="1E293B"/>
            </a:solidFill>
            <a:ln w="9525">
              <a:solidFill>
                <a:srgbClr val="334155"/>
              </a:solidFill>
            </a:ln>
          </p:spPr>
        </p:sp>
        <p:sp>
          <p:nvSpPr>
            <p:cNvPr id="61" name="Ellipse 61"/>
            <p:cNvSpPr/>
            <p:nvPr/>
          </p:nvSpPr>
          <p:spPr>
            <a:xfrm>
              <a:off x="9620250" y="2667000"/>
              <a:ext cx="1143000" cy="1143000"/>
            </a:xfrm>
            <a:prstGeom prst="ellipse">
              <a:avLst/>
            </a:prstGeom>
            <a:noFill/>
            <a:ln w="14288">
              <a:solidFill>
                <a:srgbClr val="1F4D3C"/>
              </a:solidFill>
            </a:ln>
          </p:spPr>
        </p:sp>
        <p:sp>
          <p:nvSpPr>
            <p:cNvPr id="62" name="Ellipse 62"/>
            <p:cNvSpPr/>
            <p:nvPr/>
          </p:nvSpPr>
          <p:spPr>
            <a:xfrm>
              <a:off x="9810750" y="2857500"/>
              <a:ext cx="762000" cy="762000"/>
            </a:xfrm>
            <a:prstGeom prst="ellipse">
              <a:avLst/>
            </a:prstGeom>
            <a:noFill/>
            <a:ln w="14288">
              <a:solidFill>
                <a:srgbClr val="1F4D3C"/>
              </a:solidFill>
            </a:ln>
          </p:spPr>
        </p:sp>
        <p:sp>
          <p:nvSpPr>
            <p:cNvPr id="63" name="Ellipse 63"/>
            <p:cNvSpPr/>
            <p:nvPr/>
          </p:nvSpPr>
          <p:spPr>
            <a:xfrm>
              <a:off x="10001250" y="3048000"/>
              <a:ext cx="381000" cy="381000"/>
            </a:xfrm>
            <a:prstGeom prst="ellipse">
              <a:avLst/>
            </a:prstGeom>
            <a:noFill/>
            <a:ln w="14288">
              <a:solidFill>
                <a:schemeClr val="accent1"/>
              </a:solidFill>
            </a:ln>
          </p:spPr>
        </p:sp>
        <p:sp>
          <p:nvSpPr>
            <p:cNvPr id="64" name="Ellipse 64"/>
            <p:cNvSpPr/>
            <p:nvPr/>
          </p:nvSpPr>
          <p:spPr>
            <a:xfrm>
              <a:off x="10144125" y="3190875"/>
              <a:ext cx="95250" cy="95250"/>
            </a:xfrm>
            <a:prstGeom prst="ellipse">
              <a:avLst/>
            </a:prstGeom>
            <a:solidFill>
              <a:schemeClr val="accent1"/>
            </a:solidFill>
            <a:ln>
              <a:noFill/>
            </a:ln>
          </p:spPr>
        </p:sp>
        <p:sp>
          <p:nvSpPr>
            <p:cNvPr id="65" name="Ellipse 65"/>
            <p:cNvSpPr/>
            <p:nvPr/>
          </p:nvSpPr>
          <p:spPr>
            <a:xfrm>
              <a:off x="10344150" y="3057525"/>
              <a:ext cx="76200" cy="76200"/>
            </a:xfrm>
            <a:prstGeom prst="ellipse">
              <a:avLst/>
            </a:prstGeom>
            <a:solidFill>
              <a:schemeClr val="accent2"/>
            </a:solidFill>
            <a:ln>
              <a:noFill/>
            </a:ln>
          </p:spPr>
        </p:sp>
        <p:sp>
          <p:nvSpPr>
            <p:cNvPr id="66" name="TextBox 66"/>
            <p:cNvSpPr txBox="1"/>
            <p:nvPr/>
          </p:nvSpPr>
          <p:spPr>
            <a:xfrm>
              <a:off x="10453497" y="3018949"/>
              <a:ext cx="698990"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민서 (3.2m)</a:t>
              </a:r>
            </a:p>
          </p:txBody>
        </p:sp>
        <p:sp>
          <p:nvSpPr>
            <p:cNvPr id="67" name="Ellipse 67"/>
            <p:cNvSpPr/>
            <p:nvPr/>
          </p:nvSpPr>
          <p:spPr>
            <a:xfrm>
              <a:off x="9915525" y="3438525"/>
              <a:ext cx="76200" cy="76200"/>
            </a:xfrm>
            <a:prstGeom prst="ellipse">
              <a:avLst/>
            </a:prstGeom>
            <a:solidFill>
              <a:schemeClr val="accent3"/>
            </a:solidFill>
            <a:ln>
              <a:noFill/>
            </a:ln>
          </p:spPr>
        </p:sp>
        <p:sp>
          <p:nvSpPr>
            <p:cNvPr id="68" name="TextBox 68"/>
            <p:cNvSpPr txBox="1"/>
            <p:nvPr/>
          </p:nvSpPr>
          <p:spPr>
            <a:xfrm>
              <a:off x="9615297" y="3514249"/>
              <a:ext cx="691576" cy="190690"/>
            </a:xfrm>
            <a:prstGeom prst="rect">
              <a:avLst/>
            </a:prstGeom>
            <a:noFill/>
            <a:ln>
              <a:noFill/>
            </a:ln>
          </p:spPr>
          <p:txBody>
            <a:bodyPr wrap="none" lIns="0" tIns="0" rIns="0" bIns="0" anchor="t" anchorCtr="0">
              <a:spAutoFit/>
            </a:bodyPr>
            <a:lstStyle/>
            <a:p>
              <a:pPr algn="l"/>
              <a:r>
                <a:rPr lang="ko-KR" sz="980" dirty="0">
                  <a:solidFill>
                    <a:schemeClr val="accent3"/>
                  </a:solidFill>
                  <a:latin typeface="+mn-lt"/>
                  <a:ea typeface="+mn-ea"/>
                  <a:cs typeface="+mn-cs"/>
                </a:rPr>
                <a:t>준영 (4.8m)</a:t>
              </a:r>
            </a:p>
          </p:txBody>
        </p:sp>
        <p:sp>
          <p:nvSpPr>
            <p:cNvPr id="69" name="TextBox 69"/>
            <p:cNvSpPr txBox="1"/>
            <p:nvPr/>
          </p:nvSpPr>
          <p:spPr>
            <a:xfrm>
              <a:off x="9508768" y="4133374"/>
              <a:ext cx="1365963" cy="190690"/>
            </a:xfrm>
            <a:prstGeom prst="rect">
              <a:avLst/>
            </a:prstGeom>
            <a:noFill/>
            <a:ln>
              <a:noFill/>
            </a:ln>
          </p:spPr>
          <p:txBody>
            <a:bodyPr wrap="none" lIns="0" tIns="0" rIns="0" bIns="0" anchor="t" anchorCtr="0">
              <a:spAutoFit/>
            </a:bodyPr>
            <a:lstStyle/>
            <a:p>
              <a:pPr algn="ctr"/>
              <a:r>
                <a:rPr lang="ko-KR" sz="980" b="1" dirty="0">
                  <a:solidFill>
                    <a:schemeClr val="accent1"/>
                  </a:solidFill>
                  <a:latin typeface="+mn-lt"/>
                  <a:ea typeface="+mn-ea"/>
                  <a:cs typeface="+mn-cs"/>
                </a:rPr>
                <a:t>5m 반경 레이더 활성화</a:t>
              </a:r>
            </a:p>
          </p:txBody>
        </p:sp>
        <p:sp>
          <p:nvSpPr>
            <p:cNvPr id="70" name="TextBox 70"/>
            <p:cNvSpPr txBox="1"/>
            <p:nvPr/>
          </p:nvSpPr>
          <p:spPr>
            <a:xfrm>
              <a:off x="9139047" y="4609624"/>
              <a:ext cx="1640135" cy="190690"/>
            </a:xfrm>
            <a:prstGeom prst="rect">
              <a:avLst/>
            </a:prstGeom>
            <a:noFill/>
            <a:ln>
              <a:noFill/>
            </a:ln>
          </p:spPr>
          <p:txBody>
            <a:bodyPr wrap="none" lIns="0" tIns="0" rIns="0" bIns="0" anchor="t" anchorCtr="0">
              <a:spAutoFit/>
            </a:bodyPr>
            <a:lstStyle/>
            <a:p>
              <a:pPr algn="l"/>
              <a:r>
                <a:rPr lang="ko-KR" sz="980" b="1" dirty="0">
                  <a:solidFill>
                    <a:schemeClr val="dk1"/>
                  </a:solidFill>
                  <a:latin typeface="+mn-lt"/>
                  <a:ea typeface="+mn-ea"/>
                  <a:cs typeface="+mn-cs"/>
                </a:rPr>
                <a:t>Web Bluetooth / BLE 비콘</a:t>
              </a:r>
            </a:p>
          </p:txBody>
        </p:sp>
        <p:sp>
          <p:nvSpPr>
            <p:cNvPr id="71" name="TextBox 71"/>
            <p:cNvSpPr txBox="1"/>
            <p:nvPr/>
          </p:nvSpPr>
          <p:spPr>
            <a:xfrm>
              <a:off x="9139047" y="4847749"/>
              <a:ext cx="1666468"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배터리 소모 2% 미만 최적화</a:t>
              </a:r>
            </a:p>
          </p:txBody>
        </p:sp>
        <p:sp>
          <p:nvSpPr>
            <p:cNvPr id="72" name="TextBox 72"/>
            <p:cNvSpPr txBox="1"/>
            <p:nvPr/>
          </p:nvSpPr>
          <p:spPr>
            <a:xfrm>
              <a:off x="9139047" y="5085874"/>
              <a:ext cx="1539348"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위치 추적 없는 로컬 RSSI</a:t>
              </a:r>
            </a:p>
          </p:txBody>
        </p:sp>
      </p:grpSp>
      <p:grpSp>
        <p:nvGrpSpPr>
          <p:cNvPr id="77" name="bottom-summary-bar"/>
          <p:cNvGrpSpPr/>
          <p:nvPr/>
        </p:nvGrpSpPr>
        <p:grpSpPr>
          <a:xfrm>
            <a:off x="762000" y="5762625"/>
            <a:ext cx="10668000" cy="552450"/>
            <a:chOff x="762000" y="5762625"/>
            <a:chExt cx="10668000" cy="552450"/>
          </a:xfrm>
        </p:grpSpPr>
        <p:sp>
          <p:nvSpPr>
            <p:cNvPr id="74" name="Rectangle 74"/>
            <p:cNvSpPr/>
            <p:nvPr/>
          </p:nvSpPr>
          <p:spPr>
            <a:xfrm>
              <a:off x="762000" y="5762625"/>
              <a:ext cx="10668000" cy="552450"/>
            </a:xfrm>
            <a:prstGeom prst="roundRect">
              <a:avLst>
                <a:gd name="adj" fmla="val 17241"/>
              </a:avLst>
            </a:prstGeom>
            <a:solidFill>
              <a:srgbClr val="131B2E"/>
            </a:solidFill>
            <a:ln w="9525">
              <a:solidFill>
                <a:schemeClr val="accent2"/>
              </a:solidFill>
            </a:ln>
          </p:spPr>
        </p:sp>
        <p:sp>
          <p:nvSpPr>
            <p:cNvPr id="75" name="Ellipse 75"/>
            <p:cNvSpPr/>
            <p:nvPr/>
          </p:nvSpPr>
          <p:spPr>
            <a:xfrm>
              <a:off x="981075" y="5972175"/>
              <a:ext cx="133350" cy="133350"/>
            </a:xfrm>
            <a:prstGeom prst="ellipse">
              <a:avLst/>
            </a:prstGeom>
            <a:solidFill>
              <a:schemeClr val="accent2"/>
            </a:solidFill>
            <a:ln>
              <a:noFill/>
            </a:ln>
          </p:spPr>
        </p:sp>
        <p:sp>
          <p:nvSpPr>
            <p:cNvPr id="76" name="TextBox 76"/>
            <p:cNvSpPr txBox="1"/>
            <p:nvPr/>
          </p:nvSpPr>
          <p:spPr>
            <a:xfrm>
              <a:off x="1232154" y="5956935"/>
              <a:ext cx="648053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UX 핵심: 앱 다운로드 없음 · 개인정보 수집 없음 · 5m 내 마주칠 때만 1.5초 대화 힌트 제공</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8498827" cy="962406"/>
            <a:chOff x="749808" y="428625"/>
            <a:chExt cx="8498827" cy="962406"/>
          </a:xfrm>
        </p:grpSpPr>
        <p:sp>
          <p:nvSpPr>
            <p:cNvPr id="2" name="Rectangle 2"/>
            <p:cNvSpPr/>
            <p:nvPr/>
          </p:nvSpPr>
          <p:spPr>
            <a:xfrm>
              <a:off x="762000" y="428625"/>
              <a:ext cx="2286000" cy="247650"/>
            </a:xfrm>
            <a:prstGeom prst="roundRect">
              <a:avLst>
                <a:gd name="adj" fmla="val 50000"/>
              </a:avLst>
            </a:prstGeom>
            <a:solidFill>
              <a:schemeClr val="accent5"/>
            </a:solidFill>
            <a:ln w="11430">
              <a:solidFill>
                <a:schemeClr val="accent1"/>
              </a:solidFill>
            </a:ln>
          </p:spPr>
        </p:sp>
        <p:sp>
          <p:nvSpPr>
            <p:cNvPr id="3" name="TextBox 3"/>
            <p:cNvSpPr txBox="1"/>
            <p:nvPr/>
          </p:nvSpPr>
          <p:spPr>
            <a:xfrm>
              <a:off x="909447" y="485299"/>
              <a:ext cx="2644744" cy="190690"/>
            </a:xfrm>
            <a:prstGeom prst="rect">
              <a:avLst/>
            </a:prstGeom>
            <a:noFill/>
            <a:ln>
              <a:noFill/>
            </a:ln>
          </p:spPr>
          <p:txBody>
            <a:bodyPr wrap="none" lIns="0" tIns="0" rIns="0" bIns="0" anchor="t" anchorCtr="0">
              <a:spAutoFit/>
            </a:bodyPr>
            <a:lstStyle/>
            <a:p>
              <a:pPr algn="l"/>
              <a:r>
                <a:rPr lang="en-US" sz="980" b="1" spc="75" dirty="0">
                  <a:solidFill>
                    <a:schemeClr val="accent1"/>
                  </a:solidFill>
                  <a:latin typeface="+mn-lt"/>
                  <a:ea typeface="+mn-ea"/>
                  <a:cs typeface="+mn-cs"/>
                </a:rPr>
                <a:t>05. ENGINEERING ARCHITECTURE</a:t>
              </a:r>
            </a:p>
          </p:txBody>
        </p:sp>
        <p:sp>
          <p:nvSpPr>
            <p:cNvPr id="4" name="TextBox 4"/>
            <p:cNvSpPr txBox="1"/>
            <p:nvPr/>
          </p:nvSpPr>
          <p:spPr>
            <a:xfrm>
              <a:off x="749808" y="741045"/>
              <a:ext cx="8498827"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프라이버시 우선, 가벼운 로컬 BLE &amp; In-Memory 아키텍처</a:t>
              </a:r>
            </a:p>
          </p:txBody>
        </p:sp>
        <p:sp>
          <p:nvSpPr>
            <p:cNvPr id="5" name="TextBox 5"/>
            <p:cNvSpPr txBox="1"/>
            <p:nvPr/>
          </p:nvSpPr>
          <p:spPr>
            <a:xfrm>
              <a:off x="755904" y="1156335"/>
              <a:ext cx="6345468"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GPS 위치 추적과 영구 DB 저장을 완전히 배제한 제로 리텐션(Zero-Retention) 기술 설계</a:t>
              </a:r>
            </a:p>
          </p:txBody>
        </p:sp>
      </p:grpSp>
      <p:grpSp>
        <p:nvGrpSpPr>
          <p:cNvPr id="41" name="architecture-panels"/>
          <p:cNvGrpSpPr/>
          <p:nvPr/>
        </p:nvGrpSpPr>
        <p:grpSpPr>
          <a:xfrm>
            <a:off x="762000" y="1571625"/>
            <a:ext cx="10668000" cy="4000500"/>
            <a:chOff x="762000" y="1571625"/>
            <a:chExt cx="10668000" cy="4000500"/>
          </a:xfrm>
        </p:grpSpPr>
        <p:sp>
          <p:nvSpPr>
            <p:cNvPr id="7" name="Rectangle 7"/>
            <p:cNvSpPr/>
            <p:nvPr/>
          </p:nvSpPr>
          <p:spPr>
            <a:xfrm>
              <a:off x="762000" y="1571625"/>
              <a:ext cx="5143500" cy="4000500"/>
            </a:xfrm>
            <a:prstGeom prst="roundRect">
              <a:avLst>
                <a:gd name="adj" fmla="val 3333"/>
              </a:avLst>
            </a:prstGeom>
            <a:solidFill>
              <a:schemeClr val="accent5"/>
            </a:solidFill>
            <a:ln w="14288">
              <a:solidFill>
                <a:srgbClr val="1F2937"/>
              </a:solidFill>
            </a:ln>
          </p:spPr>
        </p:sp>
        <p:sp>
          <p:nvSpPr>
            <p:cNvPr id="8" name="Rectangle 8"/>
            <p:cNvSpPr/>
            <p:nvPr/>
          </p:nvSpPr>
          <p:spPr>
            <a:xfrm>
              <a:off x="762000" y="1571625"/>
              <a:ext cx="5143500" cy="47625"/>
            </a:xfrm>
            <a:prstGeom prst="roundRect">
              <a:avLst>
                <a:gd name="adj" fmla="val 50000"/>
              </a:avLst>
            </a:prstGeom>
            <a:solidFill>
              <a:schemeClr val="accent2"/>
            </a:solidFill>
            <a:ln>
              <a:noFill/>
            </a:ln>
          </p:spPr>
        </p:sp>
        <p:sp>
          <p:nvSpPr>
            <p:cNvPr id="9" name="Rectangle 9"/>
            <p:cNvSpPr/>
            <p:nvPr/>
          </p:nvSpPr>
          <p:spPr>
            <a:xfrm>
              <a:off x="1047750" y="1857375"/>
              <a:ext cx="1714500" cy="266700"/>
            </a:xfrm>
            <a:prstGeom prst="roundRect">
              <a:avLst>
                <a:gd name="adj" fmla="val 21429"/>
              </a:avLst>
            </a:prstGeom>
            <a:solidFill>
              <a:srgbClr val="1E293B"/>
            </a:solidFill>
            <a:ln>
              <a:noFill/>
            </a:ln>
          </p:spPr>
        </p:sp>
        <p:sp>
          <p:nvSpPr>
            <p:cNvPr id="10" name="TextBox 10"/>
            <p:cNvSpPr txBox="1"/>
            <p:nvPr/>
          </p:nvSpPr>
          <p:spPr>
            <a:xfrm>
              <a:off x="1185672" y="1933099"/>
              <a:ext cx="1318771"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CLIENT-SIDE EDGE</a:t>
              </a:r>
            </a:p>
          </p:txBody>
        </p:sp>
        <p:sp>
          <p:nvSpPr>
            <p:cNvPr id="11" name="TextBox 11"/>
            <p:cNvSpPr txBox="1"/>
            <p:nvPr/>
          </p:nvSpPr>
          <p:spPr>
            <a:xfrm>
              <a:off x="1039368" y="2250758"/>
              <a:ext cx="293747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Web Bluetooth &amp; PWA 엔진</a:t>
              </a:r>
            </a:p>
          </p:txBody>
        </p:sp>
        <p:sp>
          <p:nvSpPr>
            <p:cNvPr id="12" name="Rectangle 12"/>
            <p:cNvSpPr/>
            <p:nvPr/>
          </p:nvSpPr>
          <p:spPr>
            <a:xfrm>
              <a:off x="1047750" y="2619375"/>
              <a:ext cx="4572000" cy="571500"/>
            </a:xfrm>
            <a:prstGeom prst="roundRect">
              <a:avLst>
                <a:gd name="adj" fmla="val 13333"/>
              </a:avLst>
            </a:prstGeom>
            <a:solidFill>
              <a:srgbClr val="1E293B"/>
            </a:solidFill>
            <a:ln w="9525">
              <a:solidFill>
                <a:srgbClr val="2D3748"/>
              </a:solidFill>
            </a:ln>
          </p:spPr>
        </p:sp>
        <p:sp>
          <p:nvSpPr>
            <p:cNvPr id="13" name="TextBox 13"/>
            <p:cNvSpPr txBox="1"/>
            <p:nvPr/>
          </p:nvSpPr>
          <p:spPr>
            <a:xfrm>
              <a:off x="1232154" y="2727960"/>
              <a:ext cx="2376356"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Web Bluetooth / BLE 비콘 감지</a:t>
              </a:r>
            </a:p>
          </p:txBody>
        </p:sp>
        <p:sp>
          <p:nvSpPr>
            <p:cNvPr id="14" name="TextBox 14"/>
            <p:cNvSpPr txBox="1"/>
            <p:nvPr/>
          </p:nvSpPr>
          <p:spPr>
            <a:xfrm>
              <a:off x="1233297" y="2961799"/>
              <a:ext cx="3285394"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브라우저 네이티브 API로 5m 반경 RSSI 신호 강도 추정</a:t>
              </a:r>
            </a:p>
          </p:txBody>
        </p:sp>
        <p:sp>
          <p:nvSpPr>
            <p:cNvPr id="15" name="Rectangle 15"/>
            <p:cNvSpPr/>
            <p:nvPr/>
          </p:nvSpPr>
          <p:spPr>
            <a:xfrm>
              <a:off x="1047750" y="3286125"/>
              <a:ext cx="4572000" cy="571500"/>
            </a:xfrm>
            <a:prstGeom prst="roundRect">
              <a:avLst>
                <a:gd name="adj" fmla="val 13333"/>
              </a:avLst>
            </a:prstGeom>
            <a:solidFill>
              <a:srgbClr val="1E293B"/>
            </a:solidFill>
            <a:ln w="9525">
              <a:solidFill>
                <a:srgbClr val="2D3748"/>
              </a:solidFill>
            </a:ln>
          </p:spPr>
        </p:sp>
        <p:sp>
          <p:nvSpPr>
            <p:cNvPr id="16" name="TextBox 16"/>
            <p:cNvSpPr txBox="1"/>
            <p:nvPr/>
          </p:nvSpPr>
          <p:spPr>
            <a:xfrm>
              <a:off x="1232154" y="3394710"/>
              <a:ext cx="3085193"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배터리 최적화 듀티 사이클링 (Duty Cycle)</a:t>
              </a:r>
            </a:p>
          </p:txBody>
        </p:sp>
        <p:sp>
          <p:nvSpPr>
            <p:cNvPr id="17" name="TextBox 17"/>
            <p:cNvSpPr txBox="1"/>
            <p:nvPr/>
          </p:nvSpPr>
          <p:spPr>
            <a:xfrm>
              <a:off x="1233297" y="3628549"/>
              <a:ext cx="3521054"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30초 주기 간헐적 스캔으로 1시간 배터리 소모 2% 미만 억제</a:t>
              </a:r>
            </a:p>
          </p:txBody>
        </p:sp>
        <p:sp>
          <p:nvSpPr>
            <p:cNvPr id="18" name="Rectangle 18"/>
            <p:cNvSpPr/>
            <p:nvPr/>
          </p:nvSpPr>
          <p:spPr>
            <a:xfrm>
              <a:off x="1047750" y="3952875"/>
              <a:ext cx="4572000" cy="571500"/>
            </a:xfrm>
            <a:prstGeom prst="roundRect">
              <a:avLst>
                <a:gd name="adj" fmla="val 13333"/>
              </a:avLst>
            </a:prstGeom>
            <a:solidFill>
              <a:srgbClr val="1E293B"/>
            </a:solidFill>
            <a:ln w="9525">
              <a:solidFill>
                <a:srgbClr val="2D3748"/>
              </a:solidFill>
            </a:ln>
          </p:spPr>
        </p:sp>
        <p:sp>
          <p:nvSpPr>
            <p:cNvPr id="19" name="TextBox 19"/>
            <p:cNvSpPr txBox="1"/>
            <p:nvPr/>
          </p:nvSpPr>
          <p:spPr>
            <a:xfrm>
              <a:off x="1232154" y="4061460"/>
              <a:ext cx="2530983"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PWA 오프라인 캐시 &amp; 반응성 보장</a:t>
              </a:r>
            </a:p>
          </p:txBody>
        </p:sp>
        <p:sp>
          <p:nvSpPr>
            <p:cNvPr id="20" name="TextBox 20"/>
            <p:cNvSpPr txBox="1"/>
            <p:nvPr/>
          </p:nvSpPr>
          <p:spPr>
            <a:xfrm>
              <a:off x="1233297" y="4295299"/>
              <a:ext cx="2971203"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행사장 Wi-Fi 음영 지역에서도 즉시 UI 렌더링 유지</a:t>
              </a:r>
            </a:p>
          </p:txBody>
        </p:sp>
        <p:sp>
          <p:nvSpPr>
            <p:cNvPr id="21" name="Rectangle 21"/>
            <p:cNvSpPr/>
            <p:nvPr/>
          </p:nvSpPr>
          <p:spPr>
            <a:xfrm>
              <a:off x="1047750" y="4667250"/>
              <a:ext cx="4572000" cy="714375"/>
            </a:xfrm>
            <a:prstGeom prst="roundRect">
              <a:avLst>
                <a:gd name="adj" fmla="val 10667"/>
              </a:avLst>
            </a:prstGeom>
            <a:solidFill>
              <a:srgbClr val="13202E"/>
            </a:solidFill>
            <a:ln w="9525">
              <a:solidFill>
                <a:srgbClr val="1F3D5C"/>
              </a:solidFill>
            </a:ln>
          </p:spPr>
        </p:sp>
        <p:sp>
          <p:nvSpPr>
            <p:cNvPr id="22" name="TextBox 22"/>
            <p:cNvSpPr txBox="1"/>
            <p:nvPr/>
          </p:nvSpPr>
          <p:spPr>
            <a:xfrm>
              <a:off x="1232535" y="4783931"/>
              <a:ext cx="2171913" cy="220028"/>
            </a:xfrm>
            <a:prstGeom prst="rect">
              <a:avLst/>
            </a:prstGeom>
            <a:noFill/>
            <a:ln>
              <a:noFill/>
            </a:ln>
          </p:spPr>
          <p:txBody>
            <a:bodyPr wrap="none" lIns="0" tIns="0" rIns="0" bIns="0" anchor="t" anchorCtr="0">
              <a:spAutoFit/>
            </a:bodyPr>
            <a:lstStyle/>
            <a:p>
              <a:pPr algn="l"/>
              <a:r>
                <a:rPr lang="ko-KR" sz="1120" b="1" dirty="0">
                  <a:solidFill>
                    <a:schemeClr val="accent2"/>
                  </a:solidFill>
                  <a:latin typeface="+mn-lt"/>
                  <a:ea typeface="+mn-ea"/>
                  <a:cs typeface="+mn-cs"/>
                </a:rPr>
                <a:t>프라이버시 보장 1: GPS 미수집</a:t>
              </a:r>
            </a:p>
          </p:txBody>
        </p:sp>
        <p:sp>
          <p:nvSpPr>
            <p:cNvPr id="23" name="TextBox 23"/>
            <p:cNvSpPr txBox="1"/>
            <p:nvPr/>
          </p:nvSpPr>
          <p:spPr>
            <a:xfrm>
              <a:off x="1233297" y="5019199"/>
              <a:ext cx="4107023"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위치 좌표를 서버에 일체 전송하지 않고 오직 기기 간 근접 여부만 판정</a:t>
              </a:r>
            </a:p>
          </p:txBody>
        </p:sp>
        <p:sp>
          <p:nvSpPr>
            <p:cNvPr id="24" name="Rectangle 24"/>
            <p:cNvSpPr/>
            <p:nvPr/>
          </p:nvSpPr>
          <p:spPr>
            <a:xfrm>
              <a:off x="6286500" y="1571625"/>
              <a:ext cx="5143500" cy="4000500"/>
            </a:xfrm>
            <a:prstGeom prst="roundRect">
              <a:avLst>
                <a:gd name="adj" fmla="val 3333"/>
              </a:avLst>
            </a:prstGeom>
            <a:solidFill>
              <a:schemeClr val="accent5"/>
            </a:solidFill>
            <a:ln w="14288">
              <a:solidFill>
                <a:srgbClr val="1F2937"/>
              </a:solidFill>
            </a:ln>
          </p:spPr>
        </p:sp>
        <p:sp>
          <p:nvSpPr>
            <p:cNvPr id="25" name="Rectangle 25"/>
            <p:cNvSpPr/>
            <p:nvPr/>
          </p:nvSpPr>
          <p:spPr>
            <a:xfrm>
              <a:off x="6286500" y="1571625"/>
              <a:ext cx="5143500" cy="47625"/>
            </a:xfrm>
            <a:prstGeom prst="roundRect">
              <a:avLst>
                <a:gd name="adj" fmla="val 50000"/>
              </a:avLst>
            </a:prstGeom>
            <a:solidFill>
              <a:schemeClr val="accent1"/>
            </a:solidFill>
            <a:ln>
              <a:noFill/>
            </a:ln>
          </p:spPr>
        </p:sp>
        <p:sp>
          <p:nvSpPr>
            <p:cNvPr id="26" name="Rectangle 26"/>
            <p:cNvSpPr/>
            <p:nvPr/>
          </p:nvSpPr>
          <p:spPr>
            <a:xfrm>
              <a:off x="6572250" y="1857375"/>
              <a:ext cx="1714500" cy="266700"/>
            </a:xfrm>
            <a:prstGeom prst="roundRect">
              <a:avLst>
                <a:gd name="adj" fmla="val 21429"/>
              </a:avLst>
            </a:prstGeom>
            <a:solidFill>
              <a:srgbClr val="1E293B"/>
            </a:solidFill>
            <a:ln>
              <a:noFill/>
            </a:ln>
          </p:spPr>
        </p:sp>
        <p:sp>
          <p:nvSpPr>
            <p:cNvPr id="27" name="TextBox 27"/>
            <p:cNvSpPr txBox="1"/>
            <p:nvPr/>
          </p:nvSpPr>
          <p:spPr>
            <a:xfrm>
              <a:off x="6710172" y="1933099"/>
              <a:ext cx="1558726"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BACKEND IN-MEMORY</a:t>
              </a:r>
            </a:p>
          </p:txBody>
        </p:sp>
        <p:sp>
          <p:nvSpPr>
            <p:cNvPr id="28" name="TextBox 28"/>
            <p:cNvSpPr txBox="1"/>
            <p:nvPr/>
          </p:nvSpPr>
          <p:spPr>
            <a:xfrm>
              <a:off x="6563868" y="2250758"/>
              <a:ext cx="284180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FastAPI &amp; 제로 리텐션 엔진</a:t>
              </a:r>
            </a:p>
          </p:txBody>
        </p:sp>
        <p:sp>
          <p:nvSpPr>
            <p:cNvPr id="29" name="Rectangle 29"/>
            <p:cNvSpPr/>
            <p:nvPr/>
          </p:nvSpPr>
          <p:spPr>
            <a:xfrm>
              <a:off x="6572250" y="2619375"/>
              <a:ext cx="4572000" cy="571500"/>
            </a:xfrm>
            <a:prstGeom prst="roundRect">
              <a:avLst>
                <a:gd name="adj" fmla="val 13333"/>
              </a:avLst>
            </a:prstGeom>
            <a:solidFill>
              <a:srgbClr val="1E293B"/>
            </a:solidFill>
            <a:ln w="9525">
              <a:solidFill>
                <a:srgbClr val="2D3748"/>
              </a:solidFill>
            </a:ln>
          </p:spPr>
        </p:sp>
        <p:sp>
          <p:nvSpPr>
            <p:cNvPr id="30" name="TextBox 30"/>
            <p:cNvSpPr txBox="1"/>
            <p:nvPr/>
          </p:nvSpPr>
          <p:spPr>
            <a:xfrm>
              <a:off x="6756654" y="2727960"/>
              <a:ext cx="3072974"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In-Memory 세션 관리 (No Persistent DB)</a:t>
              </a:r>
            </a:p>
          </p:txBody>
        </p:sp>
        <p:sp>
          <p:nvSpPr>
            <p:cNvPr id="31" name="TextBox 31"/>
            <p:cNvSpPr txBox="1"/>
            <p:nvPr/>
          </p:nvSpPr>
          <p:spPr>
            <a:xfrm>
              <a:off x="6757797" y="2961799"/>
              <a:ext cx="338749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디스크에 어떤 개인 데이터도 쓰지 않는 휘발성 RAM 처리</a:t>
              </a:r>
            </a:p>
          </p:txBody>
        </p:sp>
        <p:sp>
          <p:nvSpPr>
            <p:cNvPr id="32" name="Rectangle 32"/>
            <p:cNvSpPr/>
            <p:nvPr/>
          </p:nvSpPr>
          <p:spPr>
            <a:xfrm>
              <a:off x="6572250" y="3286125"/>
              <a:ext cx="4572000" cy="571500"/>
            </a:xfrm>
            <a:prstGeom prst="roundRect">
              <a:avLst>
                <a:gd name="adj" fmla="val 13333"/>
              </a:avLst>
            </a:prstGeom>
            <a:solidFill>
              <a:srgbClr val="1E293B"/>
            </a:solidFill>
            <a:ln w="9525">
              <a:solidFill>
                <a:srgbClr val="2D3748"/>
              </a:solidFill>
            </a:ln>
          </p:spPr>
        </p:sp>
        <p:sp>
          <p:nvSpPr>
            <p:cNvPr id="33" name="TextBox 33"/>
            <p:cNvSpPr txBox="1"/>
            <p:nvPr/>
          </p:nvSpPr>
          <p:spPr>
            <a:xfrm>
              <a:off x="6756654" y="3394710"/>
              <a:ext cx="2013561"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행사 종료 시 즉시 영구 파기</a:t>
              </a:r>
            </a:p>
          </p:txBody>
        </p:sp>
        <p:sp>
          <p:nvSpPr>
            <p:cNvPr id="34" name="TextBox 34"/>
            <p:cNvSpPr txBox="1"/>
            <p:nvPr/>
          </p:nvSpPr>
          <p:spPr>
            <a:xfrm>
              <a:off x="6757797" y="3628549"/>
              <a:ext cx="3748180"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세션 만료 또는 주최자 종료 시 인메모리 데이터 100% 자동 소멸</a:t>
              </a:r>
            </a:p>
          </p:txBody>
        </p:sp>
        <p:sp>
          <p:nvSpPr>
            <p:cNvPr id="35" name="Rectangle 35"/>
            <p:cNvSpPr/>
            <p:nvPr/>
          </p:nvSpPr>
          <p:spPr>
            <a:xfrm>
              <a:off x="6572250" y="3952875"/>
              <a:ext cx="4572000" cy="571500"/>
            </a:xfrm>
            <a:prstGeom prst="roundRect">
              <a:avLst>
                <a:gd name="adj" fmla="val 13333"/>
              </a:avLst>
            </a:prstGeom>
            <a:solidFill>
              <a:srgbClr val="1E293B"/>
            </a:solidFill>
            <a:ln w="9525">
              <a:solidFill>
                <a:srgbClr val="2D3748"/>
              </a:solidFill>
            </a:ln>
          </p:spPr>
        </p:sp>
        <p:sp>
          <p:nvSpPr>
            <p:cNvPr id="36" name="TextBox 36"/>
            <p:cNvSpPr txBox="1"/>
            <p:nvPr/>
          </p:nvSpPr>
          <p:spPr>
            <a:xfrm>
              <a:off x="6756654" y="4061460"/>
              <a:ext cx="2042287"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개인식별정보(PII) 제로 정책</a:t>
              </a:r>
            </a:p>
          </p:txBody>
        </p:sp>
        <p:sp>
          <p:nvSpPr>
            <p:cNvPr id="37" name="TextBox 37"/>
            <p:cNvSpPr txBox="1"/>
            <p:nvPr/>
          </p:nvSpPr>
          <p:spPr>
            <a:xfrm>
              <a:off x="6757797" y="4295299"/>
              <a:ext cx="3506014"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이메일, 비밀번호, 전화번호 없이 임의 닉네임과 고민만 활용</a:t>
              </a:r>
            </a:p>
          </p:txBody>
        </p:sp>
        <p:sp>
          <p:nvSpPr>
            <p:cNvPr id="38" name="Rectangle 38"/>
            <p:cNvSpPr/>
            <p:nvPr/>
          </p:nvSpPr>
          <p:spPr>
            <a:xfrm>
              <a:off x="6572250" y="4667250"/>
              <a:ext cx="4572000" cy="714375"/>
            </a:xfrm>
            <a:prstGeom prst="roundRect">
              <a:avLst>
                <a:gd name="adj" fmla="val 10667"/>
              </a:avLst>
            </a:prstGeom>
            <a:solidFill>
              <a:srgbClr val="13241F"/>
            </a:solidFill>
            <a:ln w="9525">
              <a:solidFill>
                <a:srgbClr val="1F4D3C"/>
              </a:solidFill>
            </a:ln>
          </p:spPr>
        </p:sp>
        <p:sp>
          <p:nvSpPr>
            <p:cNvPr id="39" name="TextBox 39"/>
            <p:cNvSpPr txBox="1"/>
            <p:nvPr/>
          </p:nvSpPr>
          <p:spPr>
            <a:xfrm>
              <a:off x="6757035" y="4783931"/>
              <a:ext cx="2382146" cy="220028"/>
            </a:xfrm>
            <a:prstGeom prst="rect">
              <a:avLst/>
            </a:prstGeom>
            <a:noFill/>
            <a:ln>
              <a:noFill/>
            </a:ln>
          </p:spPr>
          <p:txBody>
            <a:bodyPr wrap="none" lIns="0" tIns="0" rIns="0" bIns="0" anchor="t" anchorCtr="0">
              <a:spAutoFit/>
            </a:bodyPr>
            <a:lstStyle/>
            <a:p>
              <a:pPr algn="l"/>
              <a:r>
                <a:rPr lang="ko-KR" sz="1120" b="1" dirty="0">
                  <a:solidFill>
                    <a:schemeClr val="accent1"/>
                  </a:solidFill>
                  <a:latin typeface="+mn-lt"/>
                  <a:ea typeface="+mn-ea"/>
                  <a:cs typeface="+mn-cs"/>
                </a:rPr>
                <a:t>프라이버시 보장 2: 유출 리스크 0%</a:t>
              </a:r>
            </a:p>
          </p:txBody>
        </p:sp>
        <p:sp>
          <p:nvSpPr>
            <p:cNvPr id="40" name="TextBox 40"/>
            <p:cNvSpPr txBox="1"/>
            <p:nvPr/>
          </p:nvSpPr>
          <p:spPr>
            <a:xfrm>
              <a:off x="6757797" y="5019199"/>
              <a:ext cx="3663012"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DB가 존재하지 않으므로 해킹이나 외부 유출 위험을 원천 차단</a:t>
              </a:r>
            </a:p>
          </p:txBody>
        </p:sp>
      </p:grpSp>
      <p:grpSp>
        <p:nvGrpSpPr>
          <p:cNvPr id="48" name="bottom-metric-badges"/>
          <p:cNvGrpSpPr/>
          <p:nvPr/>
        </p:nvGrpSpPr>
        <p:grpSpPr>
          <a:xfrm>
            <a:off x="762000" y="5762625"/>
            <a:ext cx="10668000" cy="552450"/>
            <a:chOff x="762000" y="5762625"/>
            <a:chExt cx="10668000" cy="552450"/>
          </a:xfrm>
        </p:grpSpPr>
        <p:sp>
          <p:nvSpPr>
            <p:cNvPr id="42" name="Rectangle 42"/>
            <p:cNvSpPr/>
            <p:nvPr/>
          </p:nvSpPr>
          <p:spPr>
            <a:xfrm>
              <a:off x="762000" y="5762625"/>
              <a:ext cx="10668000" cy="552450"/>
            </a:xfrm>
            <a:prstGeom prst="roundRect">
              <a:avLst>
                <a:gd name="adj" fmla="val 17241"/>
              </a:avLst>
            </a:prstGeom>
            <a:solidFill>
              <a:srgbClr val="131B2E"/>
            </a:solidFill>
            <a:ln w="9525">
              <a:solidFill>
                <a:schemeClr val="accent1"/>
              </a:solidFill>
            </a:ln>
          </p:spPr>
        </p:sp>
        <p:sp>
          <p:nvSpPr>
            <p:cNvPr id="43" name="TextBox 43"/>
            <p:cNvSpPr txBox="1"/>
            <p:nvPr/>
          </p:nvSpPr>
          <p:spPr>
            <a:xfrm>
              <a:off x="1136904" y="5956935"/>
              <a:ext cx="1605533" cy="234696"/>
            </a:xfrm>
            <a:prstGeom prst="rect">
              <a:avLst/>
            </a:prstGeom>
            <a:noFill/>
            <a:ln>
              <a:noFill/>
            </a:ln>
          </p:spPr>
          <p:txBody>
            <a:bodyPr wrap="none" lIns="0" tIns="0" rIns="0" bIns="0" anchor="t" anchorCtr="0">
              <a:spAutoFit/>
            </a:bodyPr>
            <a:lstStyle/>
            <a:p>
              <a:pPr algn="l"/>
              <a:r>
                <a:rPr lang="ko-KR" sz="1200" b="1" dirty="0">
                  <a:solidFill>
                    <a:schemeClr val="accent1"/>
                  </a:solidFill>
                  <a:latin typeface="+mn-lt"/>
                  <a:ea typeface="+mn-ea"/>
                  <a:cs typeface="+mn-cs"/>
                </a:rPr>
                <a:t>배터리 소모 &lt; 2% / 1h</a:t>
              </a:r>
            </a:p>
          </p:txBody>
        </p:sp>
        <p:sp>
          <p:nvSpPr>
            <p:cNvPr id="44" name="TextBox 44"/>
            <p:cNvSpPr txBox="1"/>
            <p:nvPr/>
          </p:nvSpPr>
          <p:spPr>
            <a:xfrm>
              <a:off x="3613404" y="5956935"/>
              <a:ext cx="54161"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a:t>
              </a:r>
            </a:p>
          </p:txBody>
        </p:sp>
        <p:sp>
          <p:nvSpPr>
            <p:cNvPr id="45" name="TextBox 45"/>
            <p:cNvSpPr txBox="1"/>
            <p:nvPr/>
          </p:nvSpPr>
          <p:spPr>
            <a:xfrm>
              <a:off x="3994404" y="5956935"/>
              <a:ext cx="2896354" cy="234696"/>
            </a:xfrm>
            <a:prstGeom prst="rect">
              <a:avLst/>
            </a:prstGeom>
            <a:noFill/>
            <a:ln>
              <a:noFill/>
            </a:ln>
          </p:spPr>
          <p:txBody>
            <a:bodyPr wrap="none" lIns="0" tIns="0" rIns="0" bIns="0" anchor="t" anchorCtr="0">
              <a:spAutoFit/>
            </a:bodyPr>
            <a:lstStyle/>
            <a:p>
              <a:pPr algn="l"/>
              <a:r>
                <a:rPr lang="ko-KR" sz="1200" b="1" dirty="0">
                  <a:solidFill>
                    <a:schemeClr val="accent2"/>
                  </a:solidFill>
                  <a:latin typeface="+mn-lt"/>
                  <a:ea typeface="+mn-ea"/>
                  <a:cs typeface="+mn-cs"/>
                </a:rPr>
                <a:t>개인정보 유출 리스크 0% (No-DB 설계)</a:t>
              </a:r>
            </a:p>
          </p:txBody>
        </p:sp>
        <p:sp>
          <p:nvSpPr>
            <p:cNvPr id="46" name="TextBox 46"/>
            <p:cNvSpPr txBox="1"/>
            <p:nvPr/>
          </p:nvSpPr>
          <p:spPr>
            <a:xfrm>
              <a:off x="7804404" y="5956935"/>
              <a:ext cx="54161"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a:t>
              </a:r>
            </a:p>
          </p:txBody>
        </p:sp>
        <p:sp>
          <p:nvSpPr>
            <p:cNvPr id="47" name="TextBox 47"/>
            <p:cNvSpPr txBox="1"/>
            <p:nvPr/>
          </p:nvSpPr>
          <p:spPr>
            <a:xfrm>
              <a:off x="8185404" y="5956935"/>
              <a:ext cx="2153135" cy="234696"/>
            </a:xfrm>
            <a:prstGeom prst="rect">
              <a:avLst/>
            </a:prstGeom>
            <a:noFill/>
            <a:ln>
              <a:noFill/>
            </a:ln>
          </p:spPr>
          <p:txBody>
            <a:bodyPr wrap="none" lIns="0" tIns="0" rIns="0" bIns="0" anchor="t" anchorCtr="0">
              <a:spAutoFit/>
            </a:bodyPr>
            <a:lstStyle/>
            <a:p>
              <a:pPr algn="l"/>
              <a:r>
                <a:rPr lang="ko-KR" sz="1200" b="1" dirty="0">
                  <a:solidFill>
                    <a:schemeClr val="accent3"/>
                  </a:solidFill>
                  <a:latin typeface="+mn-lt"/>
                  <a:ea typeface="+mn-ea"/>
                  <a:cs typeface="+mn-cs"/>
                </a:rPr>
                <a:t>상보성 연산 지연시간 &lt; 50ms</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6425433" cy="962406"/>
            <a:chOff x="749808" y="428625"/>
            <a:chExt cx="6425433" cy="962406"/>
          </a:xfrm>
        </p:grpSpPr>
        <p:sp>
          <p:nvSpPr>
            <p:cNvPr id="2" name="Rectangle 2"/>
            <p:cNvSpPr/>
            <p:nvPr/>
          </p:nvSpPr>
          <p:spPr>
            <a:xfrm>
              <a:off x="762000" y="428625"/>
              <a:ext cx="2286000" cy="247650"/>
            </a:xfrm>
            <a:prstGeom prst="roundRect">
              <a:avLst>
                <a:gd name="adj" fmla="val 50000"/>
              </a:avLst>
            </a:prstGeom>
            <a:solidFill>
              <a:schemeClr val="accent5"/>
            </a:solidFill>
            <a:ln w="11430">
              <a:solidFill>
                <a:schemeClr val="accent1"/>
              </a:solidFill>
            </a:ln>
          </p:spPr>
        </p:sp>
        <p:sp>
          <p:nvSpPr>
            <p:cNvPr id="3" name="TextBox 3"/>
            <p:cNvSpPr txBox="1"/>
            <p:nvPr/>
          </p:nvSpPr>
          <p:spPr>
            <a:xfrm>
              <a:off x="909447" y="485299"/>
              <a:ext cx="2694052" cy="190690"/>
            </a:xfrm>
            <a:prstGeom prst="rect">
              <a:avLst/>
            </a:prstGeom>
            <a:noFill/>
            <a:ln>
              <a:noFill/>
            </a:ln>
          </p:spPr>
          <p:txBody>
            <a:bodyPr wrap="none" lIns="0" tIns="0" rIns="0" bIns="0" anchor="t" anchorCtr="0">
              <a:spAutoFit/>
            </a:bodyPr>
            <a:lstStyle/>
            <a:p>
              <a:pPr algn="l"/>
              <a:r>
                <a:rPr lang="en-US" sz="980" b="1" spc="75" dirty="0">
                  <a:solidFill>
                    <a:schemeClr val="accent1"/>
                  </a:solidFill>
                  <a:latin typeface="+mn-lt"/>
                  <a:ea typeface="+mn-ea"/>
                  <a:cs typeface="+mn-cs"/>
                </a:rPr>
                <a:t>06. TRACTION &amp; BUSINESS MODEL</a:t>
              </a:r>
            </a:p>
          </p:txBody>
        </p:sp>
        <p:sp>
          <p:nvSpPr>
            <p:cNvPr id="4" name="TextBox 4"/>
            <p:cNvSpPr txBox="1"/>
            <p:nvPr/>
          </p:nvSpPr>
          <p:spPr>
            <a:xfrm>
              <a:off x="749808" y="741045"/>
              <a:ext cx="6425433"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현장 검증 결과와 B2B 이벤트 비즈니스 모델</a:t>
              </a:r>
            </a:p>
          </p:txBody>
        </p:sp>
        <p:sp>
          <p:nvSpPr>
            <p:cNvPr id="5" name="TextBox 5"/>
            <p:cNvSpPr txBox="1"/>
            <p:nvPr/>
          </p:nvSpPr>
          <p:spPr>
            <a:xfrm>
              <a:off x="755904" y="1156335"/>
              <a:ext cx="6389083"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실제 코쓱톤 참가자 46명 세션에서 입증된 놀라운 인터랙션 지표와 주최자 B2B 수익 구조</a:t>
              </a:r>
            </a:p>
          </p:txBody>
        </p:sp>
      </p:grpSp>
      <p:grpSp>
        <p:nvGrpSpPr>
          <p:cNvPr id="27" name="kpi-cards"/>
          <p:cNvGrpSpPr/>
          <p:nvPr/>
        </p:nvGrpSpPr>
        <p:grpSpPr>
          <a:xfrm>
            <a:off x="762000" y="1571625"/>
            <a:ext cx="10668000" cy="1428750"/>
            <a:chOff x="762000" y="1571625"/>
            <a:chExt cx="10668000" cy="1428750"/>
          </a:xfrm>
        </p:grpSpPr>
        <p:sp>
          <p:nvSpPr>
            <p:cNvPr id="7" name="Rectangle 7"/>
            <p:cNvSpPr/>
            <p:nvPr/>
          </p:nvSpPr>
          <p:spPr>
            <a:xfrm>
              <a:off x="762000" y="1571625"/>
              <a:ext cx="2476500" cy="1428750"/>
            </a:xfrm>
            <a:prstGeom prst="roundRect">
              <a:avLst>
                <a:gd name="adj" fmla="val 9333"/>
              </a:avLst>
            </a:prstGeom>
            <a:solidFill>
              <a:schemeClr val="accent5"/>
            </a:solidFill>
            <a:ln w="14288">
              <a:solidFill>
                <a:srgbClr val="1F2937"/>
              </a:solidFill>
            </a:ln>
          </p:spPr>
        </p:sp>
        <p:sp>
          <p:nvSpPr>
            <p:cNvPr id="8" name="Rectangle 8"/>
            <p:cNvSpPr/>
            <p:nvPr/>
          </p:nvSpPr>
          <p:spPr>
            <a:xfrm>
              <a:off x="762000" y="1571625"/>
              <a:ext cx="2476500" cy="38100"/>
            </a:xfrm>
            <a:prstGeom prst="roundRect">
              <a:avLst>
                <a:gd name="adj" fmla="val 50000"/>
              </a:avLst>
            </a:prstGeom>
            <a:solidFill>
              <a:schemeClr val="accent1"/>
            </a:solidFill>
            <a:ln>
              <a:noFill/>
            </a:ln>
          </p:spPr>
        </p:sp>
        <p:sp>
          <p:nvSpPr>
            <p:cNvPr id="9" name="TextBox 9"/>
            <p:cNvSpPr txBox="1"/>
            <p:nvPr/>
          </p:nvSpPr>
          <p:spPr>
            <a:xfrm>
              <a:off x="995172" y="1799749"/>
              <a:ext cx="954010" cy="190690"/>
            </a:xfrm>
            <a:prstGeom prst="rect">
              <a:avLst/>
            </a:prstGeom>
            <a:noFill/>
            <a:ln>
              <a:noFill/>
            </a:ln>
          </p:spPr>
          <p:txBody>
            <a:bodyPr wrap="none" lIns="0" tIns="0" rIns="0" bIns="0" anchor="t" anchorCtr="0">
              <a:spAutoFit/>
            </a:bodyPr>
            <a:lstStyle/>
            <a:p>
              <a:pPr algn="l"/>
              <a:r>
                <a:rPr lang="ko-KR" sz="980" b="1" dirty="0">
                  <a:solidFill>
                    <a:schemeClr val="accent6"/>
                  </a:solidFill>
                  <a:latin typeface="+mn-lt"/>
                  <a:ea typeface="+mn-ea"/>
                  <a:cs typeface="+mn-cs"/>
                </a:rPr>
                <a:t>QR 세션 입장율</a:t>
              </a:r>
            </a:p>
          </p:txBody>
        </p:sp>
        <p:sp>
          <p:nvSpPr>
            <p:cNvPr id="10" name="TextBox 10"/>
            <p:cNvSpPr txBox="1"/>
            <p:nvPr/>
          </p:nvSpPr>
          <p:spPr>
            <a:xfrm>
              <a:off x="981837" y="2087880"/>
              <a:ext cx="1006615" cy="704088"/>
            </a:xfrm>
            <a:prstGeom prst="rect">
              <a:avLst/>
            </a:prstGeom>
            <a:noFill/>
            <a:ln>
              <a:noFill/>
            </a:ln>
          </p:spPr>
          <p:txBody>
            <a:bodyPr wrap="none" lIns="0" tIns="0" rIns="0" bIns="0" anchor="t" anchorCtr="0">
              <a:spAutoFit/>
            </a:bodyPr>
            <a:lstStyle/>
            <a:p>
              <a:pPr algn="l"/>
              <a:r>
                <a:rPr lang="ko-KR" sz="3600" b="1" dirty="0">
                  <a:solidFill>
                    <a:schemeClr val="accent1"/>
                  </a:solidFill>
                  <a:latin typeface="+mn-lt"/>
                  <a:ea typeface="+mn-ea"/>
                  <a:cs typeface="+mn-cs"/>
                </a:rPr>
                <a:t>71%</a:t>
              </a:r>
            </a:p>
          </p:txBody>
        </p:sp>
        <p:sp>
          <p:nvSpPr>
            <p:cNvPr id="11" name="TextBox 11"/>
            <p:cNvSpPr txBox="1"/>
            <p:nvPr/>
          </p:nvSpPr>
          <p:spPr>
            <a:xfrm>
              <a:off x="995172" y="2704624"/>
              <a:ext cx="1846417"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기존 앱(58%) 대비 +13%p 상회</a:t>
              </a:r>
            </a:p>
          </p:txBody>
        </p:sp>
        <p:sp>
          <p:nvSpPr>
            <p:cNvPr id="12" name="Rectangle 12"/>
            <p:cNvSpPr/>
            <p:nvPr/>
          </p:nvSpPr>
          <p:spPr>
            <a:xfrm>
              <a:off x="3486150" y="1571625"/>
              <a:ext cx="2476500" cy="1428750"/>
            </a:xfrm>
            <a:prstGeom prst="roundRect">
              <a:avLst>
                <a:gd name="adj" fmla="val 9333"/>
              </a:avLst>
            </a:prstGeom>
            <a:solidFill>
              <a:schemeClr val="accent5"/>
            </a:solidFill>
            <a:ln w="14288">
              <a:solidFill>
                <a:srgbClr val="1F2937"/>
              </a:solidFill>
            </a:ln>
          </p:spPr>
        </p:sp>
        <p:sp>
          <p:nvSpPr>
            <p:cNvPr id="13" name="Rectangle 13"/>
            <p:cNvSpPr/>
            <p:nvPr/>
          </p:nvSpPr>
          <p:spPr>
            <a:xfrm>
              <a:off x="3486150" y="1571625"/>
              <a:ext cx="2476500" cy="38100"/>
            </a:xfrm>
            <a:prstGeom prst="roundRect">
              <a:avLst>
                <a:gd name="adj" fmla="val 50000"/>
              </a:avLst>
            </a:prstGeom>
            <a:solidFill>
              <a:schemeClr val="accent2"/>
            </a:solidFill>
            <a:ln>
              <a:noFill/>
            </a:ln>
          </p:spPr>
        </p:sp>
        <p:sp>
          <p:nvSpPr>
            <p:cNvPr id="14" name="TextBox 14"/>
            <p:cNvSpPr txBox="1"/>
            <p:nvPr/>
          </p:nvSpPr>
          <p:spPr>
            <a:xfrm>
              <a:off x="3719322" y="1799749"/>
              <a:ext cx="1138626" cy="190690"/>
            </a:xfrm>
            <a:prstGeom prst="rect">
              <a:avLst/>
            </a:prstGeom>
            <a:noFill/>
            <a:ln>
              <a:noFill/>
            </a:ln>
          </p:spPr>
          <p:txBody>
            <a:bodyPr wrap="none" lIns="0" tIns="0" rIns="0" bIns="0" anchor="t" anchorCtr="0">
              <a:spAutoFit/>
            </a:bodyPr>
            <a:lstStyle/>
            <a:p>
              <a:pPr algn="l"/>
              <a:r>
                <a:rPr lang="ko-KR" sz="980" b="1" dirty="0">
                  <a:solidFill>
                    <a:schemeClr val="accent6"/>
                  </a:solidFill>
                  <a:latin typeface="+mn-lt"/>
                  <a:ea typeface="+mn-ea"/>
                  <a:cs typeface="+mn-cs"/>
                </a:rPr>
                <a:t>프로필 작성 완료율</a:t>
              </a:r>
            </a:p>
          </p:txBody>
        </p:sp>
        <p:sp>
          <p:nvSpPr>
            <p:cNvPr id="15" name="TextBox 15"/>
            <p:cNvSpPr txBox="1"/>
            <p:nvPr/>
          </p:nvSpPr>
          <p:spPr>
            <a:xfrm>
              <a:off x="3705987" y="2087880"/>
              <a:ext cx="1006615" cy="704088"/>
            </a:xfrm>
            <a:prstGeom prst="rect">
              <a:avLst/>
            </a:prstGeom>
            <a:noFill/>
            <a:ln>
              <a:noFill/>
            </a:ln>
          </p:spPr>
          <p:txBody>
            <a:bodyPr wrap="none" lIns="0" tIns="0" rIns="0" bIns="0" anchor="t" anchorCtr="0">
              <a:spAutoFit/>
            </a:bodyPr>
            <a:lstStyle/>
            <a:p>
              <a:pPr algn="l"/>
              <a:r>
                <a:rPr lang="ko-KR" sz="3600" b="1" dirty="0">
                  <a:solidFill>
                    <a:schemeClr val="accent2"/>
                  </a:solidFill>
                  <a:latin typeface="+mn-lt"/>
                  <a:ea typeface="+mn-ea"/>
                  <a:cs typeface="+mn-cs"/>
                </a:rPr>
                <a:t>91%</a:t>
              </a:r>
            </a:p>
          </p:txBody>
        </p:sp>
        <p:sp>
          <p:nvSpPr>
            <p:cNvPr id="16" name="TextBox 16"/>
            <p:cNvSpPr txBox="1"/>
            <p:nvPr/>
          </p:nvSpPr>
          <p:spPr>
            <a:xfrm>
              <a:off x="3719322" y="2704624"/>
              <a:ext cx="1923041"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30초 한 줄 입력으로 이탈 최소화</a:t>
              </a:r>
            </a:p>
          </p:txBody>
        </p:sp>
        <p:sp>
          <p:nvSpPr>
            <p:cNvPr id="17" name="Rectangle 17"/>
            <p:cNvSpPr/>
            <p:nvPr/>
          </p:nvSpPr>
          <p:spPr>
            <a:xfrm>
              <a:off x="6219825" y="1571625"/>
              <a:ext cx="2476500" cy="1428750"/>
            </a:xfrm>
            <a:prstGeom prst="roundRect">
              <a:avLst>
                <a:gd name="adj" fmla="val 9333"/>
              </a:avLst>
            </a:prstGeom>
            <a:solidFill>
              <a:schemeClr val="accent5"/>
            </a:solidFill>
            <a:ln w="14288">
              <a:solidFill>
                <a:srgbClr val="1F2937"/>
              </a:solidFill>
            </a:ln>
          </p:spPr>
        </p:sp>
        <p:sp>
          <p:nvSpPr>
            <p:cNvPr id="18" name="Rectangle 18"/>
            <p:cNvSpPr/>
            <p:nvPr/>
          </p:nvSpPr>
          <p:spPr>
            <a:xfrm>
              <a:off x="6219825" y="1571625"/>
              <a:ext cx="2476500" cy="38100"/>
            </a:xfrm>
            <a:prstGeom prst="roundRect">
              <a:avLst>
                <a:gd name="adj" fmla="val 50000"/>
              </a:avLst>
            </a:prstGeom>
            <a:solidFill>
              <a:schemeClr val="accent3"/>
            </a:solidFill>
            <a:ln>
              <a:noFill/>
            </a:ln>
          </p:spPr>
        </p:sp>
        <p:sp>
          <p:nvSpPr>
            <p:cNvPr id="19" name="TextBox 19"/>
            <p:cNvSpPr txBox="1"/>
            <p:nvPr/>
          </p:nvSpPr>
          <p:spPr>
            <a:xfrm>
              <a:off x="6452997" y="1799749"/>
              <a:ext cx="1175275" cy="190690"/>
            </a:xfrm>
            <a:prstGeom prst="rect">
              <a:avLst/>
            </a:prstGeom>
            <a:noFill/>
            <a:ln>
              <a:noFill/>
            </a:ln>
          </p:spPr>
          <p:txBody>
            <a:bodyPr wrap="none" lIns="0" tIns="0" rIns="0" bIns="0" anchor="t" anchorCtr="0">
              <a:spAutoFit/>
            </a:bodyPr>
            <a:lstStyle/>
            <a:p>
              <a:pPr algn="l"/>
              <a:r>
                <a:rPr lang="ko-KR" sz="980" b="1" dirty="0">
                  <a:solidFill>
                    <a:schemeClr val="accent6"/>
                  </a:solidFill>
                  <a:latin typeface="+mn-lt"/>
                  <a:ea typeface="+mn-ea"/>
                  <a:cs typeface="+mn-cs"/>
                </a:rPr>
                <a:t>상보성 접점 추천 수</a:t>
              </a:r>
            </a:p>
          </p:txBody>
        </p:sp>
        <p:sp>
          <p:nvSpPr>
            <p:cNvPr id="20" name="TextBox 20"/>
            <p:cNvSpPr txBox="1"/>
            <p:nvPr/>
          </p:nvSpPr>
          <p:spPr>
            <a:xfrm>
              <a:off x="6439662" y="2087880"/>
              <a:ext cx="1060313" cy="704088"/>
            </a:xfrm>
            <a:prstGeom prst="rect">
              <a:avLst/>
            </a:prstGeom>
            <a:noFill/>
            <a:ln>
              <a:noFill/>
            </a:ln>
          </p:spPr>
          <p:txBody>
            <a:bodyPr wrap="none" lIns="0" tIns="0" rIns="0" bIns="0" anchor="t" anchorCtr="0">
              <a:spAutoFit/>
            </a:bodyPr>
            <a:lstStyle/>
            <a:p>
              <a:pPr algn="l"/>
              <a:r>
                <a:rPr lang="ko-KR" sz="3600" b="1" dirty="0">
                  <a:solidFill>
                    <a:schemeClr val="accent3"/>
                  </a:solidFill>
                  <a:latin typeface="+mn-lt"/>
                  <a:ea typeface="+mn-ea"/>
                  <a:cs typeface="+mn-cs"/>
                </a:rPr>
                <a:t>37건</a:t>
              </a:r>
            </a:p>
          </p:txBody>
        </p:sp>
        <p:sp>
          <p:nvSpPr>
            <p:cNvPr id="21" name="TextBox 21"/>
            <p:cNvSpPr txBox="1"/>
            <p:nvPr/>
          </p:nvSpPr>
          <p:spPr>
            <a:xfrm>
              <a:off x="6452997" y="2704624"/>
              <a:ext cx="1851981"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Need-Give 상호 보완 결합 성사</a:t>
              </a:r>
            </a:p>
          </p:txBody>
        </p:sp>
        <p:sp>
          <p:nvSpPr>
            <p:cNvPr id="22" name="Rectangle 22"/>
            <p:cNvSpPr/>
            <p:nvPr/>
          </p:nvSpPr>
          <p:spPr>
            <a:xfrm>
              <a:off x="8953500" y="1571625"/>
              <a:ext cx="2476500" cy="1428750"/>
            </a:xfrm>
            <a:prstGeom prst="roundRect">
              <a:avLst>
                <a:gd name="adj" fmla="val 9333"/>
              </a:avLst>
            </a:prstGeom>
            <a:solidFill>
              <a:schemeClr val="accent5"/>
            </a:solidFill>
            <a:ln w="14288">
              <a:solidFill>
                <a:srgbClr val="1F2937"/>
              </a:solidFill>
            </a:ln>
          </p:spPr>
        </p:sp>
        <p:sp>
          <p:nvSpPr>
            <p:cNvPr id="23" name="Rectangle 23"/>
            <p:cNvSpPr/>
            <p:nvPr/>
          </p:nvSpPr>
          <p:spPr>
            <a:xfrm>
              <a:off x="8953500" y="1571625"/>
              <a:ext cx="2476500" cy="38100"/>
            </a:xfrm>
            <a:prstGeom prst="roundRect">
              <a:avLst>
                <a:gd name="adj" fmla="val 50000"/>
              </a:avLst>
            </a:prstGeom>
            <a:solidFill>
              <a:schemeClr val="accent1"/>
            </a:solidFill>
            <a:ln>
              <a:noFill/>
            </a:ln>
          </p:spPr>
        </p:sp>
        <p:sp>
          <p:nvSpPr>
            <p:cNvPr id="24" name="TextBox 24"/>
            <p:cNvSpPr txBox="1"/>
            <p:nvPr/>
          </p:nvSpPr>
          <p:spPr>
            <a:xfrm>
              <a:off x="9186672" y="1799749"/>
              <a:ext cx="1175275" cy="190690"/>
            </a:xfrm>
            <a:prstGeom prst="rect">
              <a:avLst/>
            </a:prstGeom>
            <a:noFill/>
            <a:ln>
              <a:noFill/>
            </a:ln>
          </p:spPr>
          <p:txBody>
            <a:bodyPr wrap="none" lIns="0" tIns="0" rIns="0" bIns="0" anchor="t" anchorCtr="0">
              <a:spAutoFit/>
            </a:bodyPr>
            <a:lstStyle/>
            <a:p>
              <a:pPr algn="l"/>
              <a:r>
                <a:rPr lang="ko-KR" sz="980" b="1" dirty="0">
                  <a:solidFill>
                    <a:schemeClr val="accent6"/>
                  </a:solidFill>
                  <a:latin typeface="+mn-lt"/>
                  <a:ea typeface="+mn-ea"/>
                  <a:cs typeface="+mn-cs"/>
                </a:rPr>
                <a:t>실제 대화 전환 성사</a:t>
              </a:r>
            </a:p>
          </p:txBody>
        </p:sp>
        <p:sp>
          <p:nvSpPr>
            <p:cNvPr id="25" name="TextBox 25"/>
            <p:cNvSpPr txBox="1"/>
            <p:nvPr/>
          </p:nvSpPr>
          <p:spPr>
            <a:xfrm>
              <a:off x="9173337" y="2087880"/>
              <a:ext cx="1060313" cy="704088"/>
            </a:xfrm>
            <a:prstGeom prst="rect">
              <a:avLst/>
            </a:prstGeom>
            <a:noFill/>
            <a:ln>
              <a:noFill/>
            </a:ln>
          </p:spPr>
          <p:txBody>
            <a:bodyPr wrap="none" lIns="0" tIns="0" rIns="0" bIns="0" anchor="t" anchorCtr="0">
              <a:spAutoFit/>
            </a:bodyPr>
            <a:lstStyle/>
            <a:p>
              <a:pPr algn="l"/>
              <a:r>
                <a:rPr lang="ko-KR" sz="3600" b="1" dirty="0">
                  <a:solidFill>
                    <a:schemeClr val="accent1"/>
                  </a:solidFill>
                  <a:latin typeface="+mn-lt"/>
                  <a:ea typeface="+mn-ea"/>
                  <a:cs typeface="+mn-cs"/>
                </a:rPr>
                <a:t>24건</a:t>
              </a:r>
            </a:p>
          </p:txBody>
        </p:sp>
        <p:sp>
          <p:nvSpPr>
            <p:cNvPr id="26" name="TextBox 26"/>
            <p:cNvSpPr txBox="1"/>
            <p:nvPr/>
          </p:nvSpPr>
          <p:spPr>
            <a:xfrm>
              <a:off x="9186672" y="2704624"/>
              <a:ext cx="1717946" cy="190690"/>
            </a:xfrm>
            <a:prstGeom prst="rect">
              <a:avLst/>
            </a:prstGeom>
            <a:noFill/>
            <a:ln>
              <a:noFill/>
            </a:ln>
          </p:spPr>
          <p:txBody>
            <a:bodyPr wrap="none" lIns="0" tIns="0" rIns="0" bIns="0" anchor="t" anchorCtr="0">
              <a:spAutoFit/>
            </a:bodyPr>
            <a:lstStyle/>
            <a:p>
              <a:pPr algn="l"/>
              <a:r>
                <a:rPr lang="ko-KR" sz="980" dirty="0">
                  <a:solidFill>
                    <a:schemeClr val="dk1"/>
                  </a:solidFill>
                  <a:latin typeface="+mn-lt"/>
                  <a:ea typeface="+mn-ea"/>
                  <a:cs typeface="+mn-cs"/>
                </a:rPr>
                <a:t>추천 대비 전환율 64.8% 달성</a:t>
              </a:r>
            </a:p>
          </p:txBody>
        </p:sp>
      </p:grpSp>
      <p:grpSp>
        <p:nvGrpSpPr>
          <p:cNvPr id="46" name="business-panels"/>
          <p:cNvGrpSpPr/>
          <p:nvPr/>
        </p:nvGrpSpPr>
        <p:grpSpPr>
          <a:xfrm>
            <a:off x="762000" y="3238500"/>
            <a:ext cx="10668000" cy="2333625"/>
            <a:chOff x="762000" y="3238500"/>
            <a:chExt cx="10668000" cy="2333625"/>
          </a:xfrm>
        </p:grpSpPr>
        <p:sp>
          <p:nvSpPr>
            <p:cNvPr id="28" name="Rectangle 28"/>
            <p:cNvSpPr/>
            <p:nvPr/>
          </p:nvSpPr>
          <p:spPr>
            <a:xfrm>
              <a:off x="762000" y="3238500"/>
              <a:ext cx="5143500" cy="2333625"/>
            </a:xfrm>
            <a:prstGeom prst="roundRect">
              <a:avLst>
                <a:gd name="adj" fmla="val 5714"/>
              </a:avLst>
            </a:prstGeom>
            <a:solidFill>
              <a:schemeClr val="accent5"/>
            </a:solidFill>
            <a:ln w="14288">
              <a:solidFill>
                <a:srgbClr val="1F2937"/>
              </a:solidFill>
            </a:ln>
          </p:spPr>
        </p:sp>
        <p:sp>
          <p:nvSpPr>
            <p:cNvPr id="29" name="Rectangle 29"/>
            <p:cNvSpPr/>
            <p:nvPr/>
          </p:nvSpPr>
          <p:spPr>
            <a:xfrm>
              <a:off x="762000" y="3238500"/>
              <a:ext cx="5143500" cy="38100"/>
            </a:xfrm>
            <a:prstGeom prst="roundRect">
              <a:avLst>
                <a:gd name="adj" fmla="val 50000"/>
              </a:avLst>
            </a:prstGeom>
            <a:solidFill>
              <a:schemeClr val="accent1"/>
            </a:solidFill>
            <a:ln>
              <a:noFill/>
            </a:ln>
          </p:spPr>
        </p:sp>
        <p:sp>
          <p:nvSpPr>
            <p:cNvPr id="30" name="Rectangle 30"/>
            <p:cNvSpPr/>
            <p:nvPr/>
          </p:nvSpPr>
          <p:spPr>
            <a:xfrm>
              <a:off x="1000125" y="3476625"/>
              <a:ext cx="1619250" cy="247650"/>
            </a:xfrm>
            <a:prstGeom prst="roundRect">
              <a:avLst>
                <a:gd name="adj" fmla="val 23077"/>
              </a:avLst>
            </a:prstGeom>
            <a:solidFill>
              <a:srgbClr val="1E293B"/>
            </a:solidFill>
            <a:ln>
              <a:noFill/>
            </a:ln>
          </p:spPr>
        </p:sp>
        <p:sp>
          <p:nvSpPr>
            <p:cNvPr id="31" name="TextBox 31"/>
            <p:cNvSpPr txBox="1"/>
            <p:nvPr/>
          </p:nvSpPr>
          <p:spPr>
            <a:xfrm>
              <a:off x="1138047" y="3533299"/>
              <a:ext cx="1582117"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B2B MONETIZATION 01</a:t>
              </a:r>
            </a:p>
          </p:txBody>
        </p:sp>
        <p:sp>
          <p:nvSpPr>
            <p:cNvPr id="32" name="TextBox 32"/>
            <p:cNvSpPr txBox="1"/>
            <p:nvPr/>
          </p:nvSpPr>
          <p:spPr>
            <a:xfrm>
              <a:off x="992505" y="3838575"/>
              <a:ext cx="3259728"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행사 주최자 라이선스 (Event SaaS)</a:t>
              </a:r>
            </a:p>
          </p:txBody>
        </p:sp>
        <p:sp>
          <p:nvSpPr>
            <p:cNvPr id="33" name="TextBox 33"/>
            <p:cNvSpPr txBox="1"/>
            <p:nvPr/>
          </p:nvSpPr>
          <p:spPr>
            <a:xfrm>
              <a:off x="994410" y="4212431"/>
              <a:ext cx="360724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건당 $199 (100명 미만 밋업) ~ $499 (대형 컨퍼런스)</a:t>
              </a:r>
            </a:p>
          </p:txBody>
        </p:sp>
        <p:sp>
          <p:nvSpPr>
            <p:cNvPr id="34" name="TextBox 34"/>
            <p:cNvSpPr txBox="1"/>
            <p:nvPr/>
          </p:nvSpPr>
          <p:spPr>
            <a:xfrm>
              <a:off x="994410" y="4498181"/>
              <a:ext cx="2421010"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주최자 전용 실시간 관제 콘솔 제공</a:t>
              </a:r>
            </a:p>
          </p:txBody>
        </p:sp>
        <p:sp>
          <p:nvSpPr>
            <p:cNvPr id="35" name="TextBox 35"/>
            <p:cNvSpPr txBox="1"/>
            <p:nvPr/>
          </p:nvSpPr>
          <p:spPr>
            <a:xfrm>
              <a:off x="994410" y="4783931"/>
              <a:ext cx="3367541"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참가자 입장률, 네트워킹 활성도 실시간 모니터링</a:t>
              </a:r>
            </a:p>
          </p:txBody>
        </p:sp>
        <p:sp>
          <p:nvSpPr>
            <p:cNvPr id="36" name="TextBox 36"/>
            <p:cNvSpPr txBox="1"/>
            <p:nvPr/>
          </p:nvSpPr>
          <p:spPr>
            <a:xfrm>
              <a:off x="995172" y="5133499"/>
              <a:ext cx="3143894"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글로벌 이벤트 테크 SaaS 대비 70% 저렴한 도입 비용</a:t>
              </a:r>
            </a:p>
          </p:txBody>
        </p:sp>
        <p:sp>
          <p:nvSpPr>
            <p:cNvPr id="37" name="Rectangle 37"/>
            <p:cNvSpPr/>
            <p:nvPr/>
          </p:nvSpPr>
          <p:spPr>
            <a:xfrm>
              <a:off x="6286500" y="3238500"/>
              <a:ext cx="5143500" cy="2333625"/>
            </a:xfrm>
            <a:prstGeom prst="roundRect">
              <a:avLst>
                <a:gd name="adj" fmla="val 5714"/>
              </a:avLst>
            </a:prstGeom>
            <a:solidFill>
              <a:schemeClr val="accent5"/>
            </a:solidFill>
            <a:ln w="14288">
              <a:solidFill>
                <a:srgbClr val="1F2937"/>
              </a:solidFill>
            </a:ln>
          </p:spPr>
        </p:sp>
        <p:sp>
          <p:nvSpPr>
            <p:cNvPr id="38" name="Rectangle 38"/>
            <p:cNvSpPr/>
            <p:nvPr/>
          </p:nvSpPr>
          <p:spPr>
            <a:xfrm>
              <a:off x="6286500" y="3238500"/>
              <a:ext cx="5143500" cy="38100"/>
            </a:xfrm>
            <a:prstGeom prst="roundRect">
              <a:avLst>
                <a:gd name="adj" fmla="val 50000"/>
              </a:avLst>
            </a:prstGeom>
            <a:solidFill>
              <a:schemeClr val="accent2"/>
            </a:solidFill>
            <a:ln>
              <a:noFill/>
            </a:ln>
          </p:spPr>
        </p:sp>
        <p:sp>
          <p:nvSpPr>
            <p:cNvPr id="39" name="Rectangle 39"/>
            <p:cNvSpPr/>
            <p:nvPr/>
          </p:nvSpPr>
          <p:spPr>
            <a:xfrm>
              <a:off x="6524625" y="3476625"/>
              <a:ext cx="1619250" cy="247650"/>
            </a:xfrm>
            <a:prstGeom prst="roundRect">
              <a:avLst>
                <a:gd name="adj" fmla="val 23077"/>
              </a:avLst>
            </a:prstGeom>
            <a:solidFill>
              <a:srgbClr val="1E293B"/>
            </a:solidFill>
            <a:ln>
              <a:noFill/>
            </a:ln>
          </p:spPr>
        </p:sp>
        <p:sp>
          <p:nvSpPr>
            <p:cNvPr id="40" name="TextBox 40"/>
            <p:cNvSpPr txBox="1"/>
            <p:nvPr/>
          </p:nvSpPr>
          <p:spPr>
            <a:xfrm>
              <a:off x="6662547" y="3533299"/>
              <a:ext cx="1582117"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B2B MONETIZATION 02</a:t>
              </a:r>
            </a:p>
          </p:txBody>
        </p:sp>
        <p:sp>
          <p:nvSpPr>
            <p:cNvPr id="41" name="TextBox 41"/>
            <p:cNvSpPr txBox="1"/>
            <p:nvPr/>
          </p:nvSpPr>
          <p:spPr>
            <a:xfrm>
              <a:off x="6517005" y="3838575"/>
              <a:ext cx="3166557"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AI 네트워킹 성과 분석 PDF 보고서</a:t>
              </a:r>
            </a:p>
          </p:txBody>
        </p:sp>
        <p:sp>
          <p:nvSpPr>
            <p:cNvPr id="42" name="TextBox 42"/>
            <p:cNvSpPr txBox="1"/>
            <p:nvPr/>
          </p:nvSpPr>
          <p:spPr>
            <a:xfrm>
              <a:off x="6518910" y="4212431"/>
              <a:ext cx="3602086"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행사 종료 후 스폰서/주최자용 성과 리포트 자동 생성</a:t>
              </a:r>
            </a:p>
          </p:txBody>
        </p:sp>
        <p:sp>
          <p:nvSpPr>
            <p:cNvPr id="43" name="TextBox 43"/>
            <p:cNvSpPr txBox="1"/>
            <p:nvPr/>
          </p:nvSpPr>
          <p:spPr>
            <a:xfrm>
              <a:off x="6518910" y="4498181"/>
              <a:ext cx="370265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직군별 상보성 교류 히트맵 &amp; 부스 체류 인터랙션 분석</a:t>
              </a:r>
            </a:p>
          </p:txBody>
        </p:sp>
        <p:sp>
          <p:nvSpPr>
            <p:cNvPr id="44" name="TextBox 44"/>
            <p:cNvSpPr txBox="1"/>
            <p:nvPr/>
          </p:nvSpPr>
          <p:spPr>
            <a:xfrm>
              <a:off x="6518910" y="4783931"/>
              <a:ext cx="3409426"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스폰서 기업 대상 맞춤형 후속 리포팅 패키지 판매</a:t>
              </a:r>
            </a:p>
          </p:txBody>
        </p:sp>
        <p:sp>
          <p:nvSpPr>
            <p:cNvPr id="45" name="TextBox 45"/>
            <p:cNvSpPr txBox="1"/>
            <p:nvPr/>
          </p:nvSpPr>
          <p:spPr>
            <a:xfrm>
              <a:off x="6519672" y="5133499"/>
              <a:ext cx="2553886"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행사 ROI를 숫자로 입증하는 유일한 솔루션</a:t>
              </a:r>
            </a:p>
          </p:txBody>
        </p:sp>
      </p:grpSp>
      <p:grpSp>
        <p:nvGrpSpPr>
          <p:cNvPr id="50" name="bottom-takeaway"/>
          <p:cNvGrpSpPr/>
          <p:nvPr/>
        </p:nvGrpSpPr>
        <p:grpSpPr>
          <a:xfrm>
            <a:off x="762000" y="5762625"/>
            <a:ext cx="10668000" cy="552450"/>
            <a:chOff x="762000" y="5762625"/>
            <a:chExt cx="10668000" cy="552450"/>
          </a:xfrm>
        </p:grpSpPr>
        <p:sp>
          <p:nvSpPr>
            <p:cNvPr id="47" name="Rectangle 47"/>
            <p:cNvSpPr/>
            <p:nvPr/>
          </p:nvSpPr>
          <p:spPr>
            <a:xfrm>
              <a:off x="762000" y="5762625"/>
              <a:ext cx="10668000" cy="552450"/>
            </a:xfrm>
            <a:prstGeom prst="roundRect">
              <a:avLst>
                <a:gd name="adj" fmla="val 17241"/>
              </a:avLst>
            </a:prstGeom>
            <a:solidFill>
              <a:srgbClr val="131B2E"/>
            </a:solidFill>
            <a:ln w="9525">
              <a:solidFill>
                <a:schemeClr val="accent1"/>
              </a:solidFill>
            </a:ln>
          </p:spPr>
        </p:sp>
        <p:sp>
          <p:nvSpPr>
            <p:cNvPr id="48" name="Ellipse 48"/>
            <p:cNvSpPr/>
            <p:nvPr/>
          </p:nvSpPr>
          <p:spPr>
            <a:xfrm>
              <a:off x="981075" y="5972175"/>
              <a:ext cx="133350" cy="133350"/>
            </a:xfrm>
            <a:prstGeom prst="ellipse">
              <a:avLst/>
            </a:prstGeom>
            <a:solidFill>
              <a:schemeClr val="accent1"/>
            </a:solidFill>
            <a:ln>
              <a:noFill/>
            </a:ln>
          </p:spPr>
        </p:sp>
        <p:sp>
          <p:nvSpPr>
            <p:cNvPr id="49" name="TextBox 49"/>
            <p:cNvSpPr txBox="1"/>
            <p:nvPr/>
          </p:nvSpPr>
          <p:spPr>
            <a:xfrm>
              <a:off x="1232154" y="5956935"/>
              <a:ext cx="7170853"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수익성: 행사 1건당 $199~499 과금 구조로, 100개 행사 유치 시 연간 5천만 원 이상 안정적 매출 확보</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6881281" cy="962406"/>
            <a:chOff x="749808" y="428625"/>
            <a:chExt cx="6881281" cy="962406"/>
          </a:xfrm>
        </p:grpSpPr>
        <p:sp>
          <p:nvSpPr>
            <p:cNvPr id="2" name="Rectangle 2"/>
            <p:cNvSpPr/>
            <p:nvPr/>
          </p:nvSpPr>
          <p:spPr>
            <a:xfrm>
              <a:off x="762000" y="428625"/>
              <a:ext cx="1905000" cy="247650"/>
            </a:xfrm>
            <a:prstGeom prst="roundRect">
              <a:avLst>
                <a:gd name="adj" fmla="val 50000"/>
              </a:avLst>
            </a:prstGeom>
            <a:solidFill>
              <a:schemeClr val="accent5"/>
            </a:solidFill>
            <a:ln w="11430">
              <a:solidFill>
                <a:schemeClr val="accent2"/>
              </a:solidFill>
            </a:ln>
          </p:spPr>
        </p:sp>
        <p:sp>
          <p:nvSpPr>
            <p:cNvPr id="3" name="TextBox 3"/>
            <p:cNvSpPr txBox="1"/>
            <p:nvPr/>
          </p:nvSpPr>
          <p:spPr>
            <a:xfrm>
              <a:off x="763926" y="485299"/>
              <a:ext cx="1901148" cy="190690"/>
            </a:xfrm>
            <a:prstGeom prst="rect">
              <a:avLst/>
            </a:prstGeom>
            <a:noFill/>
            <a:ln>
              <a:noFill/>
            </a:ln>
          </p:spPr>
          <p:txBody>
            <a:bodyPr wrap="none" lIns="0" tIns="0" rIns="0" bIns="0" anchor="t" anchorCtr="0">
              <a:spAutoFit/>
            </a:bodyPr>
            <a:lstStyle/>
            <a:p>
              <a:pPr algn="ctr"/>
              <a:r>
                <a:rPr lang="en-US" sz="980" b="1" spc="75" dirty="0">
                  <a:solidFill>
                    <a:schemeClr val="accent2"/>
                  </a:solidFill>
                  <a:latin typeface="+mn-lt"/>
                  <a:ea typeface="+mn-ea"/>
                  <a:cs typeface="+mn-cs"/>
                </a:rPr>
                <a:t>07. MARKET EXPANSION</a:t>
              </a:r>
            </a:p>
          </p:txBody>
        </p:sp>
        <p:sp>
          <p:nvSpPr>
            <p:cNvPr id="4" name="TextBox 4"/>
            <p:cNvSpPr txBox="1"/>
            <p:nvPr/>
          </p:nvSpPr>
          <p:spPr>
            <a:xfrm>
              <a:off x="749808" y="741045"/>
              <a:ext cx="6881281"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해커톤에서 글로벌 컨퍼런스까지, 4대 시장 확장</a:t>
              </a:r>
            </a:p>
          </p:txBody>
        </p:sp>
        <p:sp>
          <p:nvSpPr>
            <p:cNvPr id="5" name="TextBox 5"/>
            <p:cNvSpPr txBox="1"/>
            <p:nvPr/>
          </p:nvSpPr>
          <p:spPr>
            <a:xfrm>
              <a:off x="755904" y="1156335"/>
              <a:ext cx="6039571"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오프라인에서 사람이 모이는 모든 공간에 Bside의 근거리 상보성 엔진이 적용됩니다.</a:t>
              </a:r>
            </a:p>
          </p:txBody>
        </p:sp>
      </p:grpSp>
      <p:grpSp>
        <p:nvGrpSpPr>
          <p:cNvPr id="39" name="vertical-tiles"/>
          <p:cNvGrpSpPr/>
          <p:nvPr/>
        </p:nvGrpSpPr>
        <p:grpSpPr>
          <a:xfrm>
            <a:off x="762000" y="1571625"/>
            <a:ext cx="10668000" cy="4000500"/>
            <a:chOff x="762000" y="1571625"/>
            <a:chExt cx="10668000" cy="4000500"/>
          </a:xfrm>
        </p:grpSpPr>
        <p:sp>
          <p:nvSpPr>
            <p:cNvPr id="7" name="Rectangle 7"/>
            <p:cNvSpPr/>
            <p:nvPr/>
          </p:nvSpPr>
          <p:spPr>
            <a:xfrm>
              <a:off x="762000" y="1571625"/>
              <a:ext cx="5143500" cy="1905000"/>
            </a:xfrm>
            <a:prstGeom prst="roundRect">
              <a:avLst>
                <a:gd name="adj" fmla="val 7000"/>
              </a:avLst>
            </a:prstGeom>
            <a:solidFill>
              <a:schemeClr val="accent5"/>
            </a:solidFill>
            <a:ln w="14288">
              <a:solidFill>
                <a:srgbClr val="1F2937"/>
              </a:solidFill>
            </a:ln>
          </p:spPr>
        </p:sp>
        <p:sp>
          <p:nvSpPr>
            <p:cNvPr id="8" name="Rectangle 8"/>
            <p:cNvSpPr/>
            <p:nvPr/>
          </p:nvSpPr>
          <p:spPr>
            <a:xfrm>
              <a:off x="762000" y="1571625"/>
              <a:ext cx="5143500" cy="38100"/>
            </a:xfrm>
            <a:prstGeom prst="roundRect">
              <a:avLst>
                <a:gd name="adj" fmla="val 50000"/>
              </a:avLst>
            </a:prstGeom>
            <a:solidFill>
              <a:schemeClr val="accent1"/>
            </a:solidFill>
            <a:ln>
              <a:noFill/>
            </a:ln>
          </p:spPr>
        </p:sp>
        <p:sp>
          <p:nvSpPr>
            <p:cNvPr id="9" name="Rectangle 9"/>
            <p:cNvSpPr/>
            <p:nvPr/>
          </p:nvSpPr>
          <p:spPr>
            <a:xfrm>
              <a:off x="1000125" y="1762125"/>
              <a:ext cx="1524000" cy="247650"/>
            </a:xfrm>
            <a:prstGeom prst="roundRect">
              <a:avLst>
                <a:gd name="adj" fmla="val 23077"/>
              </a:avLst>
            </a:prstGeom>
            <a:solidFill>
              <a:srgbClr val="1E293B"/>
            </a:solidFill>
            <a:ln>
              <a:noFill/>
            </a:ln>
          </p:spPr>
        </p:sp>
        <p:sp>
          <p:nvSpPr>
            <p:cNvPr id="10" name="TextBox 10"/>
            <p:cNvSpPr txBox="1"/>
            <p:nvPr/>
          </p:nvSpPr>
          <p:spPr>
            <a:xfrm>
              <a:off x="1138047" y="1818799"/>
              <a:ext cx="1588896"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VERTICAL 01 · 검증 완료</a:t>
              </a:r>
            </a:p>
          </p:txBody>
        </p:sp>
        <p:sp>
          <p:nvSpPr>
            <p:cNvPr id="11" name="TextBox 11"/>
            <p:cNvSpPr txBox="1"/>
            <p:nvPr/>
          </p:nvSpPr>
          <p:spPr>
            <a:xfrm>
              <a:off x="992505" y="2124075"/>
              <a:ext cx="2395595"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IT 컨퍼런스 &amp; 연합 해커톤</a:t>
              </a:r>
            </a:p>
          </p:txBody>
        </p:sp>
        <p:sp>
          <p:nvSpPr>
            <p:cNvPr id="12" name="TextBox 12"/>
            <p:cNvSpPr txBox="1"/>
            <p:nvPr/>
          </p:nvSpPr>
          <p:spPr>
            <a:xfrm>
              <a:off x="994410" y="2497931"/>
              <a:ext cx="334242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즉석 팀 빌딩: 백엔드 ↔ 프론트 ↔ 디자이너 결합</a:t>
              </a:r>
            </a:p>
          </p:txBody>
        </p:sp>
        <p:sp>
          <p:nvSpPr>
            <p:cNvPr id="13" name="TextBox 13"/>
            <p:cNvSpPr txBox="1"/>
            <p:nvPr/>
          </p:nvSpPr>
          <p:spPr>
            <a:xfrm>
              <a:off x="994410" y="2783681"/>
              <a:ext cx="3501519"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멘토-멘티 매칭: 기술 질문 보유자와 현직 멘토 연결</a:t>
              </a:r>
            </a:p>
          </p:txBody>
        </p:sp>
        <p:sp>
          <p:nvSpPr>
            <p:cNvPr id="14" name="TextBox 14"/>
            <p:cNvSpPr txBox="1"/>
            <p:nvPr/>
          </p:nvSpPr>
          <p:spPr>
            <a:xfrm>
              <a:off x="995172" y="3133249"/>
              <a:ext cx="2751256"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코쓱톤 46명 참가자 현장에서 효용성 즉시 검증</a:t>
              </a:r>
            </a:p>
          </p:txBody>
        </p:sp>
        <p:sp>
          <p:nvSpPr>
            <p:cNvPr id="15" name="Rectangle 15"/>
            <p:cNvSpPr/>
            <p:nvPr/>
          </p:nvSpPr>
          <p:spPr>
            <a:xfrm>
              <a:off x="6286500" y="1571625"/>
              <a:ext cx="5143500" cy="1905000"/>
            </a:xfrm>
            <a:prstGeom prst="roundRect">
              <a:avLst>
                <a:gd name="adj" fmla="val 7000"/>
              </a:avLst>
            </a:prstGeom>
            <a:solidFill>
              <a:schemeClr val="accent5"/>
            </a:solidFill>
            <a:ln w="14288">
              <a:solidFill>
                <a:srgbClr val="1F2937"/>
              </a:solidFill>
            </a:ln>
          </p:spPr>
        </p:sp>
        <p:sp>
          <p:nvSpPr>
            <p:cNvPr id="16" name="Rectangle 16"/>
            <p:cNvSpPr/>
            <p:nvPr/>
          </p:nvSpPr>
          <p:spPr>
            <a:xfrm>
              <a:off x="6286500" y="1571625"/>
              <a:ext cx="5143500" cy="38100"/>
            </a:xfrm>
            <a:prstGeom prst="roundRect">
              <a:avLst>
                <a:gd name="adj" fmla="val 50000"/>
              </a:avLst>
            </a:prstGeom>
            <a:solidFill>
              <a:schemeClr val="accent2"/>
            </a:solidFill>
            <a:ln>
              <a:noFill/>
            </a:ln>
          </p:spPr>
        </p:sp>
        <p:sp>
          <p:nvSpPr>
            <p:cNvPr id="17" name="Rectangle 17"/>
            <p:cNvSpPr/>
            <p:nvPr/>
          </p:nvSpPr>
          <p:spPr>
            <a:xfrm>
              <a:off x="6524625" y="1762125"/>
              <a:ext cx="1524000" cy="247650"/>
            </a:xfrm>
            <a:prstGeom prst="roundRect">
              <a:avLst>
                <a:gd name="adj" fmla="val 23077"/>
              </a:avLst>
            </a:prstGeom>
            <a:solidFill>
              <a:srgbClr val="1E293B"/>
            </a:solidFill>
            <a:ln>
              <a:noFill/>
            </a:ln>
          </p:spPr>
        </p:sp>
        <p:sp>
          <p:nvSpPr>
            <p:cNvPr id="18" name="TextBox 18"/>
            <p:cNvSpPr txBox="1"/>
            <p:nvPr/>
          </p:nvSpPr>
          <p:spPr>
            <a:xfrm>
              <a:off x="6662547" y="1818799"/>
              <a:ext cx="1588896"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VERTICAL 02 · 채용 연계</a:t>
              </a:r>
            </a:p>
          </p:txBody>
        </p:sp>
        <p:sp>
          <p:nvSpPr>
            <p:cNvPr id="19" name="TextBox 19"/>
            <p:cNvSpPr txBox="1"/>
            <p:nvPr/>
          </p:nvSpPr>
          <p:spPr>
            <a:xfrm>
              <a:off x="6517005" y="2124075"/>
              <a:ext cx="2404758"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기업 채용 박람회 &amp; 잡페어</a:t>
              </a:r>
            </a:p>
          </p:txBody>
        </p:sp>
        <p:sp>
          <p:nvSpPr>
            <p:cNvPr id="20" name="TextBox 20"/>
            <p:cNvSpPr txBox="1"/>
            <p:nvPr/>
          </p:nvSpPr>
          <p:spPr>
            <a:xfrm>
              <a:off x="6518910" y="2497931"/>
              <a:ext cx="3568373"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구직자(이력/고민) ↔ 채용 담당자(인재상) 상보 매칭</a:t>
              </a:r>
            </a:p>
          </p:txBody>
        </p:sp>
        <p:sp>
          <p:nvSpPr>
            <p:cNvPr id="21" name="TextBox 21"/>
            <p:cNvSpPr txBox="1"/>
            <p:nvPr/>
          </p:nvSpPr>
          <p:spPr>
            <a:xfrm>
              <a:off x="6518910" y="2783681"/>
              <a:ext cx="3635648"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부스 앞 줄서기 대신, 5m 내 타깃 구직자 조우 시 알림</a:t>
              </a:r>
            </a:p>
          </p:txBody>
        </p:sp>
        <p:sp>
          <p:nvSpPr>
            <p:cNvPr id="22" name="TextBox 22"/>
            <p:cNvSpPr txBox="1"/>
            <p:nvPr/>
          </p:nvSpPr>
          <p:spPr>
            <a:xfrm>
              <a:off x="6519672" y="3133249"/>
              <a:ext cx="2663260" cy="190690"/>
            </a:xfrm>
            <a:prstGeom prst="rect">
              <a:avLst/>
            </a:prstGeom>
            <a:noFill/>
            <a:ln>
              <a:noFill/>
            </a:ln>
          </p:spPr>
          <p:txBody>
            <a:bodyPr wrap="none" lIns="0" tIns="0" rIns="0" bIns="0" anchor="t" anchorCtr="0">
              <a:spAutoFit/>
            </a:bodyPr>
            <a:lstStyle/>
            <a:p>
              <a:pPr algn="l"/>
              <a:r>
                <a:rPr lang="ko-KR" sz="980" b="1" dirty="0">
                  <a:solidFill>
                    <a:schemeClr val="accent2"/>
                  </a:solidFill>
                  <a:latin typeface="+mn-lt"/>
                  <a:ea typeface="+mn-ea"/>
                  <a:cs typeface="+mn-cs"/>
                </a:rPr>
                <a:t>단순 홍보물 배포를 1:1 심층 커피챗으로 전환</a:t>
              </a:r>
            </a:p>
          </p:txBody>
        </p:sp>
        <p:sp>
          <p:nvSpPr>
            <p:cNvPr id="23" name="Rectangle 23"/>
            <p:cNvSpPr/>
            <p:nvPr/>
          </p:nvSpPr>
          <p:spPr>
            <a:xfrm>
              <a:off x="762000" y="3667125"/>
              <a:ext cx="5143500" cy="1905000"/>
            </a:xfrm>
            <a:prstGeom prst="roundRect">
              <a:avLst>
                <a:gd name="adj" fmla="val 7000"/>
              </a:avLst>
            </a:prstGeom>
            <a:solidFill>
              <a:schemeClr val="accent5"/>
            </a:solidFill>
            <a:ln w="14288">
              <a:solidFill>
                <a:srgbClr val="1F2937"/>
              </a:solidFill>
            </a:ln>
          </p:spPr>
        </p:sp>
        <p:sp>
          <p:nvSpPr>
            <p:cNvPr id="24" name="Rectangle 24"/>
            <p:cNvSpPr/>
            <p:nvPr/>
          </p:nvSpPr>
          <p:spPr>
            <a:xfrm>
              <a:off x="762000" y="3667125"/>
              <a:ext cx="5143500" cy="38100"/>
            </a:xfrm>
            <a:prstGeom prst="roundRect">
              <a:avLst>
                <a:gd name="adj" fmla="val 50000"/>
              </a:avLst>
            </a:prstGeom>
            <a:solidFill>
              <a:schemeClr val="accent3"/>
            </a:solidFill>
            <a:ln>
              <a:noFill/>
            </a:ln>
          </p:spPr>
        </p:sp>
        <p:sp>
          <p:nvSpPr>
            <p:cNvPr id="25" name="Rectangle 25"/>
            <p:cNvSpPr/>
            <p:nvPr/>
          </p:nvSpPr>
          <p:spPr>
            <a:xfrm>
              <a:off x="1000125" y="3857625"/>
              <a:ext cx="1524000" cy="247650"/>
            </a:xfrm>
            <a:prstGeom prst="roundRect">
              <a:avLst>
                <a:gd name="adj" fmla="val 23077"/>
              </a:avLst>
            </a:prstGeom>
            <a:solidFill>
              <a:srgbClr val="1E293B"/>
            </a:solidFill>
            <a:ln>
              <a:noFill/>
            </a:ln>
          </p:spPr>
        </p:sp>
        <p:sp>
          <p:nvSpPr>
            <p:cNvPr id="26" name="TextBox 26"/>
            <p:cNvSpPr txBox="1"/>
            <p:nvPr/>
          </p:nvSpPr>
          <p:spPr>
            <a:xfrm>
              <a:off x="1138047" y="3914299"/>
              <a:ext cx="1816101"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VERTICAL 03 · 엔터프라이즈</a:t>
              </a:r>
            </a:p>
          </p:txBody>
        </p:sp>
        <p:sp>
          <p:nvSpPr>
            <p:cNvPr id="27" name="TextBox 27"/>
            <p:cNvSpPr txBox="1"/>
            <p:nvPr/>
          </p:nvSpPr>
          <p:spPr>
            <a:xfrm>
              <a:off x="992505" y="4219575"/>
              <a:ext cx="2864715"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기업 사내 온보딩 &amp; 전사 워크숍</a:t>
              </a:r>
            </a:p>
          </p:txBody>
        </p:sp>
        <p:sp>
          <p:nvSpPr>
            <p:cNvPr id="28" name="TextBox 28"/>
            <p:cNvSpPr txBox="1"/>
            <p:nvPr/>
          </p:nvSpPr>
          <p:spPr>
            <a:xfrm>
              <a:off x="994410" y="4593431"/>
              <a:ext cx="3163748"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신규 입사자 온보딩: 부서 간 사일로(Silo) 타파</a:t>
              </a:r>
            </a:p>
          </p:txBody>
        </p:sp>
        <p:sp>
          <p:nvSpPr>
            <p:cNvPr id="29" name="TextBox 29"/>
            <p:cNvSpPr txBox="1"/>
            <p:nvPr/>
          </p:nvSpPr>
          <p:spPr>
            <a:xfrm>
              <a:off x="994410" y="4879181"/>
              <a:ext cx="325865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업무 질문자 ↔ 사내 도메인 전문가 비대칭 매핑</a:t>
              </a:r>
            </a:p>
          </p:txBody>
        </p:sp>
        <p:sp>
          <p:nvSpPr>
            <p:cNvPr id="30" name="TextBox 30"/>
            <p:cNvSpPr txBox="1"/>
            <p:nvPr/>
          </p:nvSpPr>
          <p:spPr>
            <a:xfrm>
              <a:off x="995172" y="5228749"/>
              <a:ext cx="2040351"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사내 네트워킹 안착 시간 60% 단축</a:t>
              </a:r>
            </a:p>
          </p:txBody>
        </p:sp>
        <p:sp>
          <p:nvSpPr>
            <p:cNvPr id="31" name="Rectangle 31"/>
            <p:cNvSpPr/>
            <p:nvPr/>
          </p:nvSpPr>
          <p:spPr>
            <a:xfrm>
              <a:off x="6286500" y="3667125"/>
              <a:ext cx="5143500" cy="1905000"/>
            </a:xfrm>
            <a:prstGeom prst="roundRect">
              <a:avLst>
                <a:gd name="adj" fmla="val 7000"/>
              </a:avLst>
            </a:prstGeom>
            <a:solidFill>
              <a:schemeClr val="accent5"/>
            </a:solidFill>
            <a:ln w="14288">
              <a:solidFill>
                <a:srgbClr val="1F2937"/>
              </a:solidFill>
            </a:ln>
          </p:spPr>
        </p:sp>
        <p:sp>
          <p:nvSpPr>
            <p:cNvPr id="32" name="Rectangle 32"/>
            <p:cNvSpPr/>
            <p:nvPr/>
          </p:nvSpPr>
          <p:spPr>
            <a:xfrm>
              <a:off x="6286500" y="3667125"/>
              <a:ext cx="5143500" cy="38100"/>
            </a:xfrm>
            <a:prstGeom prst="roundRect">
              <a:avLst>
                <a:gd name="adj" fmla="val 50000"/>
              </a:avLst>
            </a:prstGeom>
            <a:solidFill>
              <a:schemeClr val="accent1"/>
            </a:solidFill>
            <a:ln>
              <a:noFill/>
            </a:ln>
          </p:spPr>
        </p:sp>
        <p:sp>
          <p:nvSpPr>
            <p:cNvPr id="33" name="Rectangle 33"/>
            <p:cNvSpPr/>
            <p:nvPr/>
          </p:nvSpPr>
          <p:spPr>
            <a:xfrm>
              <a:off x="6524625" y="3857625"/>
              <a:ext cx="1524000" cy="247650"/>
            </a:xfrm>
            <a:prstGeom prst="roundRect">
              <a:avLst>
                <a:gd name="adj" fmla="val 23077"/>
              </a:avLst>
            </a:prstGeom>
            <a:solidFill>
              <a:srgbClr val="1E293B"/>
            </a:solidFill>
            <a:ln>
              <a:noFill/>
            </a:ln>
          </p:spPr>
        </p:sp>
        <p:sp>
          <p:nvSpPr>
            <p:cNvPr id="34" name="TextBox 34"/>
            <p:cNvSpPr txBox="1"/>
            <p:nvPr/>
          </p:nvSpPr>
          <p:spPr>
            <a:xfrm>
              <a:off x="6662547" y="3914299"/>
              <a:ext cx="1552246"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VERTICAL 04 · 아카데믹</a:t>
              </a:r>
            </a:p>
          </p:txBody>
        </p:sp>
        <p:sp>
          <p:nvSpPr>
            <p:cNvPr id="35" name="TextBox 35"/>
            <p:cNvSpPr txBox="1"/>
            <p:nvPr/>
          </p:nvSpPr>
          <p:spPr>
            <a:xfrm>
              <a:off x="6517005" y="4219575"/>
              <a:ext cx="2146732"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대학 캠퍼스 &amp; 학술대회</a:t>
              </a:r>
            </a:p>
          </p:txBody>
        </p:sp>
        <p:sp>
          <p:nvSpPr>
            <p:cNvPr id="36" name="TextBox 36"/>
            <p:cNvSpPr txBox="1"/>
            <p:nvPr/>
          </p:nvSpPr>
          <p:spPr>
            <a:xfrm>
              <a:off x="6518910" y="4593431"/>
              <a:ext cx="3359068"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학부생(관심 분야) ↔ 대학원 연구실 랩 투어 연결</a:t>
              </a:r>
            </a:p>
          </p:txBody>
        </p:sp>
        <p:sp>
          <p:nvSpPr>
            <p:cNvPr id="37" name="TextBox 37"/>
            <p:cNvSpPr txBox="1"/>
            <p:nvPr/>
          </p:nvSpPr>
          <p:spPr>
            <a:xfrm>
              <a:off x="6518910" y="4879181"/>
              <a:ext cx="3224152" cy="220028"/>
            </a:xfrm>
            <a:prstGeom prst="rect">
              <a:avLst/>
            </a:prstGeom>
            <a:noFill/>
            <a:ln>
              <a:noFill/>
            </a:ln>
          </p:spPr>
          <p:txBody>
            <a:bodyPr wrap="none" lIns="0" tIns="0" rIns="0" bIns="0" anchor="t" anchorCtr="0">
              <a:spAutoFit/>
            </a:bodyPr>
            <a:lstStyle/>
            <a:p>
              <a:pPr algn="l" marL="89312" indent="-89312">
                <a:buClr>
                  <a:schemeClr val="dk1"/>
                </a:buClr>
                <a:buSzTx/>
                <a:buFontTx/>
                <a:buChar char="•"/>
              </a:pPr>
              <a:r>
                <a:rPr lang="ko-KR" sz="1120" dirty="0">
                  <a:solidFill>
                    <a:schemeClr val="dk1"/>
                  </a:solidFill>
                  <a:latin typeface="+mn-lt"/>
                  <a:ea typeface="+mn-ea"/>
                  <a:cs typeface="+mn-cs"/>
                </a:rPr>
                <a:t>다학제 융합 연구 파트너(AI ↔ 바이오 등) 매칭</a:t>
              </a:r>
            </a:p>
          </p:txBody>
        </p:sp>
        <p:sp>
          <p:nvSpPr>
            <p:cNvPr id="38" name="TextBox 38"/>
            <p:cNvSpPr txBox="1"/>
            <p:nvPr/>
          </p:nvSpPr>
          <p:spPr>
            <a:xfrm>
              <a:off x="6519672" y="5228749"/>
              <a:ext cx="2604500"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대규모 학회 참가자의 실질적 공동 연구 촉진</a:t>
              </a:r>
            </a:p>
          </p:txBody>
        </p:sp>
      </p:grpSp>
      <p:grpSp>
        <p:nvGrpSpPr>
          <p:cNvPr id="43" name="bottom-market-banner"/>
          <p:cNvGrpSpPr/>
          <p:nvPr/>
        </p:nvGrpSpPr>
        <p:grpSpPr>
          <a:xfrm>
            <a:off x="762000" y="5762625"/>
            <a:ext cx="10668000" cy="552450"/>
            <a:chOff x="762000" y="5762625"/>
            <a:chExt cx="10668000" cy="552450"/>
          </a:xfrm>
        </p:grpSpPr>
        <p:sp>
          <p:nvSpPr>
            <p:cNvPr id="40" name="Rectangle 40"/>
            <p:cNvSpPr/>
            <p:nvPr/>
          </p:nvSpPr>
          <p:spPr>
            <a:xfrm>
              <a:off x="762000" y="5762625"/>
              <a:ext cx="10668000" cy="552450"/>
            </a:xfrm>
            <a:prstGeom prst="roundRect">
              <a:avLst>
                <a:gd name="adj" fmla="val 17241"/>
              </a:avLst>
            </a:prstGeom>
            <a:solidFill>
              <a:srgbClr val="131B2E"/>
            </a:solidFill>
            <a:ln w="9525">
              <a:solidFill>
                <a:schemeClr val="accent2"/>
              </a:solidFill>
            </a:ln>
          </p:spPr>
        </p:sp>
        <p:sp>
          <p:nvSpPr>
            <p:cNvPr id="41" name="Ellipse 41"/>
            <p:cNvSpPr/>
            <p:nvPr/>
          </p:nvSpPr>
          <p:spPr>
            <a:xfrm>
              <a:off x="981075" y="5972175"/>
              <a:ext cx="133350" cy="133350"/>
            </a:xfrm>
            <a:prstGeom prst="ellipse">
              <a:avLst/>
            </a:prstGeom>
            <a:solidFill>
              <a:schemeClr val="accent2"/>
            </a:solidFill>
            <a:ln>
              <a:noFill/>
            </a:ln>
          </p:spPr>
        </p:sp>
        <p:sp>
          <p:nvSpPr>
            <p:cNvPr id="42" name="TextBox 42"/>
            <p:cNvSpPr txBox="1"/>
            <p:nvPr/>
          </p:nvSpPr>
          <p:spPr>
            <a:xfrm>
              <a:off x="1232154" y="5956935"/>
              <a:ext cx="6657601"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시장 기회: 글로벌 B2B 이벤트 테크 시장 CAGR 23.4% 급성장 — 2028년 12조 원 규모 진입</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group"/>
          <p:cNvGrpSpPr/>
          <p:nvPr/>
        </p:nvGrpSpPr>
        <p:grpSpPr>
          <a:xfrm>
            <a:off x="749808" y="428625"/>
            <a:ext cx="8116094" cy="962406"/>
            <a:chOff x="749808" y="428625"/>
            <a:chExt cx="8116094" cy="962406"/>
          </a:xfrm>
        </p:grpSpPr>
        <p:sp>
          <p:nvSpPr>
            <p:cNvPr id="2" name="Rectangle 2"/>
            <p:cNvSpPr/>
            <p:nvPr/>
          </p:nvSpPr>
          <p:spPr>
            <a:xfrm>
              <a:off x="762000" y="428625"/>
              <a:ext cx="1428750" cy="247650"/>
            </a:xfrm>
            <a:prstGeom prst="roundRect">
              <a:avLst>
                <a:gd name="adj" fmla="val 50000"/>
              </a:avLst>
            </a:prstGeom>
            <a:solidFill>
              <a:schemeClr val="accent5"/>
            </a:solidFill>
            <a:ln w="11430">
              <a:solidFill>
                <a:schemeClr val="accent1"/>
              </a:solidFill>
            </a:ln>
          </p:spPr>
        </p:sp>
        <p:sp>
          <p:nvSpPr>
            <p:cNvPr id="3" name="TextBox 3"/>
            <p:cNvSpPr txBox="1"/>
            <p:nvPr/>
          </p:nvSpPr>
          <p:spPr>
            <a:xfrm>
              <a:off x="941727" y="485299"/>
              <a:ext cx="1069296" cy="190690"/>
            </a:xfrm>
            <a:prstGeom prst="rect">
              <a:avLst/>
            </a:prstGeom>
            <a:noFill/>
            <a:ln>
              <a:noFill/>
            </a:ln>
          </p:spPr>
          <p:txBody>
            <a:bodyPr wrap="none" lIns="0" tIns="0" rIns="0" bIns="0" anchor="t" anchorCtr="0">
              <a:spAutoFit/>
            </a:bodyPr>
            <a:lstStyle/>
            <a:p>
              <a:pPr algn="ctr"/>
              <a:r>
                <a:rPr lang="en-US" sz="980" b="1" spc="75" dirty="0">
                  <a:solidFill>
                    <a:schemeClr val="accent1"/>
                  </a:solidFill>
                  <a:latin typeface="+mn-lt"/>
                  <a:ea typeface="+mn-ea"/>
                  <a:cs typeface="+mn-cs"/>
                </a:rPr>
                <a:t>08. ROADMAP</a:t>
              </a:r>
            </a:p>
          </p:txBody>
        </p:sp>
        <p:sp>
          <p:nvSpPr>
            <p:cNvPr id="4" name="TextBox 4"/>
            <p:cNvSpPr txBox="1"/>
            <p:nvPr/>
          </p:nvSpPr>
          <p:spPr>
            <a:xfrm>
              <a:off x="749808" y="741045"/>
              <a:ext cx="8116094" cy="469392"/>
            </a:xfrm>
            <a:prstGeom prst="rect">
              <a:avLst/>
            </a:prstGeom>
            <a:noFill/>
            <a:ln>
              <a:noFill/>
            </a:ln>
          </p:spPr>
          <p:txBody>
            <a:bodyPr wrap="none" lIns="0" tIns="0" rIns="0" bIns="0" anchor="t" anchorCtr="0">
              <a:spAutoFit/>
            </a:bodyPr>
            <a:lstStyle/>
            <a:p>
              <a:pPr algn="l"/>
              <a:r>
                <a:rPr lang="ko-KR" sz="2400" b="1" dirty="0">
                  <a:solidFill>
                    <a:srgbClr val="FFFFFF"/>
                  </a:solidFill>
                  <a:latin typeface="+mn-lt"/>
                  <a:ea typeface="+mn-ea"/>
                  <a:cs typeface="+mn-cs"/>
                </a:rPr>
                <a:t>실행 로드맵: PoC에서 글로벌 B2B 이벤트 테크 SaaS로</a:t>
              </a:r>
            </a:p>
          </p:txBody>
        </p:sp>
        <p:sp>
          <p:nvSpPr>
            <p:cNvPr id="5" name="TextBox 5"/>
            <p:cNvSpPr txBox="1"/>
            <p:nvPr/>
          </p:nvSpPr>
          <p:spPr>
            <a:xfrm>
              <a:off x="755904" y="1156335"/>
              <a:ext cx="6482966" cy="234696"/>
            </a:xfrm>
            <a:prstGeom prst="rect">
              <a:avLst/>
            </a:prstGeom>
            <a:noFill/>
            <a:ln>
              <a:noFill/>
            </a:ln>
          </p:spPr>
          <p:txBody>
            <a:bodyPr wrap="none" lIns="0" tIns="0" rIns="0" bIns="0" anchor="t" anchorCtr="0">
              <a:spAutoFit/>
            </a:bodyPr>
            <a:lstStyle/>
            <a:p>
              <a:pPr algn="l"/>
              <a:r>
                <a:rPr lang="ko-KR" sz="1200" dirty="0">
                  <a:solidFill>
                    <a:schemeClr val="accent6"/>
                  </a:solidFill>
                  <a:latin typeface="+mn-lt"/>
                  <a:ea typeface="+mn-ea"/>
                  <a:cs typeface="+mn-cs"/>
                </a:rPr>
                <a:t>단단한 기술 검증을 시작으로 비즈니스 수익 모델과 글로벌 플랫폼으로 단계별 확장합니다.</a:t>
              </a:r>
            </a:p>
          </p:txBody>
        </p:sp>
      </p:grpSp>
      <p:grpSp>
        <p:nvGrpSpPr>
          <p:cNvPr id="55" name="roadmap-cards"/>
          <p:cNvGrpSpPr/>
          <p:nvPr/>
        </p:nvGrpSpPr>
        <p:grpSpPr>
          <a:xfrm>
            <a:off x="762000" y="1666875"/>
            <a:ext cx="10668000" cy="3857625"/>
            <a:chOff x="762000" y="1666875"/>
            <a:chExt cx="10668000" cy="3857625"/>
          </a:xfrm>
        </p:grpSpPr>
        <p:sp>
          <p:nvSpPr>
            <p:cNvPr id="7" name="Rectangle 7"/>
            <p:cNvSpPr/>
            <p:nvPr/>
          </p:nvSpPr>
          <p:spPr>
            <a:xfrm>
              <a:off x="762000" y="1666875"/>
              <a:ext cx="3333750" cy="3857625"/>
            </a:xfrm>
            <a:prstGeom prst="roundRect">
              <a:avLst>
                <a:gd name="adj" fmla="val 4000"/>
              </a:avLst>
            </a:prstGeom>
            <a:solidFill>
              <a:schemeClr val="accent5"/>
            </a:solidFill>
            <a:ln w="14288">
              <a:solidFill>
                <a:srgbClr val="1F2937"/>
              </a:solidFill>
            </a:ln>
          </p:spPr>
        </p:sp>
        <p:sp>
          <p:nvSpPr>
            <p:cNvPr id="8" name="Rectangle 8"/>
            <p:cNvSpPr/>
            <p:nvPr/>
          </p:nvSpPr>
          <p:spPr>
            <a:xfrm>
              <a:off x="762000" y="1666875"/>
              <a:ext cx="3333750" cy="47625"/>
            </a:xfrm>
            <a:prstGeom prst="roundRect">
              <a:avLst>
                <a:gd name="adj" fmla="val 50000"/>
              </a:avLst>
            </a:prstGeom>
            <a:solidFill>
              <a:schemeClr val="accent1"/>
            </a:solidFill>
            <a:ln>
              <a:noFill/>
            </a:ln>
          </p:spPr>
        </p:sp>
        <p:sp>
          <p:nvSpPr>
            <p:cNvPr id="9" name="Rectangle 9"/>
            <p:cNvSpPr/>
            <p:nvPr/>
          </p:nvSpPr>
          <p:spPr>
            <a:xfrm>
              <a:off x="1000125" y="1905000"/>
              <a:ext cx="1428750" cy="247650"/>
            </a:xfrm>
            <a:prstGeom prst="roundRect">
              <a:avLst>
                <a:gd name="adj" fmla="val 23077"/>
              </a:avLst>
            </a:prstGeom>
            <a:solidFill>
              <a:srgbClr val="1E293B"/>
            </a:solidFill>
            <a:ln>
              <a:noFill/>
            </a:ln>
          </p:spPr>
        </p:sp>
        <p:sp>
          <p:nvSpPr>
            <p:cNvPr id="10" name="TextBox 10"/>
            <p:cNvSpPr txBox="1"/>
            <p:nvPr/>
          </p:nvSpPr>
          <p:spPr>
            <a:xfrm>
              <a:off x="1138047" y="1961674"/>
              <a:ext cx="1729290"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PHASE 1 · CURRENT (Q3)</a:t>
              </a:r>
            </a:p>
          </p:txBody>
        </p:sp>
        <p:sp>
          <p:nvSpPr>
            <p:cNvPr id="11" name="TextBox 11"/>
            <p:cNvSpPr txBox="1"/>
            <p:nvPr/>
          </p:nvSpPr>
          <p:spPr>
            <a:xfrm>
              <a:off x="991743" y="2250758"/>
              <a:ext cx="2210504"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v0.1 해커톤 PoC 실증</a:t>
              </a:r>
            </a:p>
          </p:txBody>
        </p:sp>
        <p:sp>
          <p:nvSpPr>
            <p:cNvPr id="12" name="Rectangle 12"/>
            <p:cNvSpPr/>
            <p:nvPr/>
          </p:nvSpPr>
          <p:spPr>
            <a:xfrm>
              <a:off x="1000125" y="2619375"/>
              <a:ext cx="2857500" cy="523875"/>
            </a:xfrm>
            <a:prstGeom prst="roundRect">
              <a:avLst>
                <a:gd name="adj" fmla="val 10909"/>
              </a:avLst>
            </a:prstGeom>
            <a:solidFill>
              <a:srgbClr val="1E293B"/>
            </a:solidFill>
            <a:ln>
              <a:noFill/>
            </a:ln>
          </p:spPr>
        </p:sp>
        <p:sp>
          <p:nvSpPr>
            <p:cNvPr id="13" name="TextBox 13"/>
            <p:cNvSpPr txBox="1"/>
            <p:nvPr/>
          </p:nvSpPr>
          <p:spPr>
            <a:xfrm>
              <a:off x="1137285" y="2717006"/>
              <a:ext cx="2255783" cy="220028"/>
            </a:xfrm>
            <a:prstGeom prst="rect">
              <a:avLst/>
            </a:prstGeom>
            <a:noFill/>
            <a:ln>
              <a:noFill/>
            </a:ln>
          </p:spPr>
          <p:txBody>
            <a:bodyPr wrap="none" lIns="0" tIns="0" rIns="0" bIns="0" anchor="t" anchorCtr="0">
              <a:spAutoFit/>
            </a:bodyPr>
            <a:lstStyle/>
            <a:p>
              <a:pPr algn="l"/>
              <a:r>
                <a:rPr lang="ko-KR" sz="1120" b="1" dirty="0">
                  <a:solidFill>
                    <a:schemeClr val="accent1"/>
                  </a:solidFill>
                  <a:latin typeface="+mn-lt"/>
                  <a:ea typeface="+mn-ea"/>
                  <a:cs typeface="+mn-cs"/>
                </a:rPr>
                <a:t>모바일 웹 PWA 기반 초경량 진입</a:t>
              </a:r>
            </a:p>
          </p:txBody>
        </p:sp>
        <p:sp>
          <p:nvSpPr>
            <p:cNvPr id="14" name="TextBox 14"/>
            <p:cNvSpPr txBox="1"/>
            <p:nvPr/>
          </p:nvSpPr>
          <p:spPr>
            <a:xfrm>
              <a:off x="1138047" y="2923699"/>
              <a:ext cx="1665047"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QR 스캔 3초 세션 참가 구현</a:t>
              </a:r>
            </a:p>
          </p:txBody>
        </p:sp>
        <p:sp>
          <p:nvSpPr>
            <p:cNvPr id="15" name="Rectangle 15"/>
            <p:cNvSpPr/>
            <p:nvPr/>
          </p:nvSpPr>
          <p:spPr>
            <a:xfrm>
              <a:off x="1000125" y="3238500"/>
              <a:ext cx="2857500" cy="523875"/>
            </a:xfrm>
            <a:prstGeom prst="roundRect">
              <a:avLst>
                <a:gd name="adj" fmla="val 10909"/>
              </a:avLst>
            </a:prstGeom>
            <a:solidFill>
              <a:srgbClr val="1E293B"/>
            </a:solidFill>
            <a:ln>
              <a:noFill/>
            </a:ln>
          </p:spPr>
        </p:sp>
        <p:sp>
          <p:nvSpPr>
            <p:cNvPr id="16" name="TextBox 16"/>
            <p:cNvSpPr txBox="1"/>
            <p:nvPr/>
          </p:nvSpPr>
          <p:spPr>
            <a:xfrm>
              <a:off x="1137285" y="3336131"/>
              <a:ext cx="1850765" cy="220028"/>
            </a:xfrm>
            <a:prstGeom prst="rect">
              <a:avLst/>
            </a:prstGeom>
            <a:noFill/>
            <a:ln>
              <a:noFill/>
            </a:ln>
          </p:spPr>
          <p:txBody>
            <a:bodyPr wrap="none" lIns="0" tIns="0" rIns="0" bIns="0" anchor="t" anchorCtr="0">
              <a:spAutoFit/>
            </a:bodyPr>
            <a:lstStyle/>
            <a:p>
              <a:pPr algn="l"/>
              <a:r>
                <a:rPr lang="ko-KR" sz="1120" b="1" dirty="0">
                  <a:solidFill>
                    <a:schemeClr val="accent1"/>
                  </a:solidFill>
                  <a:latin typeface="+mn-lt"/>
                  <a:ea typeface="+mn-ea"/>
                  <a:cs typeface="+mn-cs"/>
                </a:rPr>
                <a:t>비대칭 상보성 AI 매칭 엔진</a:t>
              </a:r>
            </a:p>
          </p:txBody>
        </p:sp>
        <p:sp>
          <p:nvSpPr>
            <p:cNvPr id="17" name="TextBox 17"/>
            <p:cNvSpPr txBox="1"/>
            <p:nvPr/>
          </p:nvSpPr>
          <p:spPr>
            <a:xfrm>
              <a:off x="1138047" y="3542824"/>
              <a:ext cx="1815332"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Need-Give 벡터 결합 매트릭스</a:t>
              </a:r>
            </a:p>
          </p:txBody>
        </p:sp>
        <p:sp>
          <p:nvSpPr>
            <p:cNvPr id="18" name="Rectangle 18"/>
            <p:cNvSpPr/>
            <p:nvPr/>
          </p:nvSpPr>
          <p:spPr>
            <a:xfrm>
              <a:off x="1000125" y="3857625"/>
              <a:ext cx="2857500" cy="523875"/>
            </a:xfrm>
            <a:prstGeom prst="roundRect">
              <a:avLst>
                <a:gd name="adj" fmla="val 10909"/>
              </a:avLst>
            </a:prstGeom>
            <a:solidFill>
              <a:srgbClr val="1E293B"/>
            </a:solidFill>
            <a:ln>
              <a:noFill/>
            </a:ln>
          </p:spPr>
        </p:sp>
        <p:sp>
          <p:nvSpPr>
            <p:cNvPr id="19" name="TextBox 19"/>
            <p:cNvSpPr txBox="1"/>
            <p:nvPr/>
          </p:nvSpPr>
          <p:spPr>
            <a:xfrm>
              <a:off x="1137285" y="3955256"/>
              <a:ext cx="1494055" cy="220028"/>
            </a:xfrm>
            <a:prstGeom prst="rect">
              <a:avLst/>
            </a:prstGeom>
            <a:noFill/>
            <a:ln>
              <a:noFill/>
            </a:ln>
          </p:spPr>
          <p:txBody>
            <a:bodyPr wrap="none" lIns="0" tIns="0" rIns="0" bIns="0" anchor="t" anchorCtr="0">
              <a:spAutoFit/>
            </a:bodyPr>
            <a:lstStyle/>
            <a:p>
              <a:pPr algn="l"/>
              <a:r>
                <a:rPr lang="ko-KR" sz="1120" b="1" dirty="0">
                  <a:solidFill>
                    <a:schemeClr val="accent1"/>
                  </a:solidFill>
                  <a:latin typeface="+mn-lt"/>
                  <a:ea typeface="+mn-ea"/>
                  <a:cs typeface="+mn-cs"/>
                </a:rPr>
                <a:t>코쓱톤 현장 실증 완료</a:t>
              </a:r>
            </a:p>
          </p:txBody>
        </p:sp>
        <p:sp>
          <p:nvSpPr>
            <p:cNvPr id="20" name="TextBox 20"/>
            <p:cNvSpPr txBox="1"/>
            <p:nvPr/>
          </p:nvSpPr>
          <p:spPr>
            <a:xfrm>
              <a:off x="1138047" y="4161949"/>
              <a:ext cx="1754464"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참가자 46명 대상 데이터 검증</a:t>
              </a:r>
            </a:p>
          </p:txBody>
        </p:sp>
        <p:sp>
          <p:nvSpPr>
            <p:cNvPr id="21" name="Rectangle 21"/>
            <p:cNvSpPr/>
            <p:nvPr/>
          </p:nvSpPr>
          <p:spPr>
            <a:xfrm>
              <a:off x="1000125" y="5000625"/>
              <a:ext cx="2857500" cy="304800"/>
            </a:xfrm>
            <a:prstGeom prst="roundRect">
              <a:avLst>
                <a:gd name="adj" fmla="val 18750"/>
              </a:avLst>
            </a:prstGeom>
            <a:solidFill>
              <a:srgbClr val="13241F"/>
            </a:solidFill>
            <a:ln w="9525">
              <a:solidFill>
                <a:srgbClr val="1F4D3C"/>
              </a:solidFill>
            </a:ln>
          </p:spPr>
        </p:sp>
        <p:sp>
          <p:nvSpPr>
            <p:cNvPr id="22" name="TextBox 22"/>
            <p:cNvSpPr txBox="1"/>
            <p:nvPr/>
          </p:nvSpPr>
          <p:spPr>
            <a:xfrm>
              <a:off x="1431180" y="5095399"/>
              <a:ext cx="1995390" cy="190690"/>
            </a:xfrm>
            <a:prstGeom prst="rect">
              <a:avLst/>
            </a:prstGeom>
            <a:noFill/>
            <a:ln>
              <a:noFill/>
            </a:ln>
          </p:spPr>
          <p:txBody>
            <a:bodyPr wrap="none" lIns="0" tIns="0" rIns="0" bIns="0" anchor="t" anchorCtr="0">
              <a:spAutoFit/>
            </a:bodyPr>
            <a:lstStyle/>
            <a:p>
              <a:pPr algn="ctr"/>
              <a:r>
                <a:rPr lang="ko-KR" sz="980" b="1" dirty="0">
                  <a:solidFill>
                    <a:schemeClr val="accent1"/>
                  </a:solidFill>
                  <a:latin typeface="+mn-lt"/>
                  <a:ea typeface="+mn-ea"/>
                  <a:cs typeface="+mn-cs"/>
                </a:rPr>
                <a:t>달성 완료: 핵심 기술 가설 입증 ✅</a:t>
              </a:r>
            </a:p>
          </p:txBody>
        </p:sp>
        <p:sp>
          <p:nvSpPr>
            <p:cNvPr id="23" name="Rectangle 23"/>
            <p:cNvSpPr/>
            <p:nvPr/>
          </p:nvSpPr>
          <p:spPr>
            <a:xfrm>
              <a:off x="4429125" y="1666875"/>
              <a:ext cx="3333750" cy="3857625"/>
            </a:xfrm>
            <a:prstGeom prst="roundRect">
              <a:avLst>
                <a:gd name="adj" fmla="val 4000"/>
              </a:avLst>
            </a:prstGeom>
            <a:solidFill>
              <a:schemeClr val="accent5"/>
            </a:solidFill>
            <a:ln w="14288">
              <a:solidFill>
                <a:srgbClr val="1F2937"/>
              </a:solidFill>
            </a:ln>
          </p:spPr>
        </p:sp>
        <p:sp>
          <p:nvSpPr>
            <p:cNvPr id="24" name="Rectangle 24"/>
            <p:cNvSpPr/>
            <p:nvPr/>
          </p:nvSpPr>
          <p:spPr>
            <a:xfrm>
              <a:off x="4429125" y="1666875"/>
              <a:ext cx="3333750" cy="47625"/>
            </a:xfrm>
            <a:prstGeom prst="roundRect">
              <a:avLst>
                <a:gd name="adj" fmla="val 50000"/>
              </a:avLst>
            </a:prstGeom>
            <a:solidFill>
              <a:schemeClr val="accent2"/>
            </a:solidFill>
            <a:ln>
              <a:noFill/>
            </a:ln>
          </p:spPr>
        </p:sp>
        <p:sp>
          <p:nvSpPr>
            <p:cNvPr id="25" name="Rectangle 25"/>
            <p:cNvSpPr/>
            <p:nvPr/>
          </p:nvSpPr>
          <p:spPr>
            <a:xfrm>
              <a:off x="4667250" y="1905000"/>
              <a:ext cx="1428750" cy="247650"/>
            </a:xfrm>
            <a:prstGeom prst="roundRect">
              <a:avLst>
                <a:gd name="adj" fmla="val 23077"/>
              </a:avLst>
            </a:prstGeom>
            <a:solidFill>
              <a:srgbClr val="1E293B"/>
            </a:solidFill>
            <a:ln>
              <a:noFill/>
            </a:ln>
          </p:spPr>
        </p:sp>
        <p:sp>
          <p:nvSpPr>
            <p:cNvPr id="26" name="TextBox 26"/>
            <p:cNvSpPr txBox="1"/>
            <p:nvPr/>
          </p:nvSpPr>
          <p:spPr>
            <a:xfrm>
              <a:off x="4805172" y="1961674"/>
              <a:ext cx="1265104"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PHASE 2 · 2026 Q4</a:t>
              </a:r>
            </a:p>
          </p:txBody>
        </p:sp>
        <p:sp>
          <p:nvSpPr>
            <p:cNvPr id="27" name="TextBox 27"/>
            <p:cNvSpPr txBox="1"/>
            <p:nvPr/>
          </p:nvSpPr>
          <p:spPr>
            <a:xfrm>
              <a:off x="4658868" y="2250758"/>
              <a:ext cx="2226957"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v0.2 B2B 주최자 콘솔</a:t>
              </a:r>
            </a:p>
          </p:txBody>
        </p:sp>
        <p:sp>
          <p:nvSpPr>
            <p:cNvPr id="28" name="Rectangle 28"/>
            <p:cNvSpPr/>
            <p:nvPr/>
          </p:nvSpPr>
          <p:spPr>
            <a:xfrm>
              <a:off x="4667250" y="2619375"/>
              <a:ext cx="2857500" cy="523875"/>
            </a:xfrm>
            <a:prstGeom prst="roundRect">
              <a:avLst>
                <a:gd name="adj" fmla="val 10909"/>
              </a:avLst>
            </a:prstGeom>
            <a:solidFill>
              <a:srgbClr val="1E293B"/>
            </a:solidFill>
            <a:ln>
              <a:noFill/>
            </a:ln>
          </p:spPr>
        </p:sp>
        <p:sp>
          <p:nvSpPr>
            <p:cNvPr id="29" name="TextBox 29"/>
            <p:cNvSpPr txBox="1"/>
            <p:nvPr/>
          </p:nvSpPr>
          <p:spPr>
            <a:xfrm>
              <a:off x="4804410" y="2717006"/>
              <a:ext cx="1946378" cy="220028"/>
            </a:xfrm>
            <a:prstGeom prst="rect">
              <a:avLst/>
            </a:prstGeom>
            <a:noFill/>
            <a:ln>
              <a:noFill/>
            </a:ln>
          </p:spPr>
          <p:txBody>
            <a:bodyPr wrap="none" lIns="0" tIns="0" rIns="0" bIns="0" anchor="t" anchorCtr="0">
              <a:spAutoFit/>
            </a:bodyPr>
            <a:lstStyle/>
            <a:p>
              <a:pPr algn="l"/>
              <a:r>
                <a:rPr lang="ko-KR" sz="1120" b="1" dirty="0">
                  <a:solidFill>
                    <a:schemeClr val="accent2"/>
                  </a:solidFill>
                  <a:latin typeface="+mn-lt"/>
                  <a:ea typeface="+mn-ea"/>
                  <a:cs typeface="+mn-cs"/>
                </a:rPr>
                <a:t>주최자 실시간 관제 대시보드</a:t>
              </a:r>
            </a:p>
          </p:txBody>
        </p:sp>
        <p:sp>
          <p:nvSpPr>
            <p:cNvPr id="30" name="TextBox 30"/>
            <p:cNvSpPr txBox="1"/>
            <p:nvPr/>
          </p:nvSpPr>
          <p:spPr>
            <a:xfrm>
              <a:off x="4805172" y="2923699"/>
              <a:ext cx="177628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참여율, 교류 밀도 실시간 차트</a:t>
              </a:r>
            </a:p>
          </p:txBody>
        </p:sp>
        <p:sp>
          <p:nvSpPr>
            <p:cNvPr id="31" name="Rectangle 31"/>
            <p:cNvSpPr/>
            <p:nvPr/>
          </p:nvSpPr>
          <p:spPr>
            <a:xfrm>
              <a:off x="4667250" y="3238500"/>
              <a:ext cx="2857500" cy="523875"/>
            </a:xfrm>
            <a:prstGeom prst="roundRect">
              <a:avLst>
                <a:gd name="adj" fmla="val 10909"/>
              </a:avLst>
            </a:prstGeom>
            <a:solidFill>
              <a:srgbClr val="1E293B"/>
            </a:solidFill>
            <a:ln>
              <a:noFill/>
            </a:ln>
          </p:spPr>
        </p:sp>
        <p:sp>
          <p:nvSpPr>
            <p:cNvPr id="32" name="TextBox 32"/>
            <p:cNvSpPr txBox="1"/>
            <p:nvPr/>
          </p:nvSpPr>
          <p:spPr>
            <a:xfrm>
              <a:off x="4804410" y="3336131"/>
              <a:ext cx="1867834" cy="220028"/>
            </a:xfrm>
            <a:prstGeom prst="rect">
              <a:avLst/>
            </a:prstGeom>
            <a:noFill/>
            <a:ln>
              <a:noFill/>
            </a:ln>
          </p:spPr>
          <p:txBody>
            <a:bodyPr wrap="none" lIns="0" tIns="0" rIns="0" bIns="0" anchor="t" anchorCtr="0">
              <a:spAutoFit/>
            </a:bodyPr>
            <a:lstStyle/>
            <a:p>
              <a:pPr algn="l"/>
              <a:r>
                <a:rPr lang="ko-KR" sz="1120" b="1" dirty="0">
                  <a:solidFill>
                    <a:schemeClr val="accent2"/>
                  </a:solidFill>
                  <a:latin typeface="+mn-lt"/>
                  <a:ea typeface="+mn-ea"/>
                  <a:cs typeface="+mn-cs"/>
                </a:rPr>
                <a:t>AI 네트워킹 성과 분석 PDF</a:t>
              </a:r>
            </a:p>
          </p:txBody>
        </p:sp>
        <p:sp>
          <p:nvSpPr>
            <p:cNvPr id="33" name="TextBox 33"/>
            <p:cNvSpPr txBox="1"/>
            <p:nvPr/>
          </p:nvSpPr>
          <p:spPr>
            <a:xfrm>
              <a:off x="4805172" y="3542824"/>
              <a:ext cx="2003490"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스폰서 및 주최자용 보고서 자동화</a:t>
              </a:r>
            </a:p>
          </p:txBody>
        </p:sp>
        <p:sp>
          <p:nvSpPr>
            <p:cNvPr id="34" name="Rectangle 34"/>
            <p:cNvSpPr/>
            <p:nvPr/>
          </p:nvSpPr>
          <p:spPr>
            <a:xfrm>
              <a:off x="4667250" y="3857625"/>
              <a:ext cx="2857500" cy="523875"/>
            </a:xfrm>
            <a:prstGeom prst="roundRect">
              <a:avLst>
                <a:gd name="adj" fmla="val 10909"/>
              </a:avLst>
            </a:prstGeom>
            <a:solidFill>
              <a:srgbClr val="1E293B"/>
            </a:solidFill>
            <a:ln>
              <a:noFill/>
            </a:ln>
          </p:spPr>
        </p:sp>
        <p:sp>
          <p:nvSpPr>
            <p:cNvPr id="35" name="TextBox 35"/>
            <p:cNvSpPr txBox="1"/>
            <p:nvPr/>
          </p:nvSpPr>
          <p:spPr>
            <a:xfrm>
              <a:off x="4804410" y="3955256"/>
              <a:ext cx="1686715" cy="220028"/>
            </a:xfrm>
            <a:prstGeom prst="rect">
              <a:avLst/>
            </a:prstGeom>
            <a:noFill/>
            <a:ln>
              <a:noFill/>
            </a:ln>
          </p:spPr>
          <p:txBody>
            <a:bodyPr wrap="none" lIns="0" tIns="0" rIns="0" bIns="0" anchor="t" anchorCtr="0">
              <a:spAutoFit/>
            </a:bodyPr>
            <a:lstStyle/>
            <a:p>
              <a:pPr algn="l"/>
              <a:r>
                <a:rPr lang="ko-KR" sz="1120" b="1" dirty="0">
                  <a:solidFill>
                    <a:schemeClr val="accent2"/>
                  </a:solidFill>
                  <a:latin typeface="+mn-lt"/>
                  <a:ea typeface="+mn-ea"/>
                  <a:cs typeface="+mn-cs"/>
                </a:rPr>
                <a:t>멀티 세션 &amp; 룸 분할 지원</a:t>
              </a:r>
            </a:p>
          </p:txBody>
        </p:sp>
        <p:sp>
          <p:nvSpPr>
            <p:cNvPr id="36" name="TextBox 36"/>
            <p:cNvSpPr txBox="1"/>
            <p:nvPr/>
          </p:nvSpPr>
          <p:spPr>
            <a:xfrm>
              <a:off x="4805172" y="4161949"/>
              <a:ext cx="1871563"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트랙별 독립 공간 네트워킹 운영</a:t>
              </a:r>
            </a:p>
          </p:txBody>
        </p:sp>
        <p:sp>
          <p:nvSpPr>
            <p:cNvPr id="37" name="Rectangle 37"/>
            <p:cNvSpPr/>
            <p:nvPr/>
          </p:nvSpPr>
          <p:spPr>
            <a:xfrm>
              <a:off x="4667250" y="5000625"/>
              <a:ext cx="2857500" cy="304800"/>
            </a:xfrm>
            <a:prstGeom prst="roundRect">
              <a:avLst>
                <a:gd name="adj" fmla="val 18750"/>
              </a:avLst>
            </a:prstGeom>
            <a:solidFill>
              <a:srgbClr val="13202E"/>
            </a:solidFill>
            <a:ln w="9525">
              <a:solidFill>
                <a:srgbClr val="1F3D5C"/>
              </a:solidFill>
            </a:ln>
          </p:spPr>
        </p:sp>
        <p:sp>
          <p:nvSpPr>
            <p:cNvPr id="38" name="TextBox 38"/>
            <p:cNvSpPr txBox="1"/>
            <p:nvPr/>
          </p:nvSpPr>
          <p:spPr>
            <a:xfrm>
              <a:off x="5035723" y="5095399"/>
              <a:ext cx="2120555" cy="190690"/>
            </a:xfrm>
            <a:prstGeom prst="rect">
              <a:avLst/>
            </a:prstGeom>
            <a:noFill/>
            <a:ln>
              <a:noFill/>
            </a:ln>
          </p:spPr>
          <p:txBody>
            <a:bodyPr wrap="none" lIns="0" tIns="0" rIns="0" bIns="0" anchor="t" anchorCtr="0">
              <a:spAutoFit/>
            </a:bodyPr>
            <a:lstStyle/>
            <a:p>
              <a:pPr algn="ctr"/>
              <a:r>
                <a:rPr lang="ko-KR" sz="980" b="1" dirty="0">
                  <a:solidFill>
                    <a:schemeClr val="accent2"/>
                  </a:solidFill>
                  <a:latin typeface="+mn-lt"/>
                  <a:ea typeface="+mn-ea"/>
                  <a:cs typeface="+mn-cs"/>
                </a:rPr>
                <a:t>목표: B2B 유료 라이선스 10개 수주</a:t>
              </a:r>
            </a:p>
          </p:txBody>
        </p:sp>
        <p:sp>
          <p:nvSpPr>
            <p:cNvPr id="39" name="Rectangle 39"/>
            <p:cNvSpPr/>
            <p:nvPr/>
          </p:nvSpPr>
          <p:spPr>
            <a:xfrm>
              <a:off x="8096250" y="1666875"/>
              <a:ext cx="3333750" cy="3857625"/>
            </a:xfrm>
            <a:prstGeom prst="roundRect">
              <a:avLst>
                <a:gd name="adj" fmla="val 4000"/>
              </a:avLst>
            </a:prstGeom>
            <a:solidFill>
              <a:schemeClr val="accent5"/>
            </a:solidFill>
            <a:ln w="14288">
              <a:solidFill>
                <a:srgbClr val="1F2937"/>
              </a:solidFill>
            </a:ln>
          </p:spPr>
        </p:sp>
        <p:sp>
          <p:nvSpPr>
            <p:cNvPr id="40" name="Rectangle 40"/>
            <p:cNvSpPr/>
            <p:nvPr/>
          </p:nvSpPr>
          <p:spPr>
            <a:xfrm>
              <a:off x="8096250" y="1666875"/>
              <a:ext cx="3333750" cy="47625"/>
            </a:xfrm>
            <a:prstGeom prst="roundRect">
              <a:avLst>
                <a:gd name="adj" fmla="val 50000"/>
              </a:avLst>
            </a:prstGeom>
            <a:solidFill>
              <a:schemeClr val="accent3"/>
            </a:solidFill>
            <a:ln>
              <a:noFill/>
            </a:ln>
          </p:spPr>
        </p:sp>
        <p:sp>
          <p:nvSpPr>
            <p:cNvPr id="41" name="Rectangle 41"/>
            <p:cNvSpPr/>
            <p:nvPr/>
          </p:nvSpPr>
          <p:spPr>
            <a:xfrm>
              <a:off x="8334375" y="1905000"/>
              <a:ext cx="1428750" cy="247650"/>
            </a:xfrm>
            <a:prstGeom prst="roundRect">
              <a:avLst>
                <a:gd name="adj" fmla="val 23077"/>
              </a:avLst>
            </a:prstGeom>
            <a:solidFill>
              <a:srgbClr val="1E293B"/>
            </a:solidFill>
            <a:ln>
              <a:noFill/>
            </a:ln>
          </p:spPr>
        </p:sp>
        <p:sp>
          <p:nvSpPr>
            <p:cNvPr id="42" name="TextBox 42"/>
            <p:cNvSpPr txBox="1"/>
            <p:nvPr/>
          </p:nvSpPr>
          <p:spPr>
            <a:xfrm>
              <a:off x="8472297" y="1961674"/>
              <a:ext cx="1257354" cy="190690"/>
            </a:xfrm>
            <a:prstGeom prst="rect">
              <a:avLst/>
            </a:prstGeom>
            <a:noFill/>
            <a:ln>
              <a:noFill/>
            </a:ln>
          </p:spPr>
          <p:txBody>
            <a:bodyPr wrap="none" lIns="0" tIns="0" rIns="0" bIns="0" anchor="t" anchorCtr="0">
              <a:spAutoFit/>
            </a:bodyPr>
            <a:lstStyle/>
            <a:p>
              <a:pPr algn="l"/>
              <a:r>
                <a:rPr lang="en-US" sz="980" b="1" dirty="0">
                  <a:solidFill>
                    <a:schemeClr val="accent3"/>
                  </a:solidFill>
                  <a:latin typeface="+mn-lt"/>
                  <a:ea typeface="+mn-ea"/>
                  <a:cs typeface="+mn-cs"/>
                </a:rPr>
                <a:t>PHASE 3 · 2027 H1</a:t>
              </a:r>
            </a:p>
          </p:txBody>
        </p:sp>
        <p:sp>
          <p:nvSpPr>
            <p:cNvPr id="43" name="TextBox 43"/>
            <p:cNvSpPr txBox="1"/>
            <p:nvPr/>
          </p:nvSpPr>
          <p:spPr>
            <a:xfrm>
              <a:off x="8325993" y="2250758"/>
              <a:ext cx="2349500"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v0.3 네이티브 &amp; 글로벌</a:t>
              </a:r>
            </a:p>
          </p:txBody>
        </p:sp>
        <p:sp>
          <p:nvSpPr>
            <p:cNvPr id="44" name="Rectangle 44"/>
            <p:cNvSpPr/>
            <p:nvPr/>
          </p:nvSpPr>
          <p:spPr>
            <a:xfrm>
              <a:off x="8334375" y="2619375"/>
              <a:ext cx="2857500" cy="523875"/>
            </a:xfrm>
            <a:prstGeom prst="roundRect">
              <a:avLst>
                <a:gd name="adj" fmla="val 10909"/>
              </a:avLst>
            </a:prstGeom>
            <a:solidFill>
              <a:srgbClr val="1E293B"/>
            </a:solidFill>
            <a:ln>
              <a:noFill/>
            </a:ln>
          </p:spPr>
        </p:sp>
        <p:sp>
          <p:nvSpPr>
            <p:cNvPr id="45" name="TextBox 45"/>
            <p:cNvSpPr txBox="1"/>
            <p:nvPr/>
          </p:nvSpPr>
          <p:spPr>
            <a:xfrm>
              <a:off x="8471535" y="2717006"/>
              <a:ext cx="1773158" cy="220028"/>
            </a:xfrm>
            <a:prstGeom prst="rect">
              <a:avLst/>
            </a:prstGeom>
            <a:noFill/>
            <a:ln>
              <a:noFill/>
            </a:ln>
          </p:spPr>
          <p:txBody>
            <a:bodyPr wrap="none" lIns="0" tIns="0" rIns="0" bIns="0" anchor="t" anchorCtr="0">
              <a:spAutoFit/>
            </a:bodyPr>
            <a:lstStyle/>
            <a:p>
              <a:pPr algn="l"/>
              <a:r>
                <a:rPr lang="ko-KR" sz="1120" b="1" dirty="0">
                  <a:solidFill>
                    <a:schemeClr val="accent3"/>
                  </a:solidFill>
                  <a:latin typeface="+mn-lt"/>
                  <a:ea typeface="+mn-ea"/>
                  <a:cs typeface="+mn-cs"/>
                </a:rPr>
                <a:t>네이티브 백그라운드 BLE</a:t>
              </a:r>
            </a:p>
          </p:txBody>
        </p:sp>
        <p:sp>
          <p:nvSpPr>
            <p:cNvPr id="46" name="TextBox 46"/>
            <p:cNvSpPr txBox="1"/>
            <p:nvPr/>
          </p:nvSpPr>
          <p:spPr>
            <a:xfrm>
              <a:off x="8472297" y="2923699"/>
              <a:ext cx="2091486"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화면 꺼짐 상태에서도 5m 조우 알림</a:t>
              </a:r>
            </a:p>
          </p:txBody>
        </p:sp>
        <p:sp>
          <p:nvSpPr>
            <p:cNvPr id="47" name="Rectangle 47"/>
            <p:cNvSpPr/>
            <p:nvPr/>
          </p:nvSpPr>
          <p:spPr>
            <a:xfrm>
              <a:off x="8334375" y="3238500"/>
              <a:ext cx="2857500" cy="523875"/>
            </a:xfrm>
            <a:prstGeom prst="roundRect">
              <a:avLst>
                <a:gd name="adj" fmla="val 10909"/>
              </a:avLst>
            </a:prstGeom>
            <a:solidFill>
              <a:srgbClr val="1E293B"/>
            </a:solidFill>
            <a:ln>
              <a:noFill/>
            </a:ln>
          </p:spPr>
        </p:sp>
        <p:sp>
          <p:nvSpPr>
            <p:cNvPr id="48" name="TextBox 48"/>
            <p:cNvSpPr txBox="1"/>
            <p:nvPr/>
          </p:nvSpPr>
          <p:spPr>
            <a:xfrm>
              <a:off x="8471535" y="3336131"/>
              <a:ext cx="1507331" cy="220028"/>
            </a:xfrm>
            <a:prstGeom prst="rect">
              <a:avLst/>
            </a:prstGeom>
            <a:noFill/>
            <a:ln>
              <a:noFill/>
            </a:ln>
          </p:spPr>
          <p:txBody>
            <a:bodyPr wrap="none" lIns="0" tIns="0" rIns="0" bIns="0" anchor="t" anchorCtr="0">
              <a:spAutoFit/>
            </a:bodyPr>
            <a:lstStyle/>
            <a:p>
              <a:pPr algn="l"/>
              <a:r>
                <a:rPr lang="ko-KR" sz="1120" b="1" dirty="0">
                  <a:solidFill>
                    <a:schemeClr val="accent3"/>
                  </a:solidFill>
                  <a:latin typeface="+mn-lt"/>
                  <a:ea typeface="+mn-ea"/>
                  <a:cs typeface="+mn-cs"/>
                </a:rPr>
                <a:t>글로벌 다국어 AI 지원</a:t>
              </a:r>
            </a:p>
          </p:txBody>
        </p:sp>
        <p:sp>
          <p:nvSpPr>
            <p:cNvPr id="49" name="TextBox 49"/>
            <p:cNvSpPr txBox="1"/>
            <p:nvPr/>
          </p:nvSpPr>
          <p:spPr>
            <a:xfrm>
              <a:off x="8472297" y="3542824"/>
              <a:ext cx="2040140"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영어/일본어 실시간 자동 번역 매칭</a:t>
              </a:r>
            </a:p>
          </p:txBody>
        </p:sp>
        <p:sp>
          <p:nvSpPr>
            <p:cNvPr id="50" name="Rectangle 50"/>
            <p:cNvSpPr/>
            <p:nvPr/>
          </p:nvSpPr>
          <p:spPr>
            <a:xfrm>
              <a:off x="8334375" y="3857625"/>
              <a:ext cx="2857500" cy="523875"/>
            </a:xfrm>
            <a:prstGeom prst="roundRect">
              <a:avLst>
                <a:gd name="adj" fmla="val 10909"/>
              </a:avLst>
            </a:prstGeom>
            <a:solidFill>
              <a:srgbClr val="1E293B"/>
            </a:solidFill>
            <a:ln>
              <a:noFill/>
            </a:ln>
          </p:spPr>
        </p:sp>
        <p:sp>
          <p:nvSpPr>
            <p:cNvPr id="51" name="TextBox 51"/>
            <p:cNvSpPr txBox="1"/>
            <p:nvPr/>
          </p:nvSpPr>
          <p:spPr>
            <a:xfrm>
              <a:off x="8471535" y="3955256"/>
              <a:ext cx="1904493" cy="220028"/>
            </a:xfrm>
            <a:prstGeom prst="rect">
              <a:avLst/>
            </a:prstGeom>
            <a:noFill/>
            <a:ln>
              <a:noFill/>
            </a:ln>
          </p:spPr>
          <p:txBody>
            <a:bodyPr wrap="none" lIns="0" tIns="0" rIns="0" bIns="0" anchor="t" anchorCtr="0">
              <a:spAutoFit/>
            </a:bodyPr>
            <a:lstStyle/>
            <a:p>
              <a:pPr algn="l"/>
              <a:r>
                <a:rPr lang="ko-KR" sz="1120" b="1" dirty="0">
                  <a:solidFill>
                    <a:schemeClr val="accent3"/>
                  </a:solidFill>
                  <a:latin typeface="+mn-lt"/>
                  <a:ea typeface="+mn-ea"/>
                  <a:cs typeface="+mn-cs"/>
                </a:rPr>
                <a:t>대규모 컨퍼런스 클러스터링</a:t>
              </a:r>
            </a:p>
          </p:txBody>
        </p:sp>
        <p:sp>
          <p:nvSpPr>
            <p:cNvPr id="52" name="TextBox 52"/>
            <p:cNvSpPr txBox="1"/>
            <p:nvPr/>
          </p:nvSpPr>
          <p:spPr>
            <a:xfrm>
              <a:off x="8472297" y="4161949"/>
              <a:ext cx="1787710"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1,000+ 명 동시 접속 분산 처리</a:t>
              </a:r>
            </a:p>
          </p:txBody>
        </p:sp>
        <p:sp>
          <p:nvSpPr>
            <p:cNvPr id="53" name="Rectangle 53"/>
            <p:cNvSpPr/>
            <p:nvPr/>
          </p:nvSpPr>
          <p:spPr>
            <a:xfrm>
              <a:off x="8334375" y="5000625"/>
              <a:ext cx="2857500" cy="304800"/>
            </a:xfrm>
            <a:prstGeom prst="roundRect">
              <a:avLst>
                <a:gd name="adj" fmla="val 18750"/>
              </a:avLst>
            </a:prstGeom>
            <a:solidFill>
              <a:srgbClr val="241B35"/>
            </a:solidFill>
            <a:ln w="9525">
              <a:solidFill>
                <a:srgbClr val="482F6D"/>
              </a:solidFill>
            </a:ln>
          </p:spPr>
        </p:sp>
        <p:sp>
          <p:nvSpPr>
            <p:cNvPr id="54" name="TextBox 54"/>
            <p:cNvSpPr txBox="1"/>
            <p:nvPr/>
          </p:nvSpPr>
          <p:spPr>
            <a:xfrm>
              <a:off x="8739414" y="5095399"/>
              <a:ext cx="2047422" cy="190690"/>
            </a:xfrm>
            <a:prstGeom prst="rect">
              <a:avLst/>
            </a:prstGeom>
            <a:noFill/>
            <a:ln>
              <a:noFill/>
            </a:ln>
          </p:spPr>
          <p:txBody>
            <a:bodyPr wrap="none" lIns="0" tIns="0" rIns="0" bIns="0" anchor="t" anchorCtr="0">
              <a:spAutoFit/>
            </a:bodyPr>
            <a:lstStyle/>
            <a:p>
              <a:pPr algn="ctr"/>
              <a:r>
                <a:rPr lang="ko-KR" sz="980" b="1" dirty="0">
                  <a:solidFill>
                    <a:schemeClr val="accent3"/>
                  </a:solidFill>
                  <a:latin typeface="+mn-lt"/>
                  <a:ea typeface="+mn-ea"/>
                  <a:cs typeface="+mn-cs"/>
                </a:rPr>
                <a:t>목표: 글로벌 오프라인 이벤트 진출</a:t>
              </a:r>
            </a:p>
          </p:txBody>
        </p:sp>
      </p:grpSp>
      <p:grpSp>
        <p:nvGrpSpPr>
          <p:cNvPr id="59" name="bottom-execution-philosophy"/>
          <p:cNvGrpSpPr/>
          <p:nvPr/>
        </p:nvGrpSpPr>
        <p:grpSpPr>
          <a:xfrm>
            <a:off x="762000" y="5762625"/>
            <a:ext cx="10668000" cy="552450"/>
            <a:chOff x="762000" y="5762625"/>
            <a:chExt cx="10668000" cy="552450"/>
          </a:xfrm>
        </p:grpSpPr>
        <p:sp>
          <p:nvSpPr>
            <p:cNvPr id="56" name="Rectangle 56"/>
            <p:cNvSpPr/>
            <p:nvPr/>
          </p:nvSpPr>
          <p:spPr>
            <a:xfrm>
              <a:off x="762000" y="5762625"/>
              <a:ext cx="10668000" cy="552450"/>
            </a:xfrm>
            <a:prstGeom prst="roundRect">
              <a:avLst>
                <a:gd name="adj" fmla="val 17241"/>
              </a:avLst>
            </a:prstGeom>
            <a:solidFill>
              <a:srgbClr val="131B2E"/>
            </a:solidFill>
            <a:ln w="9525">
              <a:solidFill>
                <a:schemeClr val="accent1"/>
              </a:solidFill>
            </a:ln>
          </p:spPr>
        </p:sp>
        <p:sp>
          <p:nvSpPr>
            <p:cNvPr id="57" name="Ellipse 57"/>
            <p:cNvSpPr/>
            <p:nvPr/>
          </p:nvSpPr>
          <p:spPr>
            <a:xfrm>
              <a:off x="981075" y="5972175"/>
              <a:ext cx="133350" cy="133350"/>
            </a:xfrm>
            <a:prstGeom prst="ellipse">
              <a:avLst/>
            </a:prstGeom>
            <a:solidFill>
              <a:schemeClr val="accent1"/>
            </a:solidFill>
            <a:ln>
              <a:noFill/>
            </a:ln>
          </p:spPr>
        </p:sp>
        <p:sp>
          <p:nvSpPr>
            <p:cNvPr id="58" name="TextBox 58"/>
            <p:cNvSpPr txBox="1"/>
            <p:nvPr/>
          </p:nvSpPr>
          <p:spPr>
            <a:xfrm>
              <a:off x="1232154" y="5956935"/>
              <a:ext cx="784707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실행 원칙: 현장에서 작게 검증하고 빠르게 고도화하여, 모든 오프라인 행사의 필수 네트워킹 인프라가 됩니다.</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slide-background"/>
          <p:cNvGrpSpPr/>
          <p:nvPr/>
        </p:nvGrpSpPr>
        <p:grpSpPr>
          <a:xfrm>
            <a:off x="0" y="-762000"/>
            <a:ext cx="12382500" cy="7905750"/>
            <a:chOff x="0" y="-762000"/>
            <a:chExt cx="12382500" cy="7905750"/>
          </a:xfrm>
        </p:grpSpPr>
        <p:sp>
          <p:nvSpPr>
            <p:cNvPr id="2" name="Rectangle 2"/>
            <p:cNvSpPr/>
            <p:nvPr/>
          </p:nvSpPr>
          <p:spPr>
            <a:xfrm>
              <a:off x="0" y="0"/>
              <a:ext cx="12192000" cy="6858000"/>
            </a:xfrm>
            <a:prstGeom prst="rect">
              <a:avLst/>
            </a:prstGeom>
            <a:solidFill>
              <a:schemeClr val="lt1"/>
            </a:solidFill>
            <a:ln>
              <a:noFill/>
            </a:ln>
          </p:spPr>
        </p:sp>
        <p:sp>
          <p:nvSpPr>
            <p:cNvPr id="3" name="Ellipse 3"/>
            <p:cNvSpPr/>
            <p:nvPr/>
          </p:nvSpPr>
          <p:spPr>
            <a:xfrm>
              <a:off x="3238500" y="-762000"/>
              <a:ext cx="5715000" cy="5715000"/>
            </a:xfrm>
            <a:prstGeom prst="ellipse">
              <a:avLst/>
            </a:prstGeom>
            <a:solidFill>
              <a:srgbClr val="131B2E">
                <a:alpha val="50000"/>
              </a:srgbClr>
            </a:solidFill>
            <a:ln>
              <a:noFill/>
            </a:ln>
          </p:spPr>
        </p:sp>
        <p:sp>
          <p:nvSpPr>
            <p:cNvPr id="4" name="Ellipse 4"/>
            <p:cNvSpPr/>
            <p:nvPr/>
          </p:nvSpPr>
          <p:spPr>
            <a:xfrm>
              <a:off x="8572500" y="3333750"/>
              <a:ext cx="3810000" cy="3810000"/>
            </a:xfrm>
            <a:prstGeom prst="ellipse">
              <a:avLst/>
            </a:prstGeom>
            <a:solidFill>
              <a:srgbClr val="1E293B">
                <a:alpha val="30000"/>
              </a:srgbClr>
            </a:solidFill>
            <a:ln>
              <a:noFill/>
            </a:ln>
          </p:spPr>
        </p:sp>
      </p:grpSp>
      <p:grpSp>
        <p:nvGrpSpPr>
          <p:cNvPr id="9" name="header-badge"/>
          <p:cNvGrpSpPr/>
          <p:nvPr/>
        </p:nvGrpSpPr>
        <p:grpSpPr>
          <a:xfrm>
            <a:off x="762000" y="523875"/>
            <a:ext cx="2476500" cy="285750"/>
            <a:chOff x="762000" y="523875"/>
            <a:chExt cx="2476500" cy="285750"/>
          </a:xfrm>
        </p:grpSpPr>
        <p:sp>
          <p:nvSpPr>
            <p:cNvPr id="6" name="Rectangle 6"/>
            <p:cNvSpPr/>
            <p:nvPr/>
          </p:nvSpPr>
          <p:spPr>
            <a:xfrm>
              <a:off x="762000" y="523875"/>
              <a:ext cx="2476500" cy="285750"/>
            </a:xfrm>
            <a:prstGeom prst="roundRect">
              <a:avLst>
                <a:gd name="adj" fmla="val 50000"/>
              </a:avLst>
            </a:prstGeom>
            <a:solidFill>
              <a:schemeClr val="accent5"/>
            </a:solidFill>
            <a:ln w="14288">
              <a:solidFill>
                <a:schemeClr val="accent1"/>
              </a:solidFill>
            </a:ln>
          </p:spPr>
        </p:sp>
        <p:sp>
          <p:nvSpPr>
            <p:cNvPr id="7" name="Ellipse 7"/>
            <p:cNvSpPr/>
            <p:nvPr/>
          </p:nvSpPr>
          <p:spPr>
            <a:xfrm>
              <a:off x="885825" y="619125"/>
              <a:ext cx="95250" cy="95250"/>
            </a:xfrm>
            <a:prstGeom prst="ellipse">
              <a:avLst/>
            </a:prstGeom>
            <a:solidFill>
              <a:schemeClr val="accent1"/>
            </a:solidFill>
            <a:ln>
              <a:noFill/>
            </a:ln>
          </p:spPr>
        </p:sp>
        <p:sp>
          <p:nvSpPr>
            <p:cNvPr id="8" name="TextBox 8"/>
            <p:cNvSpPr txBox="1"/>
            <p:nvPr/>
          </p:nvSpPr>
          <p:spPr>
            <a:xfrm>
              <a:off x="1080897" y="609124"/>
              <a:ext cx="2072157" cy="190690"/>
            </a:xfrm>
            <a:prstGeom prst="rect">
              <a:avLst/>
            </a:prstGeom>
            <a:noFill/>
            <a:ln>
              <a:noFill/>
            </a:ln>
          </p:spPr>
          <p:txBody>
            <a:bodyPr wrap="none" lIns="0" tIns="0" rIns="0" bIns="0" anchor="t" anchorCtr="0">
              <a:spAutoFit/>
            </a:bodyPr>
            <a:lstStyle/>
            <a:p>
              <a:pPr algn="l"/>
              <a:r>
                <a:rPr lang="en-US" sz="980" b="1" spc="75" dirty="0">
                  <a:solidFill>
                    <a:schemeClr val="accent1"/>
                  </a:solidFill>
                  <a:latin typeface="+mn-lt"/>
                  <a:ea typeface="+mn-ea"/>
                  <a:cs typeface="+mn-cs"/>
                </a:rPr>
                <a:t>VISION &amp; CALL TO ACTION</a:t>
              </a:r>
            </a:p>
          </p:txBody>
        </p:sp>
      </p:grpSp>
      <p:grpSp>
        <p:nvGrpSpPr>
          <p:cNvPr id="14" name="hero-statement"/>
          <p:cNvGrpSpPr/>
          <p:nvPr/>
        </p:nvGrpSpPr>
        <p:grpSpPr>
          <a:xfrm>
            <a:off x="753618" y="1047750"/>
            <a:ext cx="8480814" cy="1430465"/>
            <a:chOff x="753618" y="1047750"/>
            <a:chExt cx="8480814" cy="1430465"/>
          </a:xfrm>
        </p:grpSpPr>
        <p:sp>
          <p:nvSpPr>
            <p:cNvPr id="10" name="Rectangle 10"/>
            <p:cNvSpPr/>
            <p:nvPr/>
          </p:nvSpPr>
          <p:spPr>
            <a:xfrm>
              <a:off x="762000" y="1047750"/>
              <a:ext cx="76200" cy="809625"/>
            </a:xfrm>
            <a:prstGeom prst="roundRect">
              <a:avLst>
                <a:gd name="adj" fmla="val 50000"/>
              </a:avLst>
            </a:prstGeom>
            <a:solidFill>
              <a:schemeClr val="accent1"/>
            </a:solidFill>
            <a:ln>
              <a:noFill/>
            </a:ln>
          </p:spPr>
        </p:sp>
        <p:sp>
          <p:nvSpPr>
            <p:cNvPr id="11" name="TextBox 11"/>
            <p:cNvSpPr txBox="1"/>
            <p:nvPr/>
          </p:nvSpPr>
          <p:spPr>
            <a:xfrm>
              <a:off x="986409" y="1184910"/>
              <a:ext cx="6722151" cy="528066"/>
            </a:xfrm>
            <a:prstGeom prst="rect">
              <a:avLst/>
            </a:prstGeom>
            <a:noFill/>
            <a:ln>
              <a:noFill/>
            </a:ln>
          </p:spPr>
          <p:txBody>
            <a:bodyPr wrap="none" lIns="0" tIns="0" rIns="0" bIns="0" anchor="t" anchorCtr="0">
              <a:spAutoFit/>
            </a:bodyPr>
            <a:lstStyle/>
            <a:p>
              <a:pPr algn="l"/>
              <a:r>
                <a:rPr lang="ko-KR" sz="2700" b="1" dirty="0">
                  <a:solidFill>
                    <a:srgbClr val="FFFFFF"/>
                  </a:solidFill>
                  <a:latin typeface="+mn-lt"/>
                  <a:ea typeface="+mn-ea"/>
                  <a:cs typeface="+mn-cs"/>
                </a:rPr>
                <a:t>"사람과 사람 사이, 가장 어려운 첫 마디를</a:t>
              </a:r>
            </a:p>
          </p:txBody>
        </p:sp>
        <p:sp>
          <p:nvSpPr>
            <p:cNvPr id="12" name="TextBox 12"/>
            <p:cNvSpPr txBox="1"/>
            <p:nvPr/>
          </p:nvSpPr>
          <p:spPr>
            <a:xfrm>
              <a:off x="986409" y="1613535"/>
              <a:ext cx="2946019" cy="528066"/>
            </a:xfrm>
            <a:prstGeom prst="rect">
              <a:avLst/>
            </a:prstGeom>
            <a:noFill/>
            <a:ln>
              <a:noFill/>
            </a:ln>
          </p:spPr>
          <p:txBody>
            <a:bodyPr wrap="none" lIns="0" tIns="0" rIns="0" bIns="0" anchor="t" anchorCtr="0">
              <a:spAutoFit/>
            </a:bodyPr>
            <a:lstStyle/>
            <a:p>
              <a:pPr algn="l"/>
              <a:r>
                <a:rPr lang="ko-KR" sz="2700" b="1" dirty="0">
                  <a:solidFill>
                    <a:schemeClr val="accent1"/>
                  </a:solidFill>
                  <a:latin typeface="+mn-lt"/>
                  <a:ea typeface="+mn-ea"/>
                  <a:cs typeface="+mn-cs"/>
                </a:rPr>
                <a:t>기술로 건넵니다."</a:t>
              </a:r>
            </a:p>
          </p:txBody>
        </p:sp>
        <p:sp>
          <p:nvSpPr>
            <p:cNvPr id="13" name="TextBox 13"/>
            <p:cNvSpPr txBox="1"/>
            <p:nvPr/>
          </p:nvSpPr>
          <p:spPr>
            <a:xfrm>
              <a:off x="753618" y="2155508"/>
              <a:ext cx="8480814" cy="322707"/>
            </a:xfrm>
            <a:prstGeom prst="rect">
              <a:avLst/>
            </a:prstGeom>
            <a:noFill/>
            <a:ln>
              <a:noFill/>
            </a:ln>
          </p:spPr>
          <p:txBody>
            <a:bodyPr wrap="none" lIns="0" tIns="0" rIns="0" bIns="0" anchor="t" anchorCtr="0">
              <a:spAutoFit/>
            </a:bodyPr>
            <a:lstStyle/>
            <a:p>
              <a:pPr algn="l"/>
              <a:r>
                <a:rPr lang="ko-KR" sz="1650" b="1" dirty="0">
                  <a:solidFill>
                    <a:schemeClr val="accent2"/>
                  </a:solidFill>
                  <a:latin typeface="+mn-lt"/>
                  <a:ea typeface="+mn-ea"/>
                  <a:cs typeface="+mn-cs"/>
                </a:rPr>
                <a:t>가장 가까운 거리에서, 가장 필요한 상보성을 잇는 오프라인 네트워킹 플랫폼 — Bside</a:t>
              </a:r>
            </a:p>
          </p:txBody>
        </p:sp>
      </p:grpSp>
      <p:grpSp>
        <p:nvGrpSpPr>
          <p:cNvPr id="38" name="action-blocks"/>
          <p:cNvGrpSpPr/>
          <p:nvPr/>
        </p:nvGrpSpPr>
        <p:grpSpPr>
          <a:xfrm>
            <a:off x="762000" y="2762250"/>
            <a:ext cx="10668000" cy="2667000"/>
            <a:chOff x="762000" y="2762250"/>
            <a:chExt cx="10668000" cy="2667000"/>
          </a:xfrm>
        </p:grpSpPr>
        <p:sp>
          <p:nvSpPr>
            <p:cNvPr id="15" name="Rectangle 15"/>
            <p:cNvSpPr/>
            <p:nvPr/>
          </p:nvSpPr>
          <p:spPr>
            <a:xfrm>
              <a:off x="762000" y="2762250"/>
              <a:ext cx="5143500" cy="2667000"/>
            </a:xfrm>
            <a:prstGeom prst="roundRect">
              <a:avLst>
                <a:gd name="adj" fmla="val 5000"/>
              </a:avLst>
            </a:prstGeom>
            <a:solidFill>
              <a:schemeClr val="accent5"/>
            </a:solidFill>
            <a:ln w="14288">
              <a:solidFill>
                <a:srgbClr val="1F2937"/>
              </a:solidFill>
            </a:ln>
          </p:spPr>
        </p:sp>
        <p:sp>
          <p:nvSpPr>
            <p:cNvPr id="16" name="Rectangle 16"/>
            <p:cNvSpPr/>
            <p:nvPr/>
          </p:nvSpPr>
          <p:spPr>
            <a:xfrm>
              <a:off x="762000" y="2762250"/>
              <a:ext cx="5143500" cy="38100"/>
            </a:xfrm>
            <a:prstGeom prst="roundRect">
              <a:avLst>
                <a:gd name="adj" fmla="val 50000"/>
              </a:avLst>
            </a:prstGeom>
            <a:solidFill>
              <a:schemeClr val="accent1"/>
            </a:solidFill>
            <a:ln>
              <a:noFill/>
            </a:ln>
          </p:spPr>
        </p:sp>
        <p:sp>
          <p:nvSpPr>
            <p:cNvPr id="17" name="Rectangle 17"/>
            <p:cNvSpPr/>
            <p:nvPr/>
          </p:nvSpPr>
          <p:spPr>
            <a:xfrm>
              <a:off x="1047750" y="3000375"/>
              <a:ext cx="1238250" cy="247650"/>
            </a:xfrm>
            <a:prstGeom prst="roundRect">
              <a:avLst>
                <a:gd name="adj" fmla="val 23077"/>
              </a:avLst>
            </a:prstGeom>
            <a:solidFill>
              <a:srgbClr val="1E293B"/>
            </a:solidFill>
            <a:ln>
              <a:noFill/>
            </a:ln>
          </p:spPr>
        </p:sp>
        <p:sp>
          <p:nvSpPr>
            <p:cNvPr id="18" name="TextBox 18"/>
            <p:cNvSpPr txBox="1"/>
            <p:nvPr/>
          </p:nvSpPr>
          <p:spPr>
            <a:xfrm>
              <a:off x="1185672" y="3057049"/>
              <a:ext cx="776635" cy="190690"/>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LIVE DEMO</a:t>
              </a:r>
            </a:p>
          </p:txBody>
        </p:sp>
        <p:sp>
          <p:nvSpPr>
            <p:cNvPr id="19" name="TextBox 19"/>
            <p:cNvSpPr txBox="1"/>
            <p:nvPr/>
          </p:nvSpPr>
          <p:spPr>
            <a:xfrm>
              <a:off x="1039368" y="3393758"/>
              <a:ext cx="3311603"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지금 바로 현장에서 체험해보세요</a:t>
              </a:r>
            </a:p>
          </p:txBody>
        </p:sp>
        <p:sp>
          <p:nvSpPr>
            <p:cNvPr id="20" name="Rectangle 20"/>
            <p:cNvSpPr/>
            <p:nvPr/>
          </p:nvSpPr>
          <p:spPr>
            <a:xfrm>
              <a:off x="1047750" y="3810000"/>
              <a:ext cx="952500" cy="952500"/>
            </a:xfrm>
            <a:prstGeom prst="roundRect">
              <a:avLst>
                <a:gd name="adj" fmla="val 8000"/>
              </a:avLst>
            </a:prstGeom>
            <a:solidFill>
              <a:srgbClr val="1E293B"/>
            </a:solidFill>
            <a:ln w="9525">
              <a:solidFill>
                <a:schemeClr val="accent1"/>
              </a:solidFill>
            </a:ln>
          </p:spPr>
        </p:sp>
        <p:sp>
          <p:nvSpPr>
            <p:cNvPr id="21" name="Rectangle 21"/>
            <p:cNvSpPr/>
            <p:nvPr/>
          </p:nvSpPr>
          <p:spPr>
            <a:xfrm>
              <a:off x="1162050" y="3924300"/>
              <a:ext cx="285750" cy="285750"/>
            </a:xfrm>
            <a:prstGeom prst="roundRect">
              <a:avLst>
                <a:gd name="adj" fmla="val 13333"/>
              </a:avLst>
            </a:prstGeom>
            <a:solidFill>
              <a:schemeClr val="accent1"/>
            </a:solidFill>
            <a:ln>
              <a:noFill/>
            </a:ln>
          </p:spPr>
        </p:sp>
        <p:sp>
          <p:nvSpPr>
            <p:cNvPr id="22" name="Rectangle 22"/>
            <p:cNvSpPr/>
            <p:nvPr/>
          </p:nvSpPr>
          <p:spPr>
            <a:xfrm>
              <a:off x="1600200" y="3924300"/>
              <a:ext cx="285750" cy="285750"/>
            </a:xfrm>
            <a:prstGeom prst="roundRect">
              <a:avLst>
                <a:gd name="adj" fmla="val 13333"/>
              </a:avLst>
            </a:prstGeom>
            <a:solidFill>
              <a:schemeClr val="accent1"/>
            </a:solidFill>
            <a:ln>
              <a:noFill/>
            </a:ln>
          </p:spPr>
        </p:sp>
        <p:sp>
          <p:nvSpPr>
            <p:cNvPr id="23" name="Rectangle 23"/>
            <p:cNvSpPr/>
            <p:nvPr/>
          </p:nvSpPr>
          <p:spPr>
            <a:xfrm>
              <a:off x="1162050" y="4362450"/>
              <a:ext cx="285750" cy="285750"/>
            </a:xfrm>
            <a:prstGeom prst="roundRect">
              <a:avLst>
                <a:gd name="adj" fmla="val 13333"/>
              </a:avLst>
            </a:prstGeom>
            <a:solidFill>
              <a:schemeClr val="accent1"/>
            </a:solidFill>
            <a:ln>
              <a:noFill/>
            </a:ln>
          </p:spPr>
        </p:sp>
        <p:sp>
          <p:nvSpPr>
            <p:cNvPr id="24" name="Ellipse 24"/>
            <p:cNvSpPr/>
            <p:nvPr/>
          </p:nvSpPr>
          <p:spPr>
            <a:xfrm>
              <a:off x="1647825" y="4410075"/>
              <a:ext cx="190500" cy="190500"/>
            </a:xfrm>
            <a:prstGeom prst="ellipse">
              <a:avLst/>
            </a:prstGeom>
            <a:solidFill>
              <a:schemeClr val="accent1"/>
            </a:solidFill>
            <a:ln>
              <a:noFill/>
            </a:ln>
          </p:spPr>
        </p:sp>
        <p:sp>
          <p:nvSpPr>
            <p:cNvPr id="25" name="TextBox 25"/>
            <p:cNvSpPr txBox="1"/>
            <p:nvPr/>
          </p:nvSpPr>
          <p:spPr>
            <a:xfrm>
              <a:off x="2184654" y="3966210"/>
              <a:ext cx="1994019"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QR 스캔으로 3초 만에 참가</a:t>
              </a:r>
            </a:p>
          </p:txBody>
        </p:sp>
        <p:sp>
          <p:nvSpPr>
            <p:cNvPr id="26" name="TextBox 26"/>
            <p:cNvSpPr txBox="1"/>
            <p:nvPr/>
          </p:nvSpPr>
          <p:spPr>
            <a:xfrm>
              <a:off x="2185797" y="4228624"/>
              <a:ext cx="2868355" cy="190690"/>
            </a:xfrm>
            <a:prstGeom prst="rect">
              <a:avLst/>
            </a:prstGeom>
            <a:noFill/>
            <a:ln>
              <a:noFill/>
            </a:ln>
          </p:spPr>
          <p:txBody>
            <a:bodyPr wrap="none" lIns="0" tIns="0" rIns="0" bIns="0" anchor="t" anchorCtr="0">
              <a:spAutoFit/>
            </a:bodyPr>
            <a:lstStyle/>
            <a:p>
              <a:pPr algn="l"/>
              <a:r>
                <a:rPr lang="ko-KR" sz="980" dirty="0">
                  <a:solidFill>
                    <a:schemeClr val="accent6"/>
                  </a:solidFill>
                  <a:latin typeface="+mn-lt"/>
                  <a:ea typeface="+mn-ea"/>
                  <a:cs typeface="+mn-cs"/>
                </a:rPr>
                <a:t>스토어 다운로드 없이 모바일 브라우저 즉시 접속</a:t>
              </a:r>
            </a:p>
          </p:txBody>
        </p:sp>
        <p:sp>
          <p:nvSpPr>
            <p:cNvPr id="27" name="TextBox 27"/>
            <p:cNvSpPr txBox="1"/>
            <p:nvPr/>
          </p:nvSpPr>
          <p:spPr>
            <a:xfrm>
              <a:off x="2185797" y="4466749"/>
              <a:ext cx="2795188" cy="190690"/>
            </a:xfrm>
            <a:prstGeom prst="rect">
              <a:avLst/>
            </a:prstGeom>
            <a:noFill/>
            <a:ln>
              <a:noFill/>
            </a:ln>
          </p:spPr>
          <p:txBody>
            <a:bodyPr wrap="none" lIns="0" tIns="0" rIns="0" bIns="0" anchor="t" anchorCtr="0">
              <a:spAutoFit/>
            </a:bodyPr>
            <a:lstStyle/>
            <a:p>
              <a:pPr algn="l"/>
              <a:r>
                <a:rPr lang="ko-KR" sz="980" b="1" dirty="0">
                  <a:solidFill>
                    <a:schemeClr val="accent1"/>
                  </a:solidFill>
                  <a:latin typeface="+mn-lt"/>
                  <a:ea typeface="+mn-ea"/>
                  <a:cs typeface="+mn-cs"/>
                </a:rPr>
                <a:t>내 고민을 해결해줄 5m 내 참가자를 찾아보세요</a:t>
              </a:r>
            </a:p>
          </p:txBody>
        </p:sp>
        <p:sp>
          <p:nvSpPr>
            <p:cNvPr id="28" name="TextBox 28"/>
            <p:cNvSpPr txBox="1"/>
            <p:nvPr/>
          </p:nvSpPr>
          <p:spPr>
            <a:xfrm>
              <a:off x="1042797" y="5085874"/>
              <a:ext cx="2413812"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 github.com/lim010111/kosscchthon</a:t>
              </a:r>
            </a:p>
          </p:txBody>
        </p:sp>
        <p:sp>
          <p:nvSpPr>
            <p:cNvPr id="29" name="Rectangle 29"/>
            <p:cNvSpPr/>
            <p:nvPr/>
          </p:nvSpPr>
          <p:spPr>
            <a:xfrm>
              <a:off x="6286500" y="2762250"/>
              <a:ext cx="5143500" cy="2667000"/>
            </a:xfrm>
            <a:prstGeom prst="roundRect">
              <a:avLst>
                <a:gd name="adj" fmla="val 5000"/>
              </a:avLst>
            </a:prstGeom>
            <a:solidFill>
              <a:schemeClr val="accent5"/>
            </a:solidFill>
            <a:ln w="14288">
              <a:solidFill>
                <a:srgbClr val="1F2937"/>
              </a:solidFill>
            </a:ln>
          </p:spPr>
        </p:sp>
        <p:sp>
          <p:nvSpPr>
            <p:cNvPr id="30" name="Rectangle 30"/>
            <p:cNvSpPr/>
            <p:nvPr/>
          </p:nvSpPr>
          <p:spPr>
            <a:xfrm>
              <a:off x="6286500" y="2762250"/>
              <a:ext cx="5143500" cy="38100"/>
            </a:xfrm>
            <a:prstGeom prst="roundRect">
              <a:avLst>
                <a:gd name="adj" fmla="val 50000"/>
              </a:avLst>
            </a:prstGeom>
            <a:solidFill>
              <a:schemeClr val="accent3"/>
            </a:solidFill>
            <a:ln>
              <a:noFill/>
            </a:ln>
          </p:spPr>
        </p:sp>
        <p:sp>
          <p:nvSpPr>
            <p:cNvPr id="31" name="Rectangle 31"/>
            <p:cNvSpPr/>
            <p:nvPr/>
          </p:nvSpPr>
          <p:spPr>
            <a:xfrm>
              <a:off x="6572250" y="3000375"/>
              <a:ext cx="1238250" cy="247650"/>
            </a:xfrm>
            <a:prstGeom prst="roundRect">
              <a:avLst>
                <a:gd name="adj" fmla="val 23077"/>
              </a:avLst>
            </a:prstGeom>
            <a:solidFill>
              <a:srgbClr val="1E293B"/>
            </a:solidFill>
            <a:ln>
              <a:noFill/>
            </a:ln>
          </p:spPr>
        </p:sp>
        <p:sp>
          <p:nvSpPr>
            <p:cNvPr id="32" name="TextBox 32"/>
            <p:cNvSpPr txBox="1"/>
            <p:nvPr/>
          </p:nvSpPr>
          <p:spPr>
            <a:xfrm>
              <a:off x="6710172" y="3057049"/>
              <a:ext cx="830888" cy="190690"/>
            </a:xfrm>
            <a:prstGeom prst="rect">
              <a:avLst/>
            </a:prstGeom>
            <a:noFill/>
            <a:ln>
              <a:noFill/>
            </a:ln>
          </p:spPr>
          <p:txBody>
            <a:bodyPr wrap="none" lIns="0" tIns="0" rIns="0" bIns="0" anchor="t" anchorCtr="0">
              <a:spAutoFit/>
            </a:bodyPr>
            <a:lstStyle/>
            <a:p>
              <a:pPr algn="l"/>
              <a:r>
                <a:rPr lang="en-US" sz="980" b="1" dirty="0">
                  <a:solidFill>
                    <a:schemeClr val="accent3"/>
                  </a:solidFill>
                  <a:latin typeface="+mn-lt"/>
                  <a:ea typeface="+mn-ea"/>
                  <a:cs typeface="+mn-cs"/>
                </a:rPr>
                <a:t>QUESTIONS</a:t>
              </a:r>
            </a:p>
          </p:txBody>
        </p:sp>
        <p:sp>
          <p:nvSpPr>
            <p:cNvPr id="33" name="TextBox 33"/>
            <p:cNvSpPr txBox="1"/>
            <p:nvPr/>
          </p:nvSpPr>
          <p:spPr>
            <a:xfrm>
              <a:off x="6563868" y="3393758"/>
              <a:ext cx="1622393"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Q &amp; A 질의응답</a:t>
              </a:r>
            </a:p>
          </p:txBody>
        </p:sp>
        <p:sp>
          <p:nvSpPr>
            <p:cNvPr id="34" name="TextBox 34"/>
            <p:cNvSpPr txBox="1"/>
            <p:nvPr/>
          </p:nvSpPr>
          <p:spPr>
            <a:xfrm>
              <a:off x="6566154" y="3918585"/>
              <a:ext cx="2453316" cy="234696"/>
            </a:xfrm>
            <a:prstGeom prst="rect">
              <a:avLst/>
            </a:prstGeom>
            <a:noFill/>
            <a:ln>
              <a:noFill/>
            </a:ln>
          </p:spPr>
          <p:txBody>
            <a:bodyPr wrap="none" lIns="0" tIns="0" rIns="0" bIns="0" anchor="t" anchorCtr="0">
              <a:spAutoFit/>
            </a:bodyPr>
            <a:lstStyle/>
            <a:p>
              <a:pPr algn="l"/>
              <a:r>
                <a:rPr lang="ko-KR" sz="1200" b="1" dirty="0">
                  <a:solidFill>
                    <a:schemeClr val="dk1"/>
                  </a:solidFill>
                  <a:latin typeface="+mn-lt"/>
                  <a:ea typeface="+mn-ea"/>
                  <a:cs typeface="+mn-cs"/>
                </a:rPr>
                <a:t>경청해 주셔서 대단히 감사합니다.</a:t>
              </a:r>
            </a:p>
          </p:txBody>
        </p:sp>
        <p:sp>
          <p:nvSpPr>
            <p:cNvPr id="35" name="TextBox 35"/>
            <p:cNvSpPr txBox="1"/>
            <p:nvPr/>
          </p:nvSpPr>
          <p:spPr>
            <a:xfrm>
              <a:off x="6566535" y="4212431"/>
              <a:ext cx="3038383" cy="458152"/>
            </a:xfrm>
            <a:prstGeom prst="rect">
              <a:avLst/>
            </a:prstGeom>
            <a:noFill/>
            <a:ln>
              <a:noFill/>
            </a:ln>
          </p:spPr>
          <p:txBody>
            <a:bodyPr wrap="none" lIns="0" tIns="0" rIns="0" bIns="0" anchor="t" anchorCtr="0">
              <a:spAutoFit/>
            </a:bodyPr>
            <a:lstStyle/>
            <a:p>
              <a:pPr algn="l">
                <a:lnSpc>
                  <a:spcPts val="1875"/>
                </a:lnSpc>
              </a:pPr>
              <a:r>
                <a:rPr lang="ko-KR" sz="1120" dirty="0">
                  <a:solidFill>
                    <a:schemeClr val="accent6"/>
                  </a:solidFill>
                  <a:latin typeface="+mn-lt"/>
                  <a:ea typeface="+mn-ea"/>
                  <a:cs typeface="+mn-cs"/>
                </a:rPr>
                <a:t>알고리즘, BLE 거리 감지, B2B 비즈니스 모델 등</a:t>
              </a:r>
              <a:br/>
              <a:r>
                <a:rPr lang="ko-KR" sz="1120" dirty="0">
                  <a:solidFill>
                    <a:schemeClr val="accent6"/>
                  </a:solidFill>
                  <a:latin typeface="+mn-lt"/>
                  <a:ea typeface="+mn-ea"/>
                  <a:cs typeface="+mn-cs"/>
                </a:rPr>
                <a:t>어떤 질문이든 상세히 답변드리겠습니다.</a:t>
              </a:r>
            </a:p>
          </p:txBody>
        </p:sp>
        <p:sp>
          <p:nvSpPr>
            <p:cNvPr id="36" name="Line 36"/>
            <p:cNvSpPr/>
            <p:nvPr/>
          </p:nvSpPr>
          <p:spPr>
            <a:xfrm>
              <a:off x="6572250" y="4857750"/>
              <a:ext cx="4476750" cy="9525"/>
            </a:xfrm>
            <a:custGeom>
              <a:avLst/>
              <a:gdLst/>
              <a:ahLst/>
              <a:cxnLst/>
              <a:rect l="l" t="t" r="r" b="b"/>
              <a:pathLst>
                <a:path w="4476750" h="9525">
                  <a:moveTo>
                    <a:pt x="0" y="0"/>
                  </a:moveTo>
                  <a:lnTo>
                    <a:pt x="4476750" y="0"/>
                  </a:lnTo>
                </a:path>
              </a:pathLst>
            </a:custGeom>
            <a:noFill/>
            <a:ln w="9525">
              <a:solidFill>
                <a:srgbClr val="1F2937"/>
              </a:solidFill>
            </a:ln>
          </p:spPr>
        </p:sp>
        <p:sp>
          <p:nvSpPr>
            <p:cNvPr id="37" name="TextBox 37"/>
            <p:cNvSpPr txBox="1"/>
            <p:nvPr/>
          </p:nvSpPr>
          <p:spPr>
            <a:xfrm>
              <a:off x="6567297" y="5085874"/>
              <a:ext cx="2998994" cy="190690"/>
            </a:xfrm>
            <a:prstGeom prst="rect">
              <a:avLst/>
            </a:prstGeom>
            <a:noFill/>
            <a:ln>
              <a:noFill/>
            </a:ln>
          </p:spPr>
          <p:txBody>
            <a:bodyPr wrap="none" lIns="0" tIns="0" rIns="0" bIns="0" anchor="t" anchorCtr="0">
              <a:spAutoFit/>
            </a:bodyPr>
            <a:lstStyle/>
            <a:p>
              <a:pPr algn="l"/>
              <a:r>
                <a:rPr lang="ko-KR" sz="980" b="1" dirty="0">
                  <a:solidFill>
                    <a:schemeClr val="accent3"/>
                  </a:solidFill>
                  <a:latin typeface="+mn-lt"/>
                  <a:ea typeface="+mn-ea"/>
                  <a:cs typeface="+mn-cs"/>
                </a:rPr>
                <a:t>팀 Bside | 국민대학교 · 숭실대학교 · 순천향대학교</a:t>
              </a:r>
            </a:p>
          </p:txBody>
        </p:sp>
      </p:grpSp>
      <p:grpSp>
        <p:nvGrpSpPr>
          <p:cNvPr id="42" name="footer-section"/>
          <p:cNvGrpSpPr/>
          <p:nvPr/>
        </p:nvGrpSpPr>
        <p:grpSpPr>
          <a:xfrm>
            <a:off x="757047" y="5715000"/>
            <a:ext cx="10677906" cy="466439"/>
            <a:chOff x="757047" y="5715000"/>
            <a:chExt cx="10677906" cy="466439"/>
          </a:xfrm>
        </p:grpSpPr>
        <p:sp>
          <p:nvSpPr>
            <p:cNvPr id="39" name="Line 39"/>
            <p:cNvSpPr/>
            <p:nvPr/>
          </p:nvSpPr>
          <p:spPr>
            <a:xfrm>
              <a:off x="762000" y="5715000"/>
              <a:ext cx="10668000" cy="9525"/>
            </a:xfrm>
            <a:custGeom>
              <a:avLst/>
              <a:gdLst/>
              <a:ahLst/>
              <a:cxnLst/>
              <a:rect l="l" t="t" r="r" b="b"/>
              <a:pathLst>
                <a:path w="10668000" h="9525">
                  <a:moveTo>
                    <a:pt x="0" y="0"/>
                  </a:moveTo>
                  <a:lnTo>
                    <a:pt x="10668000" y="0"/>
                  </a:lnTo>
                </a:path>
              </a:pathLst>
            </a:custGeom>
            <a:noFill/>
            <a:ln w="14288">
              <a:solidFill>
                <a:srgbClr val="1F2937"/>
              </a:solidFill>
            </a:ln>
          </p:spPr>
        </p:sp>
        <p:sp>
          <p:nvSpPr>
            <p:cNvPr id="40" name="TextBox 40"/>
            <p:cNvSpPr txBox="1"/>
            <p:nvPr/>
          </p:nvSpPr>
          <p:spPr>
            <a:xfrm>
              <a:off x="757047" y="5990749"/>
              <a:ext cx="2580140" cy="190690"/>
            </a:xfrm>
            <a:prstGeom prst="rect">
              <a:avLst/>
            </a:prstGeom>
            <a:noFill/>
            <a:ln>
              <a:noFill/>
            </a:ln>
          </p:spPr>
          <p:txBody>
            <a:bodyPr wrap="none" lIns="0" tIns="0" rIns="0" bIns="0" anchor="t" anchorCtr="0">
              <a:spAutoFit/>
            </a:bodyPr>
            <a:lstStyle/>
            <a:p>
              <a:pPr algn="l"/>
              <a:r>
                <a:rPr lang="en-US" sz="980" b="1" dirty="0">
                  <a:solidFill>
                    <a:schemeClr val="accent6"/>
                  </a:solidFill>
                  <a:latin typeface="+mn-lt"/>
                  <a:ea typeface="+mn-ea"/>
                  <a:cs typeface="+mn-cs"/>
                </a:rPr>
                <a:t>Bside — Connect with who's beside you.</a:t>
              </a:r>
            </a:p>
          </p:txBody>
        </p:sp>
        <p:sp>
          <p:nvSpPr>
            <p:cNvPr id="41" name="TextBox 41"/>
            <p:cNvSpPr txBox="1"/>
            <p:nvPr/>
          </p:nvSpPr>
          <p:spPr>
            <a:xfrm>
              <a:off x="10723780" y="5990749"/>
              <a:ext cx="711173" cy="190690"/>
            </a:xfrm>
            <a:prstGeom prst="rect">
              <a:avLst/>
            </a:prstGeom>
            <a:noFill/>
            <a:ln>
              <a:noFill/>
            </a:ln>
          </p:spPr>
          <p:txBody>
            <a:bodyPr wrap="none" lIns="0" tIns="0" rIns="0" bIns="0" anchor="t" anchorCtr="0">
              <a:spAutoFit/>
            </a:bodyPr>
            <a:lstStyle/>
            <a:p>
              <a:pPr algn="r"/>
              <a:r>
                <a:rPr lang="en-US" sz="980" b="1" dirty="0">
                  <a:solidFill>
                    <a:schemeClr val="accent1"/>
                  </a:solidFill>
                  <a:latin typeface="+mn-lt"/>
                  <a:ea typeface="+mn-ea"/>
                  <a:cs typeface="+mn-cs"/>
                </a:rPr>
                <a:t>Thank you.</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side_deck">
  <a:themeElements>
    <a:clrScheme name="bside_deck">
      <a:dk1>
        <a:srgbClr val="E2E8F0"/>
      </a:dk1>
      <a:lt1>
        <a:srgbClr val="090D16"/>
      </a:lt1>
      <a:dk2>
        <a:srgbClr val="1F497D"/>
      </a:dk2>
      <a:lt2>
        <a:srgbClr val="090D16"/>
      </a:lt2>
      <a:accent1>
        <a:srgbClr val="34D399"/>
      </a:accent1>
      <a:accent2>
        <a:srgbClr val="38BDF8"/>
      </a:accent2>
      <a:accent3>
        <a:srgbClr val="818CF8"/>
      </a:accent3>
      <a:accent4>
        <a:srgbClr val="34D399"/>
      </a:accent4>
      <a:accent5>
        <a:srgbClr val="111827"/>
      </a:accent5>
      <a:accent6>
        <a:srgbClr val="94A3B8"/>
      </a:accent6>
      <a:hlink>
        <a:srgbClr val="38BDF8"/>
      </a:hlink>
      <a:folHlink>
        <a:srgbClr val="818CF8"/>
      </a:folHlink>
    </a:clrScheme>
    <a:fontScheme name="bside_deck">
      <a:majorFont>
        <a:latin typeface="Arial"/>
        <a:ea typeface="Malgun Gothic"/>
        <a:cs typeface="Arial"/>
        <a:font script="Jpan" typeface="Malgun Gothic"/>
        <a:font script="Hang" typeface="Malgun Gothic"/>
        <a:font script="Hans" typeface="Malgun Gothic"/>
        <a:font script="Hant" typeface="Malgun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algun Gothic"/>
        <a:cs typeface="Arial"/>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side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side_deck">
  <a:themeElements>
    <a:clrScheme name="bside_deck">
      <a:dk1>
        <a:srgbClr val="E2E8F0"/>
      </a:dk1>
      <a:lt1>
        <a:srgbClr val="090D16"/>
      </a:lt1>
      <a:dk2>
        <a:srgbClr val="1F497D"/>
      </a:dk2>
      <a:lt2>
        <a:srgbClr val="090D16"/>
      </a:lt2>
      <a:accent1>
        <a:srgbClr val="34D399"/>
      </a:accent1>
      <a:accent2>
        <a:srgbClr val="38BDF8"/>
      </a:accent2>
      <a:accent3>
        <a:srgbClr val="818CF8"/>
      </a:accent3>
      <a:accent4>
        <a:srgbClr val="34D399"/>
      </a:accent4>
      <a:accent5>
        <a:srgbClr val="111827"/>
      </a:accent5>
      <a:accent6>
        <a:srgbClr val="94A3B8"/>
      </a:accent6>
      <a:hlink>
        <a:srgbClr val="38BDF8"/>
      </a:hlink>
      <a:folHlink>
        <a:srgbClr val="818CF8"/>
      </a:folHlink>
    </a:clrScheme>
    <a:fontScheme name="bside_deck">
      <a:majorFont>
        <a:latin typeface="Arial"/>
        <a:ea typeface="Malgun Gothic"/>
        <a:cs typeface="Arial"/>
        <a:font script="Jpan" typeface="Malgun Gothic"/>
        <a:font script="Hang" typeface="Malgun Gothic"/>
        <a:font script="Hans" typeface="Malgun Gothic"/>
        <a:font script="Hant" typeface="Malgun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algun Gothic"/>
        <a:cs typeface="Arial"/>
        <a:font script="Jpan" typeface="Malgun Gothic"/>
        <a:font script="Hang" typeface="Malgun Gothic"/>
        <a:font script="Hans" typeface="Malgun Gothic"/>
        <a:font script="Hant" typeface="Malgun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side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ko-KR</dc:language>
  <cp:lastModifiedBy/>
  <cp:revision>1</cp:revision>
  <dcterms:created xsi:type="dcterms:W3CDTF">2026-09-19T12:43:42Z</dcterms:created>
  <dcterms:modified xsi:type="dcterms:W3CDTF">2026-09-19T12:43:42Z</dcterms:modified>
  <cp:category/>
  <cp:contentStatus/>
</cp:coreProperties>
</file>